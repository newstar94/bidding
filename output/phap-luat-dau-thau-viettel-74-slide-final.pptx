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1"/>
  </p:notesMasterIdLst>
  <p:sldIdLst>
    <p:sldId id="256" r:id="rId2"/>
    <p:sldId id="257" r:id="rId3"/>
    <p:sldId id="259" r:id="rId4"/>
    <p:sldId id="260" r:id="rId5"/>
    <p:sldId id="264" r:id="rId6"/>
    <p:sldId id="265" r:id="rId7"/>
    <p:sldId id="266" r:id="rId8"/>
    <p:sldId id="267"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Lst>
  <p:sldSz cx="12192000" cy="6858000"/>
  <p:notesSz cx="6858000" cy="9144000"/>
  <p:defaultTextStyle>
    <a:defPPr>
      <a:defRPr lang="vi-V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0" d="100"/>
          <a:sy n="100" d="100"/>
        </p:scale>
        <p:origin x="267"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Đặt chủ đề đào tạo và phạm vi so sánh.</a:t>
            </a:r>
          </a:p>
          <a:p>
            <a:endParaRPr/>
          </a:p>
          <a:p>
            <a:r>
              <a:t>Ý chính cần nói:</a:t>
            </a:r>
          </a:p>
          <a:p>
            <a:r>
              <a:t>- Nêu rõ đây là khóa học thực hành, không phải bản chép Luật.</a:t>
            </a:r>
          </a:p>
          <a:p>
            <a:r>
              <a:t>- Nhắc người học luôn xác định hệ thống pháp lý trước khi đọc điều kiện HSMT.</a:t>
            </a:r>
          </a:p>
          <a:p>
            <a:r>
              <a:t>- Nói rõ hai bộ HSMT được dùng để minh họa, không mặc nhiên thay thế căn cứ pháp lý.</a:t>
            </a:r>
          </a:p>
          <a:p>
            <a:endParaRPr/>
          </a:p>
          <a:p>
            <a:r>
              <a:t>Nguồn/căn cứ: Luật Đấu thầu 22/2023/QH15 và các luật sửa đổi trong tài liệu; Quyết định 2486/QĐ-VTIT; hai bộ HSMT.</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Xác định năng lực đầu ra của học viên.</a:t>
            </a:r>
          </a:p>
          <a:p>
            <a:endParaRPr/>
          </a:p>
          <a:p>
            <a:r>
              <a:t>Ý chính cần nói:</a:t>
            </a:r>
          </a:p>
          <a:p>
            <a:r>
              <a:t>- Yêu cầu học viên kể một lỗi thực tế từng gặp.</a:t>
            </a:r>
          </a:p>
          <a:p>
            <a:r>
              <a:t>- Giải thích đầu ra cuối cùng là khả năng ra quyết định có căn cứ.</a:t>
            </a:r>
          </a:p>
          <a:p>
            <a:r>
              <a:t>- Nhấn mạnh mỗi kết luận phải gắn với văn bản và phiên bản tài liệu.</a:t>
            </a:r>
          </a:p>
          <a:p>
            <a:endParaRPr/>
          </a:p>
          <a:p>
            <a:r>
              <a:t>Nguồn/căn cứ: Prompt người dùng, Luật Đấu thầu, hai bộ HSMT.</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Nhận diện các hoạt động chịu Luật.</a:t>
            </a:r>
          </a:p>
          <a:p>
            <a:endParaRPr/>
          </a:p>
          <a:p>
            <a:r>
              <a:t>Ý chính cần nói:</a:t>
            </a:r>
          </a:p>
          <a:p>
            <a:r>
              <a:t>- Dẫn người học đến Điều 1-3 Luật.</a:t>
            </a:r>
          </a:p>
          <a:p>
            <a:r>
              <a:t>- Giải thích cần kiểm tra quyết định phê duyệt, nguồn vốn và chủ đầu tư.</a:t>
            </a:r>
          </a:p>
          <a:p>
            <a:r>
              <a:t>- Không kết luận gói thầu ngoài Luật chỉ vì doanh nghiệp có quy chế riêng.</a:t>
            </a:r>
          </a:p>
          <a:p>
            <a:endParaRPr/>
          </a:p>
          <a:p>
            <a:r>
              <a:t>Nguồn/căn cứ: Điều 1, Điều 2, Điều 3 Luật Đấu thầu.</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Biến phạm vi pháp lý thành bộ câu hỏi kiểm tra.</a:t>
            </a:r>
          </a:p>
          <a:p>
            <a:endParaRPr/>
          </a:p>
          <a:p>
            <a:r>
              <a:t>Ý chính cần nói:</a:t>
            </a:r>
          </a:p>
          <a:p>
            <a:r>
              <a:t>- Cho học viên dùng E-CDNT 3 của HSMT Cần Thơ làm ví dụ: ngân sách nhà nước, Quyết định 869/QĐ-SNNMT.</a:t>
            </a:r>
          </a:p>
          <a:p>
            <a:r>
              <a:t>- Phân biệt dữ kiện của gói cụ thể với nguyên tắc chung.</a:t>
            </a:r>
          </a:p>
          <a:p>
            <a:r>
              <a:t>- Ghi nhận các câu hỏi chưa đủ dữ liệu thay vì tự điền.</a:t>
            </a:r>
          </a:p>
          <a:p>
            <a:endParaRPr/>
          </a:p>
          <a:p>
            <a:r>
              <a:t>Nguồn/căn cứ: Điều 1-3 Luật; E-CDNT 3, Dự thảo E-HSMT Hỗ trợ Tư vấn, tr. 23-25.</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Nhìn toàn bộ các hình thức trước khi đi sâu.</a:t>
            </a:r>
          </a:p>
          <a:p>
            <a:endParaRPr/>
          </a:p>
          <a:p>
            <a:r>
              <a:t>Ý chính cần nói:</a:t>
            </a:r>
          </a:p>
          <a:p>
            <a:r>
              <a:t>- Không đọc tên hình thức như danh sách thuộc lòng.</a:t>
            </a:r>
          </a:p>
          <a:p>
            <a:r>
              <a:t>- Mỗi hình thức phải trả lời điều kiện, quy trình, hồ sơ và rủi ro.</a:t>
            </a:r>
          </a:p>
          <a:p>
            <a:endParaRPr/>
          </a:p>
          <a:p>
            <a:r>
              <a:t>Nguồn/căn cứ: Điều 20-29b Luật; Điều 12-22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biệt mặc định rộng rãi và ngoại lệ hạn chế.</a:t>
            </a:r>
          </a:p>
          <a:p>
            <a:endParaRPr/>
          </a:p>
          <a:p>
            <a:r>
              <a:t>Ý chính cần nói:</a:t>
            </a:r>
          </a:p>
          <a:p>
            <a:r>
              <a:t>- Hỏi: tiêu chí “đặc thù” phải nằm ở đâu để có thể kiểm tra?</a:t>
            </a:r>
          </a:p>
          <a:p>
            <a:r>
              <a:t>- Liên hệ gói HSMT Cần Thơ và HSMT 101 đều ghi đấu thầu rộng rãi trong nước qua mạng.</a:t>
            </a:r>
          </a:p>
          <a:p>
            <a:endParaRPr/>
          </a:p>
          <a:p>
            <a:r>
              <a:t>Nguồn/căn cứ: Điều 21, Điều 22 Luật; Điều 12, Điều 13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Không nhầm hai cơ chế “chào giá”.</a:t>
            </a:r>
          </a:p>
          <a:p>
            <a:endParaRPr/>
          </a:p>
          <a:p>
            <a:r>
              <a:t>Ý chính cần nói:</a:t>
            </a:r>
          </a:p>
          <a:p>
            <a:r>
              <a:t>- Điều 14 Quy chế ghi giá gói thầu không quá 05 tỷ đồng cho các nhóm gói nêu trong điều; phải xác minh văn bản gốc khi dựng slide.</a:t>
            </a:r>
          </a:p>
          <a:p>
            <a:r>
              <a:t>- Thời gian phát hành HSMCG tối thiểu 05 ngày làm việc; phiên tối đa 24 giờ theo trích xuất Quy chế.</a:t>
            </a:r>
          </a:p>
          <a:p>
            <a:r>
              <a:t>- Không áp dụng con số Viettel cho gói Luật.</a:t>
            </a:r>
          </a:p>
          <a:p>
            <a:endParaRPr/>
          </a:p>
          <a:p>
            <a:r>
              <a:t>Nguồn/căn cứ: Điều 24 Luật; Điều 14, 15 Quy chế 2486.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biệt ba đường tắt thường bị dùng sai.</a:t>
            </a:r>
          </a:p>
          <a:p>
            <a:endParaRPr/>
          </a:p>
          <a:p>
            <a:r>
              <a:t>Ý chính cần nói:</a:t>
            </a:r>
          </a:p>
          <a:p>
            <a:r>
              <a:t>- Luật: khối lượng từng hạng mục mua sắm trực tiếp nhỏ hơn 130% gói trước, thời gian không quá 12 tháng.</a:t>
            </a:r>
          </a:p>
          <a:p>
            <a:r>
              <a:t>- Viettel: Quy chế trích xuất điều kiện khối lượng không quá 150%, thời gian từ phê duyệt KQLCNT trước đến kết quả mua sắm trực tiếp không quá 12 tháng.</a:t>
            </a:r>
          </a:p>
          <a:p>
            <a:r>
              <a:t>- Đây là khác biệt định lượng phải đặt cảnh báo.</a:t>
            </a:r>
          </a:p>
          <a:p>
            <a:endParaRPr/>
          </a:p>
          <a:p>
            <a:r>
              <a:t>Nguồn/căn cứ: Điều 23, 25, 26 Luật; Điều 16, 17, 21 Quy chế 2486.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Nhận diện các hình thức không thể gom thành chỉ định thầu.</a:t>
            </a:r>
          </a:p>
          <a:p>
            <a:endParaRPr/>
          </a:p>
          <a:p>
            <a:r>
              <a:t>Ý chính cần nói:</a:t>
            </a:r>
          </a:p>
          <a:p>
            <a:r>
              <a:t>- Nêu rủi ro gọi mọi quy trình thương lượng là “chỉ định thầu”.</a:t>
            </a:r>
          </a:p>
          <a:p>
            <a:r>
              <a:t>- Chưa đưa hạn mức chưa xác minh được điều khoản cụ thể.</a:t>
            </a:r>
          </a:p>
          <a:p>
            <a:endParaRPr/>
          </a:p>
          <a:p>
            <a:r>
              <a:t>Nguồn/căn cứ: Điều 28-29a Luật; Điều 18-20, 22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Hiểu khi nào dùng một hay hai túi hồ sơ.</a:t>
            </a:r>
          </a:p>
          <a:p>
            <a:endParaRPr/>
          </a:p>
          <a:p>
            <a:r>
              <a:t>Ý chính cần nói:</a:t>
            </a:r>
          </a:p>
          <a:p>
            <a:r>
              <a:t>- Gói Cần Thơ và gói NetAgent đều là 1 giai đoạn 1 túi.</a:t>
            </a:r>
          </a:p>
          <a:p>
            <a:r>
              <a:t>- Đối chiếu Điều 30-33 Luật, không dùng “hai bước” theo cách gọi nội bộ nếu không trùng thuật ngữ pháp lý.</a:t>
            </a:r>
          </a:p>
          <a:p>
            <a:endParaRPr/>
          </a:p>
          <a:p>
            <a:r>
              <a:t>Nguồn/căn cứ: Điều 30-33 Luật.</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Đặt phương thức Viettel cạnh phương thức Luật.</a:t>
            </a:r>
          </a:p>
          <a:p>
            <a:endParaRPr/>
          </a:p>
          <a:p>
            <a:r>
              <a:t>Ý chính cần nói:</a:t>
            </a:r>
          </a:p>
          <a:p>
            <a:r>
              <a:t>- Trích Điều 11 Quy chế: 1G1T và 1G2T.</a:t>
            </a:r>
          </a:p>
          <a:p>
            <a:r>
              <a:t>- Chỉ kết luận Viettel có/không có phương thức khác sau khi rà soát toàn văn phụ lục.</a:t>
            </a:r>
          </a:p>
          <a:p>
            <a:endParaRPr/>
          </a:p>
          <a:p>
            <a:r>
              <a:t>Nguồn/căn cứ: Điều 11 Quy chế 2486; HSMT 101, Chương IV.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Sửa lỗi dùng từ trong biên bản và HSMT.</a:t>
            </a:r>
          </a:p>
          <a:p>
            <a:endParaRPr/>
          </a:p>
          <a:p>
            <a:r>
              <a:t>Ý chính cần nói:</a:t>
            </a:r>
          </a:p>
          <a:p>
            <a:r>
              <a:t>- Dùng ví dụ HSMT Cần Thơ: rộng rãi - 1G1T - đạt/không đạt và giá thấp nhất.</a:t>
            </a:r>
          </a:p>
          <a:p>
            <a:r>
              <a:t>- Dùng ví dụ Viettel 101: rộng rãi - 1G1T - M/O kỹ thuật và giá thấp nhất.</a:t>
            </a:r>
          </a:p>
          <a:p>
            <a:endParaRPr/>
          </a:p>
          <a:p>
            <a:r>
              <a:t>Nguồn/căn cứ: Điều 20, 30, 58 Luật; E-CDNT 29.1 HSMT Cần Thơ; Chương III HSMT 101.</a:t>
            </a:r>
          </a:p>
          <a:p>
            <a:r>
              <a:t>Mức độ kiểm tra pháp lý: --- ## Phần III - Timeline và thời gian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Tránh lỗi cộng ngày.</a:t>
            </a:r>
          </a:p>
          <a:p>
            <a:endParaRPr/>
          </a:p>
          <a:p>
            <a:r>
              <a:t>Ý chính cần nói:</a:t>
            </a:r>
          </a:p>
          <a:p>
            <a:r>
              <a:t>- Ghi rõ mỗi mốc phải đọc cả đơn vị thời gian và điểm bắt đầu.</a:t>
            </a:r>
          </a:p>
          <a:p>
            <a:r>
              <a:t>- Hỏi học viên cách tính “03 ngày làm việc trước ngày đóng thầu”.</a:t>
            </a:r>
          </a:p>
          <a:p>
            <a:endParaRPr/>
          </a:p>
          <a:p>
            <a:r>
              <a:t>Nguồn/căn cứ: E-CDNT 2.2-2.3 HSMT Cần Thơ; Điều 31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Nắm chuỗi mốc chính theo Luật/VBHN.</a:t>
            </a:r>
          </a:p>
          <a:p>
            <a:endParaRPr/>
          </a:p>
          <a:p>
            <a:r>
              <a:t>Ý chính cần nói:</a:t>
            </a:r>
          </a:p>
          <a:p>
            <a:r>
              <a:t>- Không chèn số nếu chưa xác định điều khoản VBHN chính xác từ bản scan.</a:t>
            </a:r>
          </a:p>
          <a:p>
            <a:r>
              <a:t>- E-HSMT Cần Thơ ghi sửa đổi tối thiểu 10 ngày hoặc 03 ngày làm việc với gói không quá 10 tỷ đồng; cần xác minh phiên bản mẫu/VBHN trước khi coi là quy tắc chung.</a:t>
            </a:r>
          </a:p>
          <a:p>
            <a:endParaRPr/>
          </a:p>
          <a:p>
            <a:r>
              <a:t>Nguồn/căn cứ: VBHN 36/2026, phần thời gian tổ chức lựa chọn nhà thầu; Mục 7 E-CDNT HSMT Cần Thơ.</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Nắm các mốc nội bộ Viettel đã xác minh.</a:t>
            </a:r>
          </a:p>
          <a:p>
            <a:endParaRPr/>
          </a:p>
          <a:p>
            <a:r>
              <a:t>Ý chính cần nói:</a:t>
            </a:r>
          </a:p>
          <a:p>
            <a:r>
              <a:t>- Các mốc này trích Điều 31 Quy chế 2486.</a:t>
            </a:r>
          </a:p>
          <a:p>
            <a:r>
              <a:t>- Nhắc “tối thiểu” không phải lịch thực tế nếu HSMT quy định dài hơn.</a:t>
            </a:r>
          </a:p>
          <a:p>
            <a:r>
              <a:t>- Tách hiệu lực hồ sơ khỏi hiệu lực bảo đảm dự thầu.</a:t>
            </a:r>
          </a:p>
          <a:p>
            <a:endParaRPr/>
          </a:p>
          <a:p>
            <a:r>
              <a:t>Nguồn/căn cứ: Điều 31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Thấy khác biệt trước khi lập kế hoạch.</a:t>
            </a:r>
          </a:p>
          <a:p>
            <a:endParaRPr/>
          </a:p>
          <a:p>
            <a:r>
              <a:t>Ý chính cần nói:</a:t>
            </a:r>
          </a:p>
          <a:p>
            <a:r>
              <a:t>- Đây là slide không được dùng để suy ra con số Luật khi chưa có căn cứ chính xác.</a:t>
            </a:r>
          </a:p>
          <a:p>
            <a:r>
              <a:t>- Khi dựng PPT cần bổ sung số điều VBHN sau khi có bản text đáng tin cậy.</a:t>
            </a:r>
          </a:p>
          <a:p>
            <a:endParaRPr/>
          </a:p>
          <a:p>
            <a:r>
              <a:t>Nguồn/căn cứ: Điều 31 Quy chế 2486; VBHN 36/2026 và HSMT mẫu.</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Biết khi nào phải gia hạn.</a:t>
            </a:r>
          </a:p>
          <a:p>
            <a:endParaRPr/>
          </a:p>
          <a:p>
            <a:r>
              <a:t>Ý chính cần nói:</a:t>
            </a:r>
          </a:p>
          <a:p>
            <a:r>
              <a:t>- So sánh Mục 7.1 E-CDNT với Điều 31 Quy chế.</a:t>
            </a:r>
          </a:p>
          <a:p>
            <a:r>
              <a:t>- Tách nghĩa vụ đăng tải của chủ đầu tư và nghĩa vụ theo dõi của nhà thầu.</a:t>
            </a:r>
          </a:p>
          <a:p>
            <a:endParaRPr/>
          </a:p>
          <a:p>
            <a:r>
              <a:t>Nguồn/căn cứ: Mục 7.1-7.4 E-CDNT HSMT Cần Thơ; Điều 31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Ghi nhớ mốc yêu cầu và trả lời.</a:t>
            </a:r>
          </a:p>
          <a:p>
            <a:endParaRPr/>
          </a:p>
          <a:p>
            <a:r>
              <a:t>Ý chính cần nói:</a:t>
            </a:r>
          </a:p>
          <a:p>
            <a:r>
              <a:t>- Nêu điểm cần kiểm tra: mẫu E-HSMT và VBHN có thể cập nhật khác phiên bản trong hồ sơ.</a:t>
            </a:r>
          </a:p>
          <a:p>
            <a:r>
              <a:t>- Theo Viettel, Điều 31 cũng ghi 03 ngày/02 ngày cho HSMT.</a:t>
            </a:r>
          </a:p>
          <a:p>
            <a:endParaRPr/>
          </a:p>
          <a:p>
            <a:r>
              <a:t>Nguồn/căn cứ: Mục 7.2 E-CDNT HSMT Cần Thơ; Điều 31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biệt ba mốc sau đóng thầu.</a:t>
            </a:r>
          </a:p>
          <a:p>
            <a:endParaRPr/>
          </a:p>
          <a:p>
            <a:r>
              <a:t>Ý chính cần nói:</a:t>
            </a:r>
          </a:p>
          <a:p>
            <a:r>
              <a:t>- HSMT Cần Thơ: chủ đầu tư mở thầu trong thời hạn không quá 02 giờ kể từ đóng thầu.</a:t>
            </a:r>
          </a:p>
          <a:p>
            <a:r>
              <a:t>- Viettel A-CDNT 27.4-27.5 cho phép yêu cầu bổ sung năng lực và bổ sung/thay thế nhân sự, thiết bị trong giới hạn.</a:t>
            </a:r>
          </a:p>
          <a:p>
            <a:endParaRPr/>
          </a:p>
          <a:p>
            <a:r>
              <a:t>Nguồn/căn cứ: Mục 21, 27, 30 E-CDNT HSMT Cần Thơ; Mục 27.4-29 A-CDNT HSMT 101.</a:t>
            </a:r>
          </a:p>
          <a:p>
            <a:r>
              <a:t>Mức độ kiểm tra pháp lý: --- ## Phần IV - Giải phẫu HSMT theo Luật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Đọc đúng thứ tự tài liệu.</a:t>
            </a:r>
          </a:p>
          <a:p>
            <a:endParaRPr/>
          </a:p>
          <a:p>
            <a:r>
              <a:t>Ý chính cần nói:</a:t>
            </a:r>
          </a:p>
          <a:p>
            <a:r>
              <a:t>- HSMT Cần Thơ mô tả chính cấu trúc này tại Mục 6.1 E-CDNT.</a:t>
            </a:r>
          </a:p>
          <a:p>
            <a:r>
              <a:t>- Nhắc tài liệu sửa đổi/làm rõ là một phần của E-HSMT.</a:t>
            </a:r>
          </a:p>
          <a:p>
            <a:endParaRPr/>
          </a:p>
          <a:p>
            <a:r>
              <a:t>Nguồn/căn cứ: Mục 6.1 E-CDNT HSMT Cần Thơ, tr. 4.</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Thực hành lấy dữ kiện từ E-BDL.</a:t>
            </a:r>
          </a:p>
          <a:p>
            <a:endParaRPr/>
          </a:p>
          <a:p>
            <a:r>
              <a:t>Ý chính cần nói:</a:t>
            </a:r>
          </a:p>
          <a:p>
            <a:r>
              <a:t>- 90 ngày và 120 ngày là yêu cầu cụ thể của gói, không phải quy tắc chung.</a:t>
            </a:r>
          </a:p>
          <a:p>
            <a:r>
              <a:t>- Kiểm tra logic 30 ngày cộng thêm giữa HSDT và bảo đảm dự thầu theo Luật.</a:t>
            </a:r>
          </a:p>
          <a:p>
            <a:endParaRPr/>
          </a:p>
          <a:p>
            <a:r>
              <a:t>Nguồn/căn cứ: E-CDNT 3, 17.1, 18.2, 29.1-29.3 HSMT Cần Thơ, tr. 23-27.</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Lập checklist hồ sơ theo HSMT.</a:t>
            </a:r>
          </a:p>
          <a:p>
            <a:endParaRPr/>
          </a:p>
          <a:p>
            <a:r>
              <a:t>Ý chính cần nói:</a:t>
            </a:r>
          </a:p>
          <a:p>
            <a:r>
              <a:t>- Hỏi học viên mục nào do Hệ thống trích xuất, mục nào nhà thầu phải tải file.</a:t>
            </a:r>
          </a:p>
          <a:p>
            <a:r>
              <a:t>- Nêu nguy cơ xung đột webform/file và cách HSMT quy định cơ sở đánh giá.</a:t>
            </a:r>
          </a:p>
          <a:p>
            <a:endParaRPr/>
          </a:p>
          <a:p>
            <a:r>
              <a:t>Nguồn/căn cứ: Mục 10-11 E-CDNT HSMT Cần Thơ.</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Đọc bản chất scope trước khi chấp nhận nhãn phân loại.</a:t>
            </a:r>
          </a:p>
          <a:p>
            <a:endParaRPr/>
          </a:p>
          <a:p>
            <a:r>
              <a:t>Ý chính cần nói:</a:t>
            </a:r>
          </a:p>
          <a:p>
            <a:r>
              <a:t>- Không kết luận sai phân loại chỉ từ tên dịch vụ.</a:t>
            </a:r>
          </a:p>
          <a:p>
            <a:r>
              <a:t>- Cần đối chiếu pháp luật chuyên ngành và hướng dẫn phân loại hiện hành.</a:t>
            </a:r>
          </a:p>
          <a:p>
            <a:r>
              <a:t>- Đánh dấu ⚠️ để người dùng xác nhận trước khi dựng PPT.</a:t>
            </a:r>
          </a:p>
          <a:p>
            <a:endParaRPr/>
          </a:p>
          <a:p>
            <a:r>
              <a:t>Nguồn/căn cứ: Trang 1-2 HSMT; Chương V HSMT Cần Thơ; Điều 4 Luật về giải thích từ ngữ.</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Nhận diện yêu cầu liên quan quan hệ sở hữu và tư vấn.</a:t>
            </a:r>
          </a:p>
          <a:p>
            <a:endParaRPr/>
          </a:p>
          <a:p>
            <a:r>
              <a:t>Ý chính cần nói:</a:t>
            </a:r>
          </a:p>
          <a:p>
            <a:r>
              <a:t>- Không gọi các ngưỡng trong E-BDL là quy tắc chung nếu chưa đối chiếu phiên bản Luật/VBHN.</a:t>
            </a:r>
          </a:p>
          <a:p>
            <a:r>
              <a:t>- Nêu cách xác định tỷ lệ liên danh theo công thức trong HSMT.</a:t>
            </a:r>
          </a:p>
          <a:p>
            <a:endParaRPr/>
          </a:p>
          <a:p>
            <a:r>
              <a:t>Nguồn/căn cứ: E-CDNT 5.1(c), tr. 23-25; Điều 6 Luật.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Biến yêu cầu bảo đảm thành kiểm tra fatal.</a:t>
            </a:r>
          </a:p>
          <a:p>
            <a:endParaRPr/>
          </a:p>
          <a:p>
            <a:r>
              <a:t>Ý chính cần nói:</a:t>
            </a:r>
          </a:p>
          <a:p>
            <a:r>
              <a:t>- Đối chiếu Mục 18.3: giá trị/hiệu lực thấp hơn hoặc sai đơn vị thụ hưởng là không hợp lệ.</a:t>
            </a:r>
          </a:p>
          <a:p>
            <a:r>
              <a:t>- Nêu ngoại lệ giá trị dưới 50 triệu theo Mục 18.8.</a:t>
            </a:r>
          </a:p>
          <a:p>
            <a:endParaRPr/>
          </a:p>
          <a:p>
            <a:r>
              <a:t>Nguồn/căn cứ: Điều 14 Luật; Mục 18.1-18.8 E-CDNT HSMT Cần Thơ.</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Kiểm tra yêu cầu tài liệu và nguy cơ trùng lặp.</a:t>
            </a:r>
          </a:p>
          <a:p>
            <a:endParaRPr/>
          </a:p>
          <a:p>
            <a:r>
              <a:t>Ý chính cần nói:</a:t>
            </a:r>
          </a:p>
          <a:p>
            <a:r>
              <a:t>- Hỏi: tài liệu nào Hệ thống hoặc cơ quan nhà nước có thể xác minh?</a:t>
            </a:r>
          </a:p>
          <a:p>
            <a:r>
              <a:t>- Không kết luận yêu cầu BHXH là hợp pháp/không hợp pháp nếu chưa đối chiếu căn cứ và nhu cầu của gói.</a:t>
            </a:r>
          </a:p>
          <a:p>
            <a:r>
              <a:t>- Gắn ⚠️ cho yêu cầu xác nhận hết Quý II/2026.</a:t>
            </a:r>
          </a:p>
          <a:p>
            <a:endParaRPr/>
          </a:p>
          <a:p>
            <a:r>
              <a:t>Nguồn/căn cứ: E-CDNT 10.8 HSMT Cần Thơ; Mục 16, 30 E-CDNT; Điều 5, 61 Luật.</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Hiểu tác động của việc không cho phép nhà thầu phụ.</a:t>
            </a:r>
          </a:p>
          <a:p>
            <a:endParaRPr/>
          </a:p>
          <a:p>
            <a:r>
              <a:t>Ý chính cần nói:</a:t>
            </a:r>
          </a:p>
          <a:p>
            <a:r>
              <a:t>- Đây là dấu hiệu cần kiểm tra, chưa kết luận hạn chế cạnh tranh.</a:t>
            </a:r>
          </a:p>
          <a:p>
            <a:r>
              <a:t>- Cần xác định nhà thầu phải tự có toàn bộ năng lực hay được dùng đơn vị liên danh.</a:t>
            </a:r>
          </a:p>
          <a:p>
            <a:endParaRPr/>
          </a:p>
          <a:p>
            <a:r>
              <a:t>Nguồn/căn cứ: E-CDNT 27.2, Chương V HSMT Cần Thơ.</a:t>
            </a:r>
          </a:p>
          <a:p>
            <a:r>
              <a:t>Mức độ kiểm tra pháp lý: --- ## Phần V - Tiêu chuẩn đánh giá và yêu cầu kỹ thuật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Xây dựng mô hình đánh giá dễ nhớ.</a:t>
            </a:r>
          </a:p>
          <a:p>
            <a:endParaRPr/>
          </a:p>
          <a:p>
            <a:r>
              <a:t>Ý chính cần nói:</a:t>
            </a:r>
          </a:p>
          <a:p>
            <a:r>
              <a:t>- So sánh với quy trình 5 bước trong HSMT Viettel 101.</a:t>
            </a:r>
          </a:p>
          <a:p>
            <a:r>
              <a:t>- Nhấn mạnh cổng trước không được bỏ qua chỉ vì giá thấp.</a:t>
            </a:r>
          </a:p>
          <a:p>
            <a:endParaRPr/>
          </a:p>
          <a:p>
            <a:r>
              <a:t>Nguồn/căn cứ: Chương III HSMT Cần Thơ; Mục 28 A-CDNT HSMT 101; Điều 58-61 Luật.</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Hiểu logic tổng quát và tiêu chí chi tiết.</a:t>
            </a:r>
          </a:p>
          <a:p>
            <a:endParaRPr/>
          </a:p>
          <a:p>
            <a:r>
              <a:t>Ý chính cần nói:</a:t>
            </a:r>
          </a:p>
          <a:p>
            <a:r>
              <a:t>- Đọc trực tiếp Mục 3 tài liệu kỹ thuật trong ZIP.</a:t>
            </a:r>
          </a:p>
          <a:p>
            <a:r>
              <a:t>- Phân biệt tiêu chí có bằng chứng với tiêu chí chỉ yêu cầu thuyết minh.</a:t>
            </a:r>
          </a:p>
          <a:p>
            <a:endParaRPr/>
          </a:p>
          <a:p>
            <a:r>
              <a:t>Nguồn/căn cứ: Mục 3. Tiêu chuẩn đánh giá về kỹ thuật.docx.</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Đặt toàn bộ tiêu chí thực tế lên một bản đồ.</a:t>
            </a:r>
          </a:p>
          <a:p>
            <a:endParaRPr/>
          </a:p>
          <a:p>
            <a:r>
              <a:t>Ý chính cần nói:</a:t>
            </a:r>
          </a:p>
          <a:p>
            <a:r>
              <a:t>- Chỉ tiêu 4 yêu cầu đồng thời các giấy chứng nhận hoạt động và ISO/IEC 17025:2017.</a:t>
            </a:r>
          </a:p>
          <a:p>
            <a:r>
              <a:t>- Chỉ tiêu 8 đưa nhiều cam kết và lịch sử vi phạm vào đánh giá kỹ thuật, cần kiểm tra căn cứ.</a:t>
            </a:r>
          </a:p>
          <a:p>
            <a:endParaRPr/>
          </a:p>
          <a:p>
            <a:r>
              <a:t>Nguồn/căn cứ: Mục 3. Tiêu chuẩn đánh giá về kỹ thuật.docx.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Dạy cách đánh giá red flag mà không kết luận vội.</a:t>
            </a:r>
          </a:p>
          <a:p>
            <a:endParaRPr/>
          </a:p>
          <a:p>
            <a:r>
              <a:t>Ý chính cần nói:</a:t>
            </a:r>
          </a:p>
          <a:p>
            <a:r>
              <a:t>- Không dùng nhãn “vi phạm” chỉ vì yêu cầu nhiều giấy tờ.</a:t>
            </a:r>
          </a:p>
          <a:p>
            <a:r>
              <a:t>- Kiểm tra khả năng liên danh và cách HSMT ghi “tính tổng năng lực”.</a:t>
            </a:r>
          </a:p>
          <a:p>
            <a:r>
              <a:t>- Xác minh Nghị định 22/2026/NĐ-CP và chuyển tiếp trước khi dựng PPT.</a:t>
            </a:r>
          </a:p>
          <a:p>
            <a:endParaRPr/>
          </a:p>
          <a:p>
            <a:r>
              <a:t>Nguồn/căn cứ: Mục 3 kỹ thuật và Chương V HSMT Cần Thơ; Nghị định 22/2026 được HSMT dẫn chiếu.</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Nối yêu cầu kỹ thuật với công việc phải thực hiện.</a:t>
            </a:r>
          </a:p>
          <a:p>
            <a:endParaRPr/>
          </a:p>
          <a:p>
            <a:r>
              <a:t>Ý chính cần nói:</a:t>
            </a:r>
          </a:p>
          <a:p>
            <a:r>
              <a:t>- Đối chiếu từng đầu ra với tiêu chí 1-4 và 6-7.</a:t>
            </a:r>
          </a:p>
          <a:p>
            <a:r>
              <a:t>- Ghi chú tiêu chí kỹ thuật phải đo được hoặc có cách đánh giá rõ.</a:t>
            </a:r>
          </a:p>
          <a:p>
            <a:endParaRPr/>
          </a:p>
          <a:p>
            <a:r>
              <a:t>Nguồn/căn cứ: Chương V HSMT Cần Thơ, Bảng 2.</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tích scope lớn thay vì chỉ đọc tên tiêu chuẩn.</a:t>
            </a:r>
          </a:p>
          <a:p>
            <a:endParaRPr/>
          </a:p>
          <a:p>
            <a:r>
              <a:t>Ý chính cần nói:</a:t>
            </a:r>
          </a:p>
          <a:p>
            <a:r>
              <a:t>- Chỉ rõ Chương V có 5 đơn vị ISO 22000, 1 đơn vị FSSC 22000 và 7 chi phí giám sát.</a:t>
            </a:r>
          </a:p>
          <a:p>
            <a:r>
              <a:t>- Kiểm tra sự khớp giữa số lượng và bảng giá/biểu mẫu.</a:t>
            </a:r>
          </a:p>
          <a:p>
            <a:endParaRPr/>
          </a:p>
          <a:p>
            <a:r>
              <a:t>Nguồn/căn cứ: Chương V HSMT Cần Thơ, Bảng 1, 3, 4.</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Kiểm tra tính liên kết của HSMT.</a:t>
            </a:r>
          </a:p>
          <a:p>
            <a:endParaRPr/>
          </a:p>
          <a:p>
            <a:r>
              <a:t>Ý chính cần nói:</a:t>
            </a:r>
          </a:p>
          <a:p>
            <a:r>
              <a:t>- Đánh dấu phần nào Chương III không có tiêu chí tương ứng.</a:t>
            </a:r>
          </a:p>
          <a:p>
            <a:r>
              <a:t>- Đánh dấu tiêu chí có nhưng Chương V chưa mô tả đầu ra.</a:t>
            </a:r>
          </a:p>
          <a:p>
            <a:endParaRPr/>
          </a:p>
          <a:p>
            <a:r>
              <a:t>Nguồn/căn cứ: Mục 3 kỹ thuật và Chương V HSMT Cần Thơ.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biệt kê khai, chứng minh và đối chiếu.</a:t>
            </a:r>
          </a:p>
          <a:p>
            <a:endParaRPr/>
          </a:p>
          <a:p>
            <a:r>
              <a:t>Ý chính cần nói:</a:t>
            </a:r>
          </a:p>
          <a:p>
            <a:r>
              <a:t>- Nhắc không đồng nhất “không nộp ngay” với “không được làm rõ”.</a:t>
            </a:r>
          </a:p>
          <a:p>
            <a:r>
              <a:t>- So sánh HSMT 101 có cơ chế bổ sung/thay thế nhân sự, thiết bị một lần.</a:t>
            </a:r>
          </a:p>
          <a:p>
            <a:endParaRPr/>
          </a:p>
          <a:p>
            <a:r>
              <a:t>Nguồn/căn cứ: Mục 16, 30 E-CDNT HSMT Cần Thơ; Mục 27.4-27.5 A-CDNT HSMT 101.</a:t>
            </a:r>
          </a:p>
          <a:p>
            <a:r>
              <a:t>Mức độ kiểm tra pháp lý: --- ## Phần VI - Giải phẫu HSMT Viettel và so sánh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Nhận diện A-HSMT theo quy chế.</a:t>
            </a:r>
          </a:p>
          <a:p>
            <a:endParaRPr/>
          </a:p>
          <a:p>
            <a:r>
              <a:t>Ý chính cần nói:</a:t>
            </a:r>
          </a:p>
          <a:p>
            <a:r>
              <a:t>- Giải thích “A” là cơ chế Cổng đấu thầu Viettel trong HSMT thực tế.</a:t>
            </a:r>
          </a:p>
          <a:p>
            <a:r>
              <a:t>- HSMT ghi mua sắm dịch vụ phi tư vấn qua mạng, 1G1T.</a:t>
            </a:r>
          </a:p>
          <a:p>
            <a:endParaRPr/>
          </a:p>
          <a:p>
            <a:r>
              <a:t>Nguồn/căn cứ: HSMT Theo quy chế Viettel.docx, mục lục và Chương IV.</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Đặt case Viettel trên cùng mặt bằng so sánh.</a:t>
            </a:r>
          </a:p>
          <a:p>
            <a:endParaRPr/>
          </a:p>
          <a:p>
            <a:r>
              <a:t>Ý chính cần nói:</a:t>
            </a:r>
          </a:p>
          <a:p>
            <a:r>
              <a:t>- So sánh nguồn vốn ngân sách của HSMT Cần Thơ với chi phí sản xuất kinh doanh của gói 101.</a:t>
            </a:r>
          </a:p>
          <a:p>
            <a:r>
              <a:t>- Không suy ra từ nguồn vốn rằng mọi gói Viettel đều ngoài Luật; cần quyết định phạm vi.</a:t>
            </a:r>
          </a:p>
          <a:p>
            <a:endParaRPr/>
          </a:p>
          <a:p>
            <a:r>
              <a:t>Nguồn/căn cứ: HSMT 101, Chương IV, mục 2.1.</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Hiểu quy trình của HSMT 101.</a:t>
            </a:r>
          </a:p>
          <a:p>
            <a:endParaRPr/>
          </a:p>
          <a:p>
            <a:r>
              <a:t>Ý chính cần nói:</a:t>
            </a:r>
          </a:p>
          <a:p>
            <a:r>
              <a:t>- Quy trình 02 đánh giá tuần tự từ nhà thầu giá thấp nhất trong điều kiện nêu tại HSMT.</a:t>
            </a:r>
          </a:p>
          <a:p>
            <a:r>
              <a:t>- Đây là điểm khác về cách vận hành so với việc đánh giá đồng thời tất cả hồ sơ.</a:t>
            </a:r>
          </a:p>
          <a:p>
            <a:endParaRPr/>
          </a:p>
          <a:p>
            <a:r>
              <a:t>Nguồn/căn cứ: Mục 27-29 A-CDNT HSMT 101.</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biệt chỉ tiêu bắt buộc và tùy chọn.</a:t>
            </a:r>
          </a:p>
          <a:p>
            <a:endParaRPr/>
          </a:p>
          <a:p>
            <a:r>
              <a:t>Ý chính cần nói:</a:t>
            </a:r>
          </a:p>
          <a:p>
            <a:r>
              <a:t>- Liên hệ phần mềm NetAgent: tính phù hợp, bảo mật, tương tác, hiệu năng, khả chuyển.</a:t>
            </a:r>
          </a:p>
          <a:p>
            <a:r>
              <a:t>- Không đem nhãn M/O áp vào HSMT Cần Thơ nếu HSMT đó không dùng.</a:t>
            </a:r>
          </a:p>
          <a:p>
            <a:endParaRPr/>
          </a:p>
          <a:p>
            <a:r>
              <a:t>Nguồn/căn cứ: HSMT 101, Chương III Mục 3 và Chương IV Mục 2.2.</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Đối chiếu cơ chế sau đóng thầu.</a:t>
            </a:r>
          </a:p>
          <a:p>
            <a:endParaRPr/>
          </a:p>
          <a:p>
            <a:r>
              <a:t>Ý chính cần nói:</a:t>
            </a:r>
          </a:p>
          <a:p>
            <a:r>
              <a:t>- HSMT Viettel quy định rất rõ nhưng vẫn phải đối chiếu với Quy chế và căn cứ cấp cao hơn nếu gói thuộc Luật.</a:t>
            </a:r>
          </a:p>
          <a:p>
            <a:r>
              <a:t>- Cố ý kê khai không trung thực dẫn đến gian lận và loại hồ sơ.</a:t>
            </a:r>
          </a:p>
          <a:p>
            <a:endParaRPr/>
          </a:p>
          <a:p>
            <a:r>
              <a:t>Nguồn/căn cứ: Mục 27.4-27.6 A-CDNT HSMT 101.</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Đặt dữ kiện song song, không trộn nguồn.</a:t>
            </a:r>
          </a:p>
          <a:p>
            <a:endParaRPr/>
          </a:p>
          <a:p>
            <a:r>
              <a:t>Ý chính cần nói:</a:t>
            </a:r>
          </a:p>
          <a:p>
            <a:r>
              <a:t>- Chỉ nêu điểm có tài liệu hỗ trợ.</a:t>
            </a:r>
          </a:p>
          <a:p>
            <a:r>
              <a:t>- Các ô chưa trích được dữ kiện cụ thể phải ghi “theo A-BDL/cần kiểm tra”.</a:t>
            </a:r>
          </a:p>
          <a:p>
            <a:endParaRPr/>
          </a:p>
          <a:p>
            <a:r>
              <a:t>Nguồn/căn cứ: E-CDNT HSMT Cần Thơ; HSMT 101; Điều 31 Quy chế.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Nhận diện giới hạn sử dụng đặc tả thương mại.</a:t>
            </a:r>
          </a:p>
          <a:p>
            <a:endParaRPr/>
          </a:p>
          <a:p>
            <a:r>
              <a:t>Ý chính cần nói:</a:t>
            </a:r>
          </a:p>
          <a:p>
            <a:r>
              <a:t>- Không khẳng định mọi yêu cầu của Viettel đều hợp pháp cho mọi gói.</a:t>
            </a:r>
          </a:p>
          <a:p>
            <a:r>
              <a:t>- Gói Cần Thơ là dịch vụ, cần kiểm tra việc yêu cầu giấy chứng nhận/tiêu chuẩn có tương đương yêu cầu nhãn hiệu hay không.</a:t>
            </a:r>
          </a:p>
          <a:p>
            <a:endParaRPr/>
          </a:p>
          <a:p>
            <a:r>
              <a:t>Nguồn/căn cứ: Điều 16 Luật; Điều 14 Quy chế 2486; Mục 15.2 E-CDNT HSMT Cần Thơ. /</a:t>
            </a:r>
          </a:p>
          <a:p>
            <a:r>
              <a:t>Mức độ kiểm tra pháp lý: --- ## Phần VII - Làm rõ, sửa lỗi, hiệu chỉnh và thương thảo</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Cho nhà thầu quy trình đọc thực hành.</a:t>
            </a:r>
          </a:p>
          <a:p>
            <a:endParaRPr/>
          </a:p>
          <a:p>
            <a:r>
              <a:t>Ý chính cần nói:</a:t>
            </a:r>
          </a:p>
          <a:p>
            <a:r>
              <a:t>- Yêu cầu học viên khoanh các điều kiện có thể làm hồ sơ bị loại.</a:t>
            </a:r>
          </a:p>
          <a:p>
            <a:r>
              <a:t>- Không bắt đầu bằng việc điền biểu mẫu nếu chưa hiểu cổng đánh giá.</a:t>
            </a:r>
          </a:p>
          <a:p>
            <a:endParaRPr/>
          </a:p>
          <a:p>
            <a:r>
              <a:t>Nguồn/căn cứ: Cấu trúc E-HSMT Mục 6; Chương I-III HSMT 101.</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biệt làm rõ với sửa đổi.</a:t>
            </a:r>
          </a:p>
          <a:p>
            <a:endParaRPr/>
          </a:p>
          <a:p>
            <a:r>
              <a:t>Ý chính cần nói:</a:t>
            </a:r>
          </a:p>
          <a:p>
            <a:r>
              <a:t>- HSMT Cần Thơ không tổ chức hội nghị tiền đấu thầu.</a:t>
            </a:r>
          </a:p>
          <a:p>
            <a:r>
              <a:t>- Quy chế Viettel ghi văn bản làm rõ/sửa đổi là một phần HSMT.</a:t>
            </a:r>
          </a:p>
          <a:p>
            <a:endParaRPr/>
          </a:p>
          <a:p>
            <a:r>
              <a:t>Nguồn/căn cứ: Mục 7 E-CDNT HSMT Cần Thơ; Điều 31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Đặt nguyên tắc xuyên suốt.</a:t>
            </a:r>
          </a:p>
          <a:p>
            <a:endParaRPr/>
          </a:p>
          <a:p>
            <a:r>
              <a:t>Ý chính cần nói:</a:t>
            </a:r>
          </a:p>
          <a:p>
            <a:r>
              <a:t>- Luật Điều 16 cấm hành vi cố ý không cung cấp tài liệu để tạo điều kiện cho một bên trúng thầu.</a:t>
            </a:r>
          </a:p>
          <a:p>
            <a:r>
              <a:t>- Đối chiếu riêng từng nội dung với HSMT và VBHN.</a:t>
            </a:r>
          </a:p>
          <a:p>
            <a:endParaRPr/>
          </a:p>
          <a:p>
            <a:r>
              <a:t>Nguồn/căn cứ: Điều 16 Luật; Mục 27 A-CDNT HSMT 101; Mục 30 E-CDNT HSMT Cần Thơ.</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Tách “thiếu tài liệu” khỏi “không có năng lực”.</a:t>
            </a:r>
          </a:p>
          <a:p>
            <a:endParaRPr/>
          </a:p>
          <a:p>
            <a:r>
              <a:t>Ý chính cần nói:</a:t>
            </a:r>
          </a:p>
          <a:p>
            <a:r>
              <a:t>- Viettel A-CDNT 27.4 cho phép bổ sung tài liệu năng lực trong thời hạn không ít hơn 03 ngày làm việc.</a:t>
            </a:r>
          </a:p>
          <a:p>
            <a:r>
              <a:t>- HSMT Cần Thơ yêu cầu tài liệu đối chiếu ở Mục 30; cần xác định phạm vi làm rõ từ mẫu/VBHN.</a:t>
            </a:r>
          </a:p>
          <a:p>
            <a:endParaRPr/>
          </a:p>
          <a:p>
            <a:r>
              <a:t>Nguồn/căn cứ: Mục 27.4, 29 A-CDNT HSMT 101; Mục 16, 30 E-CDNT HSMT Cần Thơ.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Hiểu ngoại lệ có giới hạn.</a:t>
            </a:r>
          </a:p>
          <a:p>
            <a:endParaRPr/>
          </a:p>
          <a:p>
            <a:r>
              <a:t>Ý chính cần nói:</a:t>
            </a:r>
          </a:p>
          <a:p>
            <a:r>
              <a:t>- HSMT Cần Thơ không có cùng cơ chế chi tiết; không suy diễn.</a:t>
            </a:r>
          </a:p>
          <a:p>
            <a:r>
              <a:t>- Hỏi học viên: nhân sự không kê khai ngay từ đầu có được “tạo mới” không?</a:t>
            </a:r>
          </a:p>
          <a:p>
            <a:endParaRPr/>
          </a:p>
          <a:p>
            <a:r>
              <a:t>Nguồn/căn cứ: Mục 27.5 A-CDNT HSMT 101; Mục 3 kỹ thuật HSMT Cần Thơ.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biệt kê khai hợp đồng với chứng minh hoàn thành.</a:t>
            </a:r>
          </a:p>
          <a:p>
            <a:endParaRPr/>
          </a:p>
          <a:p>
            <a:r>
              <a:t>Ý chính cần nói:</a:t>
            </a:r>
          </a:p>
          <a:p>
            <a:r>
              <a:t>- Trích HSMT 101 Mục 29.1(e).</a:t>
            </a:r>
          </a:p>
          <a:p>
            <a:r>
              <a:t>- Cần đối chiếu bản Luật/VBHN để xác định chính xác tình huống hợp đồng đang thực hiện.</a:t>
            </a:r>
          </a:p>
          <a:p>
            <a:endParaRPr/>
          </a:p>
          <a:p>
            <a:r>
              <a:t>Nguồn/căn cứ: Mục 29.1(e) A-CDNT HSMT 101; Điều 61 Luật; VBHN 36/2026.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Biết giai đoạn nào được làm gì.</a:t>
            </a:r>
          </a:p>
          <a:p>
            <a:endParaRPr/>
          </a:p>
          <a:p>
            <a:r>
              <a:t>Ý chính cần nói:</a:t>
            </a:r>
          </a:p>
          <a:p>
            <a:r>
              <a:t>- HSMT Viettel Mục 29.4-29.7 quy định rõ nguyên tắc thương thảo.</a:t>
            </a:r>
          </a:p>
          <a:p>
            <a:r>
              <a:t>- HSMT Cần Thơ cũng yêu cầu đối chiếu và thương thảo theo quy trình HSMT.</a:t>
            </a:r>
          </a:p>
          <a:p>
            <a:endParaRPr/>
          </a:p>
          <a:p>
            <a:r>
              <a:t>Nguồn/căn cứ: Mục 29 A-CDNT HSMT 101; Mục 30 E-CDNT HSMT Cần Thơ.</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Học thuộc bảng phân biệt.</a:t>
            </a:r>
          </a:p>
          <a:p>
            <a:endParaRPr/>
          </a:p>
          <a:p>
            <a:r>
              <a:t>Ý chính cần nói:</a:t>
            </a:r>
          </a:p>
          <a:p>
            <a:r>
              <a:t>- Cột “có đổi giá?” phải đọc cùng phương pháp đánh giá và loại hợp đồng.</a:t>
            </a:r>
          </a:p>
          <a:p>
            <a:r>
              <a:t>- Bản PPT cần điền điều khoản cụ thể sau khi xác minh VBHN 36/2026.</a:t>
            </a:r>
          </a:p>
          <a:p>
            <a:endParaRPr/>
          </a:p>
          <a:p>
            <a:r>
              <a:t>Nguồn/căn cứ: Điều 58, 61 Luật; Mục 29 A-CDNT HSMT 101; VBHN 36/2026.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Có công cụ tra nhanh trong lớp học.</a:t>
            </a:r>
          </a:p>
          <a:p>
            <a:endParaRPr/>
          </a:p>
          <a:p>
            <a:r>
              <a:t>Ý chính cần nói:</a:t>
            </a:r>
          </a:p>
          <a:p>
            <a:r>
              <a:t>- Đây là bảng tình huống để giảng viên hỏi trước khi bật đáp án.</a:t>
            </a:r>
          </a:p>
          <a:p>
            <a:r>
              <a:t>- Mỗi dòng phải được cập nhật căn cứ điều/mục chính xác khi dựng PPT.</a:t>
            </a:r>
          </a:p>
          <a:p>
            <a:r>
              <a:t>- “⚠️” là cần rà soát, không phải kết luận có vi phạm.</a:t>
            </a:r>
          </a:p>
          <a:p>
            <a:endParaRPr/>
          </a:p>
          <a:p>
            <a:r>
              <a:t>Nguồn/căn cứ: Điều 14, 16, 58-61 Luật; Mục 18, 27, 29-30 HSMT Cần Thơ/101; VBHN 36/2026.</a:t>
            </a:r>
          </a:p>
          <a:p>
            <a:r>
              <a:t>Mức độ kiểm tra pháp lý: --- ## Phần VIII - Hành vi bị cấm, hạn chế cạnh tranh và đánh giá phương pháp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Không trộn hai khái niệm.</a:t>
            </a:r>
          </a:p>
          <a:p>
            <a:endParaRPr/>
          </a:p>
          <a:p>
            <a:r>
              <a:t>Ý chính cần nói:</a:t>
            </a:r>
          </a:p>
          <a:p>
            <a:r>
              <a:t>- Dùng Điều 16 Luật và Điều 9 Quy chế.</a:t>
            </a:r>
          </a:p>
          <a:p>
            <a:r>
              <a:t>- Hỏi: yêu cầu văn phòng tại địa phương thuộc cột nào? Câu trả lời phụ thuộc căn cứ và scope.</a:t>
            </a:r>
          </a:p>
          <a:p>
            <a:endParaRPr/>
          </a:p>
          <a:p>
            <a:r>
              <a:t>Nguồn/căn cứ: Điều 16 Luật; Điều 9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Có danh mục sàng lọc trước khi kết luận.</a:t>
            </a:r>
          </a:p>
          <a:p>
            <a:endParaRPr/>
          </a:p>
          <a:p>
            <a:r>
              <a:t>Ý chính cần nói:</a:t>
            </a:r>
          </a:p>
          <a:p>
            <a:r>
              <a:t>- So sánh với HSMT Cần Thơ: chứng nhận hoạt động, ISO 17025, 0% nhà thầu phụ, cam kết uy tín.</a:t>
            </a:r>
          </a:p>
          <a:p>
            <a:r>
              <a:t>- Tách “cần kiểm tra” khỏi “không đạt” của tiêu chí HSMT.</a:t>
            </a:r>
          </a:p>
          <a:p>
            <a:endParaRPr/>
          </a:p>
          <a:p>
            <a:r>
              <a:t>Nguồn/căn cứ: Điều 16 Luật; Mục 3 và E-CDNT HSMT Cần Thơ; Điều 14 Quy chế 2486.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Chọn đúng cách xếp hạng.</a:t>
            </a:r>
          </a:p>
          <a:p>
            <a:endParaRPr/>
          </a:p>
          <a:p>
            <a:r>
              <a:t>Ý chính cần nói:</a:t>
            </a:r>
          </a:p>
          <a:p>
            <a:r>
              <a:t>- HSMT Cần Thơ và Viettel 101 đều dùng giá thấp nhất trong dữ kiện đã đọc.</a:t>
            </a:r>
          </a:p>
          <a:p>
            <a:r>
              <a:t>- Không đưa ví dụ tính toán nếu chưa có đủ dữ liệu giá và trọng số.</a:t>
            </a:r>
          </a:p>
          <a:p>
            <a:endParaRPr/>
          </a:p>
          <a:p>
            <a:r>
              <a:t>Nguồn/căn cứ: Điều 58-60 Luật; Điều 33 Quy chế 2486; E-CDNT 29.1 HSMT Cần Thơ; Chương III HSMT 101.</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Ghi nhớ khác biệt định lượng.</a:t>
            </a:r>
          </a:p>
          <a:p>
            <a:endParaRPr/>
          </a:p>
          <a:p>
            <a:r>
              <a:t>Ý chính cần nói:</a:t>
            </a:r>
          </a:p>
          <a:p>
            <a:r>
              <a:t>- Case 140%: theo Luật không đáp ứng điều kiện khối lượng; theo trích Quy chế Viettel có thể nằm trong ngưỡng, nhưng phải kiểm tra các điều kiện còn lại.</a:t>
            </a:r>
          </a:p>
          <a:p>
            <a:r>
              <a:t>- Đây là ví dụ rõ nhất cho thông điệp “không dùng nhầm hạn mức”.</a:t>
            </a:r>
          </a:p>
          <a:p>
            <a:endParaRPr/>
          </a:p>
          <a:p>
            <a:r>
              <a:t>Nguồn/căn cứ: Điều 25 Luật; Điều 16 Quy chế 2486.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So sánh điều kiện, hạn mức và thẩm quyền.</a:t>
            </a:r>
          </a:p>
          <a:p>
            <a:endParaRPr/>
          </a:p>
          <a:p>
            <a:r>
              <a:t>Ý chính cần nói:</a:t>
            </a:r>
          </a:p>
          <a:p>
            <a:r>
              <a:t>- Không điền con số hạn mức nếu chưa xác minh VBHN 36/2026 và phần Quy chế tương ứng.</a:t>
            </a:r>
          </a:p>
          <a:p>
            <a:r>
              <a:t>- Dùng cảnh báo đỏ cho việc áp hạn mức Viettel vào gói Luật.</a:t>
            </a:r>
          </a:p>
          <a:p>
            <a:endParaRPr/>
          </a:p>
          <a:p>
            <a:r>
              <a:t>Nguồn/căn cứ: Điều 23 Luật; Điều 17 Quy chế 2486; VBHN 36/2026.</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Hiểu quy trình riêng của Cổng Viettel.</a:t>
            </a:r>
          </a:p>
          <a:p>
            <a:endParaRPr/>
          </a:p>
          <a:p>
            <a:r>
              <a:t>Ý chính cần nói:</a:t>
            </a:r>
          </a:p>
          <a:p>
            <a:r>
              <a:t>- Phải xác minh câu “tối thiểu” bị OCR lỗi trong tài liệu trước khi đưa lên slide.</a:t>
            </a:r>
          </a:p>
          <a:p>
            <a:r>
              <a:t>- Nhấn mạnh chào giá trực tuyến không phải đấu thầu rộng rãi qua e-GP.</a:t>
            </a:r>
          </a:p>
          <a:p>
            <a:endParaRPr/>
          </a:p>
          <a:p>
            <a:r>
              <a:t>Nguồn/căn cứ: Điều 14 Quy chế 2486, tr. 22-24.</a:t>
            </a:r>
          </a:p>
          <a:p>
            <a:r>
              <a:t>Mức độ kiểm tra pháp lý: --- ## Phần IX - Case study và checklist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Luyện phân tích theo dữ kiện.</a:t>
            </a:r>
          </a:p>
          <a:p>
            <a:endParaRPr/>
          </a:p>
          <a:p>
            <a:r>
              <a:t>Ý chính cần nói:</a:t>
            </a:r>
          </a:p>
          <a:p>
            <a:r>
              <a:t>- Không trả lời chỉ bằng “được” hoặc “không được”.</a:t>
            </a:r>
          </a:p>
          <a:p>
            <a:r>
              <a:t>- Đối chiếu HSMT Cần Thơ Mục 10.8/30 và Viettel Mục 27.4/29.1.</a:t>
            </a:r>
          </a:p>
          <a:p>
            <a:endParaRPr/>
          </a:p>
          <a:p>
            <a:r>
              <a:t>Nguồn/căn cứ: HSMT Cần Thơ; HSMT 101.</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biệt lỗi cốt lõi và lỗi điều kiện.</a:t>
            </a:r>
          </a:p>
          <a:p>
            <a:endParaRPr/>
          </a:p>
          <a:p>
            <a:r>
              <a:t>Ý chính cần nói:</a:t>
            </a:r>
          </a:p>
          <a:p>
            <a:r>
              <a:t>- Giá/giải pháp cốt lõi không được biến thành nội dung mới qua làm rõ.</a:t>
            </a:r>
          </a:p>
          <a:p>
            <a:r>
              <a:t>- Bảo đảm sai giá trị, hiệu lực, tên thụ hưởng là rủi ro fatal theo HSMT.</a:t>
            </a:r>
          </a:p>
          <a:p>
            <a:endParaRPr/>
          </a:p>
          <a:p>
            <a:r>
              <a:t>Nguồn/căn cứ: Điều 14 Luật; Mục 18, 27 E-CDNT/A-CDNT.</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Áp dụng phân biệt Luật/Viettel.</a:t>
            </a:r>
          </a:p>
          <a:p>
            <a:endParaRPr/>
          </a:p>
          <a:p>
            <a:r>
              <a:t>Ý chính cần nói:</a:t>
            </a:r>
          </a:p>
          <a:p>
            <a:r>
              <a:t>- HSMT Viettel có cơ chế thay một lần theo Mục 27.5.</a:t>
            </a:r>
          </a:p>
          <a:p>
            <a:r>
              <a:t>- Luật cấm nêu nhãn hiệu trong các hình thức cạnh tranh trừ ngoại lệ; Quy chế có quy định nội bộ riêng.</a:t>
            </a:r>
          </a:p>
          <a:p>
            <a:endParaRPr/>
          </a:p>
          <a:p>
            <a:r>
              <a:t>Nguồn/căn cứ: Điều 16 Luật; Điều 14 Quy chế; Mục 27.5 A-CDNT HSMT 101.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Kiểm tra phản xạ với khác biệt hệ thống.</a:t>
            </a:r>
          </a:p>
          <a:p>
            <a:endParaRPr/>
          </a:p>
          <a:p>
            <a:r>
              <a:t>Ý chính cần nói:</a:t>
            </a:r>
          </a:p>
          <a:p>
            <a:r>
              <a:t>- 140%: Luật nhỏ hơn 130% nên không đạt điều kiện định lượng; Viettel có ngưỡng không quá 150% theo trích xuất nhưng phải kiểm tra đủ điều kiện.</a:t>
            </a:r>
          </a:p>
          <a:p>
            <a:r>
              <a:t>- HSMT Viettel nêu mật khẩu/file lỗi sau đóng thầu làm hồ sơ không hợp lệ; HSMT Cần Thơ cũng phải đối chiếu quy định Hệ thống.</a:t>
            </a:r>
          </a:p>
          <a:p>
            <a:endParaRPr/>
          </a:p>
          <a:p>
            <a:r>
              <a:t>Nguồn/căn cứ: Điều 25 Luật; Điều 16 Quy chế; Mục 3.1.4 HSMT Viettel.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Chốt công cụ thực hành cho bên mời thầu.</a:t>
            </a:r>
          </a:p>
          <a:p>
            <a:endParaRPr/>
          </a:p>
          <a:p>
            <a:r>
              <a:t>Ý chính cần nói:</a:t>
            </a:r>
          </a:p>
          <a:p>
            <a:r>
              <a:t>- Khi dựng PPT, tách checklist thành 2 slide nếu chữ quá nhỏ.</a:t>
            </a:r>
          </a:p>
          <a:p>
            <a:r>
              <a:t>- Ghi “cần kiểm tra” thay vì “vi phạm” khi chưa đủ căn cứ.</a:t>
            </a:r>
          </a:p>
          <a:p>
            <a:endParaRPr/>
          </a:p>
          <a:p>
            <a:r>
              <a:t>Nguồn/căn cứ: Luật; VBHN 36/2026; Quy chế 2486; E-HSMT Cần Thơ; HSMT 101.</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Chuyển nội dung thành thao tác trước đóng thầu.</a:t>
            </a:r>
          </a:p>
          <a:p>
            <a:endParaRPr/>
          </a:p>
          <a:p>
            <a:r>
              <a:t>Ý chính cần nói:</a:t>
            </a:r>
          </a:p>
          <a:p>
            <a:r>
              <a:t>- Đặt mốc kiểm tra trước đóng thầu ít nhất một ngày làm việc.</a:t>
            </a:r>
          </a:p>
          <a:p>
            <a:r>
              <a:t>- Không chờ sau đóng thầu để xử lý lỗi upload.</a:t>
            </a:r>
          </a:p>
          <a:p>
            <a:endParaRPr/>
          </a:p>
          <a:p>
            <a:r>
              <a:t>Nguồn/căn cứ: Mục 10-21 E-CDNT HSMT Cần Thơ; Mục 5, 16-20 A-CDNT HSMT 101.</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Kiểm soát phản hồi làm rõ.</a:t>
            </a:r>
          </a:p>
          <a:p>
            <a:endParaRPr/>
          </a:p>
          <a:p>
            <a:r>
              <a:t>Ý chính cần nói:</a:t>
            </a:r>
          </a:p>
          <a:p>
            <a:r>
              <a:t>- Hỏi: tài liệu bổ sung có chứng minh một sự kiện đã tồn tại hay tạo ra năng lực mới?</a:t>
            </a:r>
          </a:p>
          <a:p>
            <a:r>
              <a:t>- Câu trả lời phải theo đúng hệ thống Luật/Viettel của gói.</a:t>
            </a:r>
          </a:p>
          <a:p>
            <a:endParaRPr/>
          </a:p>
          <a:p>
            <a:r>
              <a:t>Nguồn/căn cứ: Điều 78, 82 Luật; Mục 27.4-27.6 A-CDNT HSMT 101; Mục 30 E-CDNT HSMT Cần Thơ.</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Tổng kết phương pháp áp dụng.</a:t>
            </a:r>
          </a:p>
          <a:p>
            <a:endParaRPr/>
          </a:p>
          <a:p>
            <a:r>
              <a:t>Ý chính cần nói:</a:t>
            </a:r>
          </a:p>
          <a:p>
            <a:r>
              <a:t>- Dùng 12 câu hỏi làm bài kiểm tra cuối khóa.</a:t>
            </a:r>
          </a:p>
          <a:p>
            <a:r>
              <a:t>- Nhấn mạnh nhãn “cần rà soát” là một kết quả chuyên môn hợp lệ khi dữ liệu chưa đủ.</a:t>
            </a:r>
          </a:p>
          <a:p>
            <a:endParaRPr/>
          </a:p>
          <a:p>
            <a:r>
              <a:t>Nguồn/căn cứ: Tổng hợp toàn bộ tài liệu đã đọc.</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Nhận diện rủi ro kỹ thuật riêng của quy trình qua mạng Viettel.</a:t>
            </a:r>
          </a:p>
          <a:p>
            <a:endParaRPr/>
          </a:p>
          <a:p>
            <a:r>
              <a:t>Ý chính cần nói:</a:t>
            </a:r>
          </a:p>
          <a:p>
            <a:r>
              <a:t>- Đây là rủi ro vận hành, không phải thay đổi tiêu chuẩn đánh giá.</a:t>
            </a:r>
          </a:p>
          <a:p>
            <a:r>
              <a:t>- Hỏi học viên kiểm tra file ZIP sau giải nén, Unicode và dung lượng trước khi nộp.</a:t>
            </a:r>
          </a:p>
          <a:p>
            <a:r>
              <a:t>- Khi có sự cố, chủ đầu tư phải thông báo gia hạn trên Hệ thống; không tự suy đoán thời điểm mới.</a:t>
            </a:r>
          </a:p>
          <a:p>
            <a:endParaRPr/>
          </a:p>
          <a:p>
            <a:r>
              <a:t>Nguồn/căn cứ: Điều 6-8 Quy định 2500/QĐ-VTIT; trích xuất trang 10-11.</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Phân biệt dữ liệu được đăng tải và thời điểm trở thành căn cứ đánh giá.</a:t>
            </a:r>
          </a:p>
          <a:p>
            <a:endParaRPr/>
          </a:p>
          <a:p>
            <a:r>
              <a:t>Ý chính cần nói:</a:t>
            </a:r>
          </a:p>
          <a:p>
            <a:r>
              <a:t>- Nếu nội dung đăng tải trên Cổng khác bản được phê duyệt, Quy định 2500 nêu bản đăng tải là cơ sở lập/đánh giá A-HSDT trong trường hợp đó.</a:t>
            </a:r>
          </a:p>
          <a:p>
            <a:r>
              <a:t>- Đây là lý do phải kiểm tra phiên bản tải xuống, không chỉ quyết định nội bộ.</a:t>
            </a:r>
          </a:p>
          <a:p>
            <a:r>
              <a:t>- Liên hệ slide 21 về gia hạn đóng thầu.</a:t>
            </a:r>
          </a:p>
          <a:p>
            <a:endParaRPr/>
          </a:p>
          <a:p>
            <a:r>
              <a:t>Nguồn/căn cứ: Điều 12, 13, 16 Quy định 2500/QĐ-VTIT; trích xuất trang 13-14.</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Cho người học truy ngược căn cứ.</a:t>
            </a:r>
          </a:p>
          <a:p>
            <a:endParaRPr/>
          </a:p>
          <a:p>
            <a:r>
              <a:t>Ý chính cần nói:</a:t>
            </a:r>
          </a:p>
          <a:p>
            <a:r>
              <a:t>- Khi dựng PPT, mỗi slide pháp lý phải có footer nguồn ngắn.</a:t>
            </a:r>
          </a:p>
          <a:p>
            <a:r>
              <a:t>- Giữ cảnh báo rằng bản VBHN PDF là scan, cần xác minh điều khoản trong bản ký số/text.</a:t>
            </a:r>
          </a:p>
          <a:p>
            <a:endParaRPr/>
          </a:p>
          <a:p>
            <a:r>
              <a:t>Nguồn/căn cứ: Danh mục tài liệu do người dùng cung cấp; trang chính thức Chính phủ xác nhận VBHN 36/2026 ban hành ngày 23/09/2026. /</a:t>
            </a:r>
          </a:p>
          <a:p>
            <a:r>
              <a:t>Mức độ kiểm tra pháp lý: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Mục tiêu: Khép lại khóa học bằng nguyên tắc áp dụng.</a:t>
            </a:r>
          </a:p>
          <a:p>
            <a:endParaRPr/>
          </a:p>
          <a:p>
            <a:r>
              <a:t>Ý chính cần nói:</a:t>
            </a:r>
          </a:p>
          <a:p>
            <a:r>
              <a:t>- Nhắc lại câu hỏi xuyên suốt: gói thầu này thuộc hệ thống nào?</a:t>
            </a:r>
          </a:p>
          <a:p>
            <a:r>
              <a:t>- Yêu cầu học viên dùng checklist cuối khóa cho hồ sơ tiếp theo.</a:t>
            </a:r>
          </a:p>
          <a:p>
            <a:r>
              <a:t>- Cảm ơn học viên và dành thời gian cho phần hỏi đáp.</a:t>
            </a:r>
          </a:p>
          <a:p>
            <a:endParaRPr/>
          </a:p>
          <a:p>
            <a:r>
              <a:t>Nguồn/căn cứ: Tổng hợp khóa học và các tài liệu đã sử dụng.</a:t>
            </a:r>
          </a:p>
          <a:p>
            <a:r>
              <a:t>Mức độ kiểm tra pháp lý: --- ## Danh sách điểm pháp lý cần xác nhận trước khi dựng PowerPoint 1. VBHN 36/2026: bản PDF scan không có lớp text ổn định; cần xác nhận bản ký số/text để điền đúng số điều, khoản và các mốc thời gian của Luật/VBHN. 2. Phân loại gói Cần Thơ: HSMT gọi là dịch vụ phi tư vấn nhưng scope có tư vấn/đào tạo, kiểm nghiệm và đánh giá chứng nhận; cần xác nhận cách phân loại theo căn cứ hiện hành. 3. E-CDNT 10.8: yêu cầu BCTC, thuế, BHXH/BHYT và bản gốc/sao chứng thực cần được rà soát về tính cần thiết, khả năng trích xuất/xác minh và tính tương xứng. 4. E-CDNT 27.2: nhà thầu phụ 0% cần được đối chiếu với scope có nhiều hoạt động chuyên môn. 5. Mục 3 kỹ thuật: yêu cầu đồng thời giấy chứng nhận đăng ký hoạt động chứng nhận, thử nghiệm và ISO/IEC 17025:2017 cần xác minh căn cứ chuyên ngành và sự cần thiết. 6. Tiêu chí uy tín: các cam kết về lịch sử vi phạm, cấm thầu và Điều 19-20 Nghị định 214/2025 cần đối chiếu với văn bản hợp nhất mới. 7. Mua sắm trực tiếp: Luật ghi nhỏ hơn 130% và Viettel ghi không quá 150%; cần giữ khác biệt này trên slide, không chọn một ngưỡng chung. 8. Chào giá trực tuyến Viettel: cần xác minh đoạn OCR bị lỗi về “thời gian chào giá trực tuyến tối thiểu/tối đa”. 9. HSMT Viettel: cần xác định điều khoản A-BDL cụ thể cho hiệu lực A-HSDT, giá trị bảo đảm và thời gian chuẩn bị của gói 101. 10. Nhãn hiệu/xuất xứ: cần rà soát từng ngoại lệ, không suy rộng Điều 14 Quy chế sang các gói thuộc Luật. ## Danh sách mâu thuẫn/khác biệt phải hiển thị trong storyboard và PPT - Luật/VBHN và Quy chế Viettel có hệ thống phạm vi áp dụng khác nhau. - Mua sắm trực tiếp: dưới 130% theo Luật và không quá 150% theo trích xuất Quy chế. - Luật dùng Hệ thống mạng đấu thầu quốc gia; Viettel dùng Cổng đấu thầu Viettel. - HSMT Cần Thơ dùng tiêu chí kỹ thuật đạt/không đạt; HSMT 101 dùng chỉ tiêu M/O. - HSMT 101 cho phép bổ sung/thay thế nhân sự, thiết bị một lần; HSMT Cần Thơ chưa thể hiện cùng cơ chế chi tiết. - HSMT Cần Thơ ghi nhiều yêu cầu tài liệu phải nộp cùng E-HSDT; phạm vi tự động trích xuất/xác minh cần rà soát. - HSMT Cần Thơ không cho nhà thầu phụ; scope có nhiều đầu ra chuyên môn cần đánh giá tính phù hợp. - Quy chế Viettel cho phép nêu nhãn hiệu/xuất xứ trong HSMCG theo điều kiện nội bộ; Luật có giới hạn riêng. ## Tự kiểm tra storyboard theo prompt - [x] Có bản đồ pháp lý và decision tree. - [x] Có hình thức và phương thức lựa chọn nhà thầu. - [x] Có timeline Luật, timeline Viettel và master timeline. - [x] Có phân tích HSMT theo Luật: E-BDL, Mục 3 kỹ thuật, Chương V. - [x] Có phân tích HSMT Viettel 101. - [x] Có so sánh hai HSMT. - [x] Có nhãn hiệu/xuất xứ và red flag cạnh tranh. - [x] Có làm rõ HSMT, làm rõ HSDT, sửa lỗi, hiệu chỉnh, thương thảo. - [x] Có bảng 20 tình huống được/không được làm rõ. - [x] Có mua sắm trực tiếp, chỉ định thầu, chào giá trực tuyến. - [x] Có 8 case study. - [x] Có 03 checklist. - [x] Các nội dung chưa đủ căn cứ được đánh dấu hoặc , không kết luận thay người dùng. - [x] Dừng tại Giai đoạn 1, chưa tạo PowerPoint.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srcRect t="68000"/>
          <a:stretch/>
        </p:blipFill>
        <p:spPr>
          <a:xfrm>
            <a:off x="0" y="4000500"/>
            <a:ext cx="12192000" cy="2857500"/>
          </a:xfrm>
          <a:prstGeom prst="rect">
            <a:avLst/>
          </a:prstGeom>
        </p:spPr>
      </p:pic>
      <p:sp>
        <p:nvSpPr>
          <p:cNvPr id="2" name="Rectangle 1">
            <a:extLst>
              <a:ext uri="{FF2B5EF4-FFF2-40B4-BE49-F238E27FC236}">
                <a16:creationId xmlns:a16="http://schemas.microsoft.com/office/drawing/2014/main" id="{0ED49850-38EF-4DD9-9584-256CB8E285EB}"/>
              </a:ext>
            </a:extLst>
          </p:cNvPr>
          <p:cNvSpPr>
            <a:spLocks noGrp="1"/>
          </p:cNvSpPr>
          <p:nvPr/>
        </p:nvSpPr>
        <p:spPr>
          <a:xfrm>
            <a:off x="1095375" y="1000125"/>
            <a:ext cx="10001250" cy="2667000"/>
          </a:xfrm>
          <a:prstGeom prst="rect">
            <a:avLst/>
          </a:prstGeom>
          <a:solidFill>
            <a:srgbClr val="FFFFFF"/>
          </a:solidFill>
          <a:ln w="19050">
            <a:solidFill>
              <a:srgbClr val="E6002D"/>
            </a:solidFill>
            <a:prstDash val="solid"/>
          </a:ln>
        </p:spPr>
        <p:txBody>
          <a:bodyPr/>
          <a:lstStyle/>
          <a:p>
            <a:endParaRPr lang="vi-VN"/>
          </a:p>
        </p:txBody>
      </p:sp>
      <p:sp>
        <p:nvSpPr>
          <p:cNvPr id="3" name="Rectangle 2">
            <a:extLst>
              <a:ext uri="{FF2B5EF4-FFF2-40B4-BE49-F238E27FC236}">
                <a16:creationId xmlns:a16="http://schemas.microsoft.com/office/drawing/2014/main" id="{A851EFD9-BB7D-4F3A-B37D-6E1D556616FB}"/>
              </a:ext>
            </a:extLst>
          </p:cNvPr>
          <p:cNvSpPr>
            <a:spLocks noGrp="1"/>
          </p:cNvSpPr>
          <p:nvPr/>
        </p:nvSpPr>
        <p:spPr>
          <a:xfrm>
            <a:off x="1666875" y="1352549"/>
            <a:ext cx="8858250" cy="1597479"/>
          </a:xfrm>
          <a:prstGeom prst="rect">
            <a:avLst/>
          </a:prstGeom>
          <a:noFill/>
          <a:ln w="0">
            <a:noFill/>
          </a:ln>
        </p:spPr>
        <p:txBody>
          <a:bodyPr anchor="ctr">
            <a:noAutofit/>
          </a:bodyPr>
          <a:lstStyle/>
          <a:p>
            <a:pPr algn="ctr">
              <a:defRPr sz="3225" b="1" i="0">
                <a:solidFill>
                  <a:srgbClr val="E6002D"/>
                </a:solidFill>
                <a:latin typeface="Arial"/>
                <a:ea typeface="Arial"/>
                <a:cs typeface="Arial"/>
              </a:defRPr>
            </a:pPr>
            <a:r>
              <a:rPr sz="3225" b="1" i="0" dirty="0">
                <a:solidFill>
                  <a:srgbClr val="E6002D"/>
                </a:solidFill>
                <a:latin typeface="Arial"/>
                <a:ea typeface="Arial"/>
                <a:cs typeface="Arial"/>
              </a:rPr>
              <a:t>PHÁP LUẬT VỀ LỰA CHỌN NHÀ THẦU</a:t>
            </a:r>
            <a:endParaRPr lang="en-US" sz="3225" b="1" i="0" dirty="0">
              <a:solidFill>
                <a:srgbClr val="E6002D"/>
              </a:solidFill>
              <a:latin typeface="Arial"/>
              <a:ea typeface="Arial"/>
              <a:cs typeface="Arial"/>
            </a:endParaRPr>
          </a:p>
          <a:p>
            <a:pPr algn="ctr">
              <a:defRPr sz="3225" b="1" i="0">
                <a:solidFill>
                  <a:srgbClr val="E6002D"/>
                </a:solidFill>
                <a:latin typeface="Arial"/>
                <a:ea typeface="Arial"/>
                <a:cs typeface="Arial"/>
              </a:defRPr>
            </a:pPr>
            <a:r>
              <a:rPr lang="en-US" sz="3225" b="1" dirty="0">
                <a:solidFill>
                  <a:srgbClr val="E6002D"/>
                </a:solidFill>
                <a:latin typeface="Arial"/>
                <a:ea typeface="Arial"/>
                <a:cs typeface="Arial"/>
              </a:rPr>
              <a:t>HƯỚNG DẪN NỘP HỒ SƠ THẦU</a:t>
            </a:r>
            <a:endParaRPr sz="3225" b="1" i="0" dirty="0">
              <a:solidFill>
                <a:srgbClr val="E6002D"/>
              </a:solidFill>
              <a:latin typeface="Arial"/>
              <a:ea typeface="Arial"/>
              <a:cs typeface="Arial"/>
            </a:endParaRPr>
          </a:p>
        </p:txBody>
      </p:sp>
    </p:spTree>
    <p:extLst>
      <p:ext uri="{BB962C8B-B14F-4D97-AF65-F5344CB8AC3E}">
        <p14:creationId xmlns:p14="http://schemas.microsoft.com/office/powerpoint/2010/main" val="4027260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98F85BC-781C-4061-B326-7DF1CD00EFFF}"/>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MỤC TIÊU KHÓA HỌC</a:t>
            </a:r>
          </a:p>
        </p:txBody>
      </p:sp>
      <p:sp>
        <p:nvSpPr>
          <p:cNvPr id="3" name="Rectangle 2">
            <a:extLst>
              <a:ext uri="{FF2B5EF4-FFF2-40B4-BE49-F238E27FC236}">
                <a16:creationId xmlns:a16="http://schemas.microsoft.com/office/drawing/2014/main" id="{C866E65F-AE27-4034-A93F-35F934AFEE8C}"/>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lang="en-US" sz="1725" dirty="0" err="1">
                <a:solidFill>
                  <a:srgbClr val="1B1B1B"/>
                </a:solidFill>
                <a:latin typeface="Arial"/>
                <a:ea typeface="Arial"/>
                <a:cs typeface="Arial"/>
              </a:rPr>
              <a:t>Nắm</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được</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cơ</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bản</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về</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Luật</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đấu</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thầu</a:t>
            </a:r>
            <a:r>
              <a:rPr lang="en-US" sz="1725" dirty="0">
                <a:solidFill>
                  <a:srgbClr val="1B1B1B"/>
                </a:solidFill>
                <a:latin typeface="Arial"/>
                <a:ea typeface="Arial"/>
                <a:cs typeface="Arial"/>
              </a:rPr>
              <a:t>.</a:t>
            </a:r>
          </a:p>
          <a:p>
            <a:pPr marL="279400" indent="-127000">
              <a:spcAft>
                <a:spcPts val="1200"/>
              </a:spcAft>
              <a:buChar char="•"/>
              <a:defRPr sz="1725">
                <a:solidFill>
                  <a:srgbClr val="1B1B1B"/>
                </a:solidFill>
                <a:latin typeface="Arial"/>
                <a:ea typeface="Arial"/>
                <a:cs typeface="Arial"/>
              </a:defRPr>
            </a:pPr>
            <a:r>
              <a:rPr sz="1725" dirty="0" err="1">
                <a:solidFill>
                  <a:srgbClr val="1B1B1B"/>
                </a:solidFill>
                <a:latin typeface="Arial"/>
                <a:ea typeface="Arial"/>
                <a:cs typeface="Arial"/>
              </a:rPr>
              <a:t>Xác</a:t>
            </a:r>
            <a:r>
              <a:rPr sz="1725" dirty="0">
                <a:solidFill>
                  <a:srgbClr val="1B1B1B"/>
                </a:solidFill>
                <a:latin typeface="Arial"/>
                <a:ea typeface="Arial"/>
                <a:cs typeface="Arial"/>
              </a:rPr>
              <a:t> </a:t>
            </a:r>
            <a:r>
              <a:rPr sz="1725" dirty="0" err="1">
                <a:solidFill>
                  <a:srgbClr val="1B1B1B"/>
                </a:solidFill>
                <a:latin typeface="Arial"/>
                <a:ea typeface="Arial"/>
                <a:cs typeface="Arial"/>
              </a:rPr>
              <a:t>định</a:t>
            </a:r>
            <a:r>
              <a:rPr sz="1725" dirty="0">
                <a:solidFill>
                  <a:srgbClr val="1B1B1B"/>
                </a:solidFill>
                <a:latin typeface="Arial"/>
                <a:ea typeface="Arial"/>
                <a:cs typeface="Arial"/>
              </a:rPr>
              <a:t> </a:t>
            </a:r>
            <a:r>
              <a:rPr sz="1725" dirty="0" err="1">
                <a:solidFill>
                  <a:srgbClr val="1B1B1B"/>
                </a:solidFill>
                <a:latin typeface="Arial"/>
                <a:ea typeface="Arial"/>
                <a:cs typeface="Arial"/>
              </a:rPr>
              <a:t>gói</a:t>
            </a:r>
            <a:r>
              <a:rPr sz="1725" dirty="0">
                <a:solidFill>
                  <a:srgbClr val="1B1B1B"/>
                </a:solidFill>
                <a:latin typeface="Arial"/>
                <a:ea typeface="Arial"/>
                <a:cs typeface="Arial"/>
              </a:rPr>
              <a:t> </a:t>
            </a:r>
            <a:r>
              <a:rPr sz="1725" dirty="0" err="1">
                <a:solidFill>
                  <a:srgbClr val="1B1B1B"/>
                </a:solidFill>
                <a:latin typeface="Arial"/>
                <a:ea typeface="Arial"/>
                <a:cs typeface="Arial"/>
              </a:rPr>
              <a:t>thầu</a:t>
            </a:r>
            <a:r>
              <a:rPr sz="1725" dirty="0">
                <a:solidFill>
                  <a:srgbClr val="1B1B1B"/>
                </a:solidFill>
                <a:latin typeface="Arial"/>
                <a:ea typeface="Arial"/>
                <a:cs typeface="Arial"/>
              </a:rPr>
              <a:t> </a:t>
            </a:r>
            <a:r>
              <a:rPr sz="1725" dirty="0" err="1">
                <a:solidFill>
                  <a:srgbClr val="1B1B1B"/>
                </a:solidFill>
                <a:latin typeface="Arial"/>
                <a:ea typeface="Arial"/>
                <a:cs typeface="Arial"/>
              </a:rPr>
              <a:t>thuộc</a:t>
            </a:r>
            <a:r>
              <a:rPr sz="1725" dirty="0">
                <a:solidFill>
                  <a:srgbClr val="1B1B1B"/>
                </a:solidFill>
                <a:latin typeface="Arial"/>
                <a:ea typeface="Arial"/>
                <a:cs typeface="Arial"/>
              </a:rPr>
              <a:t> </a:t>
            </a:r>
            <a:r>
              <a:rPr sz="1725" dirty="0" err="1">
                <a:solidFill>
                  <a:srgbClr val="1B1B1B"/>
                </a:solidFill>
                <a:latin typeface="Arial"/>
                <a:ea typeface="Arial"/>
                <a:cs typeface="Arial"/>
              </a:rPr>
              <a:t>Luật</a:t>
            </a:r>
            <a:r>
              <a:rPr sz="1725" dirty="0">
                <a:solidFill>
                  <a:srgbClr val="1B1B1B"/>
                </a:solidFill>
                <a:latin typeface="Arial"/>
                <a:ea typeface="Arial"/>
                <a:cs typeface="Arial"/>
              </a:rPr>
              <a:t> hay Quy </a:t>
            </a:r>
            <a:r>
              <a:rPr sz="1725" dirty="0" err="1">
                <a:solidFill>
                  <a:srgbClr val="1B1B1B"/>
                </a:solidFill>
                <a:latin typeface="Arial"/>
                <a:ea typeface="Arial"/>
                <a:cs typeface="Arial"/>
              </a:rPr>
              <a:t>chế</a:t>
            </a:r>
            <a:r>
              <a:rPr sz="1725" dirty="0">
                <a:solidFill>
                  <a:srgbClr val="1B1B1B"/>
                </a:solidFill>
                <a:latin typeface="Arial"/>
                <a:ea typeface="Arial"/>
                <a:cs typeface="Arial"/>
              </a:rPr>
              <a:t> Viettel.</a:t>
            </a:r>
          </a:p>
          <a:p>
            <a:pPr marL="279400" indent="-127000">
              <a:spcAft>
                <a:spcPts val="1200"/>
              </a:spcAft>
              <a:buChar char="•"/>
              <a:defRPr sz="1725">
                <a:solidFill>
                  <a:srgbClr val="1B1B1B"/>
                </a:solidFill>
                <a:latin typeface="Arial"/>
                <a:ea typeface="Arial"/>
                <a:cs typeface="Arial"/>
              </a:defRPr>
            </a:pPr>
            <a:r>
              <a:rPr sz="1725" dirty="0" err="1">
                <a:solidFill>
                  <a:srgbClr val="1B1B1B"/>
                </a:solidFill>
                <a:latin typeface="Arial"/>
                <a:ea typeface="Arial"/>
                <a:cs typeface="Arial"/>
              </a:rPr>
              <a:t>Chọn</a:t>
            </a:r>
            <a:r>
              <a:rPr sz="1725" dirty="0">
                <a:solidFill>
                  <a:srgbClr val="1B1B1B"/>
                </a:solidFill>
                <a:latin typeface="Arial"/>
                <a:ea typeface="Arial"/>
                <a:cs typeface="Arial"/>
              </a:rPr>
              <a:t> </a:t>
            </a:r>
            <a:r>
              <a:rPr sz="1725" dirty="0" err="1">
                <a:solidFill>
                  <a:srgbClr val="1B1B1B"/>
                </a:solidFill>
                <a:latin typeface="Arial"/>
                <a:ea typeface="Arial"/>
                <a:cs typeface="Arial"/>
              </a:rPr>
              <a:t>đúng</a:t>
            </a:r>
            <a:r>
              <a:rPr sz="1725" dirty="0">
                <a:solidFill>
                  <a:srgbClr val="1B1B1B"/>
                </a:solidFill>
                <a:latin typeface="Arial"/>
                <a:ea typeface="Arial"/>
                <a:cs typeface="Arial"/>
              </a:rPr>
              <a:t> </a:t>
            </a:r>
            <a:r>
              <a:rPr sz="1725" dirty="0" err="1">
                <a:solidFill>
                  <a:srgbClr val="1B1B1B"/>
                </a:solidFill>
                <a:latin typeface="Arial"/>
                <a:ea typeface="Arial"/>
                <a:cs typeface="Arial"/>
              </a:rPr>
              <a:t>hình</a:t>
            </a:r>
            <a:r>
              <a:rPr sz="1725" dirty="0">
                <a:solidFill>
                  <a:srgbClr val="1B1B1B"/>
                </a:solidFill>
                <a:latin typeface="Arial"/>
                <a:ea typeface="Arial"/>
                <a:cs typeface="Arial"/>
              </a:rPr>
              <a:t> </a:t>
            </a:r>
            <a:r>
              <a:rPr sz="1725" dirty="0" err="1">
                <a:solidFill>
                  <a:srgbClr val="1B1B1B"/>
                </a:solidFill>
                <a:latin typeface="Arial"/>
                <a:ea typeface="Arial"/>
                <a:cs typeface="Arial"/>
              </a:rPr>
              <a:t>thức</a:t>
            </a:r>
            <a:r>
              <a:rPr sz="1725" dirty="0">
                <a:solidFill>
                  <a:srgbClr val="1B1B1B"/>
                </a:solidFill>
                <a:latin typeface="Arial"/>
                <a:ea typeface="Arial"/>
                <a:cs typeface="Arial"/>
              </a:rPr>
              <a:t>, </a:t>
            </a:r>
            <a:r>
              <a:rPr sz="1725" dirty="0" err="1">
                <a:solidFill>
                  <a:srgbClr val="1B1B1B"/>
                </a:solidFill>
                <a:latin typeface="Arial"/>
                <a:ea typeface="Arial"/>
                <a:cs typeface="Arial"/>
              </a:rPr>
              <a:t>phương</a:t>
            </a:r>
            <a:r>
              <a:rPr sz="1725" dirty="0">
                <a:solidFill>
                  <a:srgbClr val="1B1B1B"/>
                </a:solidFill>
                <a:latin typeface="Arial"/>
                <a:ea typeface="Arial"/>
                <a:cs typeface="Arial"/>
              </a:rPr>
              <a:t> </a:t>
            </a:r>
            <a:r>
              <a:rPr sz="1725" dirty="0" err="1">
                <a:solidFill>
                  <a:srgbClr val="1B1B1B"/>
                </a:solidFill>
                <a:latin typeface="Arial"/>
                <a:ea typeface="Arial"/>
                <a:cs typeface="Arial"/>
              </a:rPr>
              <a:t>thức</a:t>
            </a:r>
            <a:r>
              <a:rPr sz="1725" dirty="0">
                <a:solidFill>
                  <a:srgbClr val="1B1B1B"/>
                </a:solidFill>
                <a:latin typeface="Arial"/>
                <a:ea typeface="Arial"/>
                <a:cs typeface="Arial"/>
              </a:rPr>
              <a:t> </a:t>
            </a:r>
            <a:r>
              <a:rPr sz="1725" dirty="0" err="1">
                <a:solidFill>
                  <a:srgbClr val="1B1B1B"/>
                </a:solidFill>
                <a:latin typeface="Arial"/>
                <a:ea typeface="Arial"/>
                <a:cs typeface="Arial"/>
              </a:rPr>
              <a:t>và</a:t>
            </a:r>
            <a:r>
              <a:rPr sz="1725" dirty="0">
                <a:solidFill>
                  <a:srgbClr val="1B1B1B"/>
                </a:solidFill>
                <a:latin typeface="Arial"/>
                <a:ea typeface="Arial"/>
                <a:cs typeface="Arial"/>
              </a:rPr>
              <a:t> timeline.</a:t>
            </a:r>
          </a:p>
          <a:p>
            <a:pPr marL="279400" indent="-127000">
              <a:spcAft>
                <a:spcPts val="1200"/>
              </a:spcAft>
              <a:buChar char="•"/>
              <a:defRPr sz="1725">
                <a:solidFill>
                  <a:srgbClr val="1B1B1B"/>
                </a:solidFill>
                <a:latin typeface="Arial"/>
                <a:ea typeface="Arial"/>
                <a:cs typeface="Arial"/>
              </a:defRPr>
            </a:pPr>
            <a:r>
              <a:rPr sz="1725" dirty="0" err="1">
                <a:solidFill>
                  <a:srgbClr val="1B1B1B"/>
                </a:solidFill>
                <a:latin typeface="Arial"/>
                <a:ea typeface="Arial"/>
                <a:cs typeface="Arial"/>
              </a:rPr>
              <a:t>Đọc</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hiểu</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nhanh</a:t>
            </a:r>
            <a:r>
              <a:rPr sz="1725" dirty="0">
                <a:solidFill>
                  <a:srgbClr val="1B1B1B"/>
                </a:solidFill>
                <a:latin typeface="Arial"/>
                <a:ea typeface="Arial"/>
                <a:cs typeface="Arial"/>
              </a:rPr>
              <a:t> HSMT, </a:t>
            </a:r>
            <a:r>
              <a:rPr sz="1725" dirty="0" err="1">
                <a:solidFill>
                  <a:srgbClr val="1B1B1B"/>
                </a:solidFill>
                <a:latin typeface="Arial"/>
                <a:ea typeface="Arial"/>
                <a:cs typeface="Arial"/>
              </a:rPr>
              <a:t>lập</a:t>
            </a:r>
            <a:r>
              <a:rPr sz="1725" dirty="0">
                <a:solidFill>
                  <a:srgbClr val="1B1B1B"/>
                </a:solidFill>
                <a:latin typeface="Arial"/>
                <a:ea typeface="Arial"/>
                <a:cs typeface="Arial"/>
              </a:rPr>
              <a:t> HSDT, </a:t>
            </a:r>
            <a:r>
              <a:rPr sz="1725" dirty="0" err="1">
                <a:solidFill>
                  <a:srgbClr val="1B1B1B"/>
                </a:solidFill>
                <a:latin typeface="Arial"/>
                <a:ea typeface="Arial"/>
                <a:cs typeface="Arial"/>
              </a:rPr>
              <a:t>xử</a:t>
            </a:r>
            <a:r>
              <a:rPr sz="1725" dirty="0">
                <a:solidFill>
                  <a:srgbClr val="1B1B1B"/>
                </a:solidFill>
                <a:latin typeface="Arial"/>
                <a:ea typeface="Arial"/>
                <a:cs typeface="Arial"/>
              </a:rPr>
              <a:t> </a:t>
            </a:r>
            <a:r>
              <a:rPr sz="1725" dirty="0" err="1">
                <a:solidFill>
                  <a:srgbClr val="1B1B1B"/>
                </a:solidFill>
                <a:latin typeface="Arial"/>
                <a:ea typeface="Arial"/>
                <a:cs typeface="Arial"/>
              </a:rPr>
              <a:t>lý</a:t>
            </a:r>
            <a:r>
              <a:rPr sz="1725" dirty="0">
                <a:solidFill>
                  <a:srgbClr val="1B1B1B"/>
                </a:solidFill>
                <a:latin typeface="Arial"/>
                <a:ea typeface="Arial"/>
                <a:cs typeface="Arial"/>
              </a:rPr>
              <a:t> </a:t>
            </a:r>
            <a:r>
              <a:rPr sz="1725" dirty="0" err="1">
                <a:solidFill>
                  <a:srgbClr val="1B1B1B"/>
                </a:solidFill>
                <a:latin typeface="Arial"/>
                <a:ea typeface="Arial"/>
                <a:cs typeface="Arial"/>
              </a:rPr>
              <a:t>làm</a:t>
            </a:r>
            <a:r>
              <a:rPr sz="1725" dirty="0">
                <a:solidFill>
                  <a:srgbClr val="1B1B1B"/>
                </a:solidFill>
                <a:latin typeface="Arial"/>
                <a:ea typeface="Arial"/>
                <a:cs typeface="Arial"/>
              </a:rPr>
              <a:t> </a:t>
            </a:r>
            <a:r>
              <a:rPr sz="1725" dirty="0" err="1">
                <a:solidFill>
                  <a:srgbClr val="1B1B1B"/>
                </a:solidFill>
                <a:latin typeface="Arial"/>
                <a:ea typeface="Arial"/>
                <a:cs typeface="Arial"/>
              </a:rPr>
              <a:t>rõ</a:t>
            </a:r>
            <a:r>
              <a:rPr lang="en-US" sz="1725" dirty="0">
                <a:solidFill>
                  <a:srgbClr val="1B1B1B"/>
                </a:solidFill>
                <a:latin typeface="Arial"/>
                <a:ea typeface="Arial"/>
                <a:cs typeface="Arial"/>
              </a:rPr>
              <a:t>.</a:t>
            </a:r>
          </a:p>
          <a:p>
            <a:pPr marL="279400" indent="-127000">
              <a:spcAft>
                <a:spcPts val="1200"/>
              </a:spcAft>
              <a:buChar char="•"/>
              <a:defRPr sz="1725">
                <a:solidFill>
                  <a:srgbClr val="1B1B1B"/>
                </a:solidFill>
                <a:latin typeface="Arial"/>
                <a:ea typeface="Arial"/>
                <a:cs typeface="Arial"/>
              </a:defRPr>
            </a:pPr>
            <a:r>
              <a:rPr lang="en-US" sz="1725" dirty="0" err="1">
                <a:solidFill>
                  <a:srgbClr val="1B1B1B"/>
                </a:solidFill>
                <a:latin typeface="Arial"/>
                <a:ea typeface="Arial"/>
                <a:cs typeface="Arial"/>
              </a:rPr>
              <a:t>Nắm</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được</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thao</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tác</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nộp</a:t>
            </a:r>
            <a:r>
              <a:rPr lang="en-US" sz="1725" dirty="0">
                <a:solidFill>
                  <a:srgbClr val="1B1B1B"/>
                </a:solidFill>
                <a:latin typeface="Arial"/>
                <a:ea typeface="Arial"/>
                <a:cs typeface="Arial"/>
              </a:rPr>
              <a:t> HSDT </a:t>
            </a:r>
            <a:r>
              <a:rPr lang="en-US" sz="1725" dirty="0" err="1">
                <a:solidFill>
                  <a:srgbClr val="1B1B1B"/>
                </a:solidFill>
                <a:latin typeface="Arial"/>
                <a:ea typeface="Arial"/>
                <a:cs typeface="Arial"/>
              </a:rPr>
              <a:t>trên</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Cổng</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đấu</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thầu</a:t>
            </a:r>
            <a:r>
              <a:rPr lang="en-US" sz="1725" dirty="0">
                <a:solidFill>
                  <a:srgbClr val="1B1B1B"/>
                </a:solidFill>
                <a:latin typeface="Arial"/>
                <a:ea typeface="Arial"/>
                <a:cs typeface="Arial"/>
              </a:rPr>
              <a:t> Viettel </a:t>
            </a:r>
            <a:r>
              <a:rPr lang="en-US" sz="1725" dirty="0" err="1">
                <a:solidFill>
                  <a:srgbClr val="1B1B1B"/>
                </a:solidFill>
                <a:latin typeface="Arial"/>
                <a:ea typeface="Arial"/>
                <a:cs typeface="Arial"/>
              </a:rPr>
              <a:t>và</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Cổng</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đấu</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thầu</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quốc</a:t>
            </a:r>
            <a:r>
              <a:rPr lang="en-US" sz="1725" dirty="0">
                <a:solidFill>
                  <a:srgbClr val="1B1B1B"/>
                </a:solidFill>
                <a:latin typeface="Arial"/>
                <a:ea typeface="Arial"/>
                <a:cs typeface="Arial"/>
              </a:rPr>
              <a:t> </a:t>
            </a:r>
            <a:r>
              <a:rPr lang="en-US" sz="1725" dirty="0" err="1">
                <a:solidFill>
                  <a:srgbClr val="1B1B1B"/>
                </a:solidFill>
                <a:latin typeface="Arial"/>
                <a:ea typeface="Arial"/>
                <a:cs typeface="Arial"/>
              </a:rPr>
              <a:t>gia</a:t>
            </a:r>
            <a:r>
              <a:rPr lang="en-US" sz="1725" dirty="0">
                <a:solidFill>
                  <a:srgbClr val="1B1B1B"/>
                </a:solidFill>
                <a:latin typeface="Arial"/>
                <a:ea typeface="Arial"/>
                <a:cs typeface="Arial"/>
              </a:rPr>
              <a:t>.</a:t>
            </a:r>
            <a:endParaRPr sz="1725" dirty="0">
              <a:solidFill>
                <a:srgbClr val="1B1B1B"/>
              </a:solidFill>
              <a:latin typeface="Arial"/>
              <a:ea typeface="Arial"/>
              <a:cs typeface="Arial"/>
            </a:endParaRPr>
          </a:p>
        </p:txBody>
      </p:sp>
      <p:sp>
        <p:nvSpPr>
          <p:cNvPr id="4" name="Rectangle 3">
            <a:extLst>
              <a:ext uri="{FF2B5EF4-FFF2-40B4-BE49-F238E27FC236}">
                <a16:creationId xmlns:a16="http://schemas.microsoft.com/office/drawing/2014/main" id="{84139AC2-BFCF-4F0D-AC59-A0A9896A8410}"/>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6A2FE7F0-770F-4C78-9493-6BAF6E6BB0E7}"/>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9AA907F8-62DA-418A-B0B1-C32FC5EAA90C}"/>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dirty="0" err="1">
                <a:solidFill>
                  <a:srgbClr val="1B1B1B"/>
                </a:solidFill>
                <a:latin typeface="Arial"/>
                <a:ea typeface="Arial"/>
                <a:cs typeface="Arial"/>
              </a:rPr>
              <a:t>Xác</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định</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gói</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thầu</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thuộc</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Luật</a:t>
            </a:r>
            <a:r>
              <a:rPr sz="1350" b="1" i="0" dirty="0">
                <a:solidFill>
                  <a:srgbClr val="1B1B1B"/>
                </a:solidFill>
                <a:latin typeface="Arial"/>
                <a:ea typeface="Arial"/>
                <a:cs typeface="Arial"/>
              </a:rPr>
              <a:t> hay Quy </a:t>
            </a:r>
            <a:r>
              <a:rPr sz="1350" b="1" i="0" dirty="0" err="1">
                <a:solidFill>
                  <a:srgbClr val="1B1B1B"/>
                </a:solidFill>
                <a:latin typeface="Arial"/>
                <a:ea typeface="Arial"/>
                <a:cs typeface="Arial"/>
              </a:rPr>
              <a:t>chế</a:t>
            </a:r>
            <a:r>
              <a:rPr sz="1350" b="1" i="0" dirty="0">
                <a:solidFill>
                  <a:srgbClr val="1B1B1B"/>
                </a:solidFill>
                <a:latin typeface="Arial"/>
                <a:ea typeface="Arial"/>
                <a:cs typeface="Arial"/>
              </a:rPr>
              <a:t> Viettel.</a:t>
            </a:r>
          </a:p>
        </p:txBody>
      </p:sp>
      <p:sp>
        <p:nvSpPr>
          <p:cNvPr id="7" name="Rectangle 6">
            <a:extLst>
              <a:ext uri="{FF2B5EF4-FFF2-40B4-BE49-F238E27FC236}">
                <a16:creationId xmlns:a16="http://schemas.microsoft.com/office/drawing/2014/main" id="{FF71E61A-05C2-4B0B-AD3B-96F65FF54866}"/>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B4195148-F47D-4379-96CF-617DC20DDF72}"/>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dirty="0" err="1">
                <a:solidFill>
                  <a:srgbClr val="1B1B1B"/>
                </a:solidFill>
                <a:latin typeface="Arial"/>
                <a:ea typeface="Arial"/>
                <a:cs typeface="Arial"/>
              </a:rPr>
              <a:t>Chọn</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đúng</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hình</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thức</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phương</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thức</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và</a:t>
            </a:r>
            <a:r>
              <a:rPr sz="1350" b="1" i="0" dirty="0">
                <a:solidFill>
                  <a:srgbClr val="1B1B1B"/>
                </a:solidFill>
                <a:latin typeface="Arial"/>
                <a:ea typeface="Arial"/>
                <a:cs typeface="Arial"/>
              </a:rPr>
              <a:t> timeline.</a:t>
            </a:r>
          </a:p>
        </p:txBody>
      </p:sp>
      <p:sp>
        <p:nvSpPr>
          <p:cNvPr id="9" name="Rectangle 8">
            <a:extLst>
              <a:ext uri="{FF2B5EF4-FFF2-40B4-BE49-F238E27FC236}">
                <a16:creationId xmlns:a16="http://schemas.microsoft.com/office/drawing/2014/main" id="{890E7FE4-80B1-47A5-8A5C-F6DD6A623CD9}"/>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DE01C528-2CEF-425D-9658-E10F56D03279}"/>
              </a:ext>
            </a:extLst>
          </p:cNvPr>
          <p:cNvSpPr>
            <a:spLocks noGrp="1"/>
          </p:cNvSpPr>
          <p:nvPr/>
        </p:nvSpPr>
        <p:spPr>
          <a:xfrm>
            <a:off x="8343900" y="41560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dirty="0" err="1">
                <a:solidFill>
                  <a:srgbClr val="1B1B1B"/>
                </a:solidFill>
                <a:latin typeface="Arial"/>
                <a:ea typeface="Arial"/>
                <a:cs typeface="Arial"/>
              </a:rPr>
              <a:t>Đọc</a:t>
            </a:r>
            <a:r>
              <a:rPr sz="1350" b="1" i="0" dirty="0">
                <a:solidFill>
                  <a:srgbClr val="1B1B1B"/>
                </a:solidFill>
                <a:latin typeface="Arial"/>
                <a:ea typeface="Arial"/>
                <a:cs typeface="Arial"/>
              </a:rPr>
              <a:t> HSMT, </a:t>
            </a:r>
            <a:r>
              <a:rPr sz="1350" b="1" i="0" dirty="0" err="1">
                <a:solidFill>
                  <a:srgbClr val="1B1B1B"/>
                </a:solidFill>
                <a:latin typeface="Arial"/>
                <a:ea typeface="Arial"/>
                <a:cs typeface="Arial"/>
              </a:rPr>
              <a:t>lập</a:t>
            </a:r>
            <a:r>
              <a:rPr sz="1350" b="1" i="0" dirty="0">
                <a:solidFill>
                  <a:srgbClr val="1B1B1B"/>
                </a:solidFill>
                <a:latin typeface="Arial"/>
                <a:ea typeface="Arial"/>
                <a:cs typeface="Arial"/>
              </a:rPr>
              <a:t> HSDT, </a:t>
            </a:r>
            <a:r>
              <a:rPr sz="1350" b="1" i="0" dirty="0" err="1">
                <a:solidFill>
                  <a:srgbClr val="1B1B1B"/>
                </a:solidFill>
                <a:latin typeface="Arial"/>
                <a:ea typeface="Arial"/>
                <a:cs typeface="Arial"/>
              </a:rPr>
              <a:t>xử</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lý</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làm</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rõ</a:t>
            </a:r>
            <a:endParaRPr sz="1350" b="1" i="0" dirty="0">
              <a:solidFill>
                <a:srgbClr val="1B1B1B"/>
              </a:solidFill>
              <a:latin typeface="Arial"/>
              <a:ea typeface="Arial"/>
              <a:cs typeface="Arial"/>
            </a:endParaRPr>
          </a:p>
        </p:txBody>
      </p:sp>
      <p:sp>
        <p:nvSpPr>
          <p:cNvPr id="11" name="Rectangle 10">
            <a:extLst>
              <a:ext uri="{FF2B5EF4-FFF2-40B4-BE49-F238E27FC236}">
                <a16:creationId xmlns:a16="http://schemas.microsoft.com/office/drawing/2014/main" id="{4FC3761A-472F-4A01-A9BD-5891A67EAC62}"/>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740E420F-6546-46ED-9467-571E5B350B58}"/>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A902F0CE-6F9F-401B-813A-86EB75E9632A}"/>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a:t>
            </a:r>
          </a:p>
        </p:txBody>
      </p:sp>
      <p:sp>
        <p:nvSpPr>
          <p:cNvPr id="14" name="Rectangle 13">
            <a:extLst>
              <a:ext uri="{FF2B5EF4-FFF2-40B4-BE49-F238E27FC236}">
                <a16:creationId xmlns:a16="http://schemas.microsoft.com/office/drawing/2014/main" id="{0C51B9EB-6389-4974-BBF6-54ED20E030C4}"/>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Tree>
    <p:extLst>
      <p:ext uri="{BB962C8B-B14F-4D97-AF65-F5344CB8AC3E}">
        <p14:creationId xmlns:p14="http://schemas.microsoft.com/office/powerpoint/2010/main" val="346779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984B7D8-9067-4AB8-9CE1-1FA8387C4A6F}"/>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PHẠM VI ĐIỀU CHỈNH CỦA LUẬT ĐẤU THẦU</a:t>
            </a:r>
          </a:p>
        </p:txBody>
      </p:sp>
      <p:sp>
        <p:nvSpPr>
          <p:cNvPr id="2" name="Rectangle 1">
            <a:extLst>
              <a:ext uri="{FF2B5EF4-FFF2-40B4-BE49-F238E27FC236}">
                <a16:creationId xmlns:a16="http://schemas.microsoft.com/office/drawing/2014/main" id="{8E3E5FC3-238C-4374-AB10-695B28B957E6}"/>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dirty="0" err="1">
                <a:solidFill>
                  <a:srgbClr val="63666A"/>
                </a:solidFill>
                <a:latin typeface="Arial"/>
                <a:ea typeface="Arial"/>
                <a:cs typeface="Arial"/>
              </a:rPr>
              <a:t>Nhận</a:t>
            </a:r>
            <a:r>
              <a:rPr sz="1575" b="0" i="1" dirty="0">
                <a:solidFill>
                  <a:srgbClr val="63666A"/>
                </a:solidFill>
                <a:latin typeface="Arial"/>
                <a:ea typeface="Arial"/>
                <a:cs typeface="Arial"/>
              </a:rPr>
              <a:t> </a:t>
            </a:r>
            <a:r>
              <a:rPr sz="1575" b="0" i="1" dirty="0" err="1">
                <a:solidFill>
                  <a:srgbClr val="63666A"/>
                </a:solidFill>
                <a:latin typeface="Arial"/>
                <a:ea typeface="Arial"/>
                <a:cs typeface="Arial"/>
              </a:rPr>
              <a:t>diện</a:t>
            </a:r>
            <a:r>
              <a:rPr sz="1575" b="0" i="1" dirty="0">
                <a:solidFill>
                  <a:srgbClr val="63666A"/>
                </a:solidFill>
                <a:latin typeface="Arial"/>
                <a:ea typeface="Arial"/>
                <a:cs typeface="Arial"/>
              </a:rPr>
              <a:t> </a:t>
            </a:r>
            <a:r>
              <a:rPr sz="1575" b="0" i="1" dirty="0" err="1">
                <a:solidFill>
                  <a:srgbClr val="63666A"/>
                </a:solidFill>
                <a:latin typeface="Arial"/>
                <a:ea typeface="Arial"/>
                <a:cs typeface="Arial"/>
              </a:rPr>
              <a:t>các</a:t>
            </a:r>
            <a:r>
              <a:rPr sz="1575" b="0" i="1" dirty="0">
                <a:solidFill>
                  <a:srgbClr val="63666A"/>
                </a:solidFill>
                <a:latin typeface="Arial"/>
                <a:ea typeface="Arial"/>
                <a:cs typeface="Arial"/>
              </a:rPr>
              <a:t> </a:t>
            </a:r>
            <a:r>
              <a:rPr sz="1575" b="0" i="1" dirty="0" err="1">
                <a:solidFill>
                  <a:srgbClr val="63666A"/>
                </a:solidFill>
                <a:latin typeface="Arial"/>
                <a:ea typeface="Arial"/>
                <a:cs typeface="Arial"/>
              </a:rPr>
              <a:t>hoạt</a:t>
            </a:r>
            <a:r>
              <a:rPr sz="1575" b="0" i="1" dirty="0">
                <a:solidFill>
                  <a:srgbClr val="63666A"/>
                </a:solidFill>
                <a:latin typeface="Arial"/>
                <a:ea typeface="Arial"/>
                <a:cs typeface="Arial"/>
              </a:rPr>
              <a:t> </a:t>
            </a:r>
            <a:r>
              <a:rPr sz="1575" b="0" i="1" dirty="0" err="1">
                <a:solidFill>
                  <a:srgbClr val="63666A"/>
                </a:solidFill>
                <a:latin typeface="Arial"/>
                <a:ea typeface="Arial"/>
                <a:cs typeface="Arial"/>
              </a:rPr>
              <a:t>động</a:t>
            </a:r>
            <a:r>
              <a:rPr sz="1575" b="0" i="1" dirty="0">
                <a:solidFill>
                  <a:srgbClr val="63666A"/>
                </a:solidFill>
                <a:latin typeface="Arial"/>
                <a:ea typeface="Arial"/>
                <a:cs typeface="Arial"/>
              </a:rPr>
              <a:t> </a:t>
            </a:r>
            <a:r>
              <a:rPr sz="1575" b="0" i="1" dirty="0" err="1">
                <a:solidFill>
                  <a:srgbClr val="63666A"/>
                </a:solidFill>
                <a:latin typeface="Arial"/>
                <a:ea typeface="Arial"/>
                <a:cs typeface="Arial"/>
              </a:rPr>
              <a:t>chịu</a:t>
            </a:r>
            <a:r>
              <a:rPr sz="1575" b="0" i="1" dirty="0">
                <a:solidFill>
                  <a:srgbClr val="63666A"/>
                </a:solidFill>
                <a:latin typeface="Arial"/>
                <a:ea typeface="Arial"/>
                <a:cs typeface="Arial"/>
              </a:rPr>
              <a:t> </a:t>
            </a:r>
            <a:r>
              <a:rPr sz="1575" b="0" i="1" dirty="0" err="1">
                <a:solidFill>
                  <a:srgbClr val="63666A"/>
                </a:solidFill>
                <a:latin typeface="Arial"/>
                <a:ea typeface="Arial"/>
                <a:cs typeface="Arial"/>
              </a:rPr>
              <a:t>Luật</a:t>
            </a:r>
            <a:r>
              <a:rPr sz="1575" b="0" i="1" dirty="0">
                <a:solidFill>
                  <a:srgbClr val="63666A"/>
                </a:solidFill>
                <a:latin typeface="Arial"/>
                <a:ea typeface="Arial"/>
                <a:cs typeface="Arial"/>
              </a:rPr>
              <a:t>.</a:t>
            </a:r>
          </a:p>
        </p:txBody>
      </p:sp>
      <p:sp>
        <p:nvSpPr>
          <p:cNvPr id="3" name="Rectangle 2">
            <a:extLst>
              <a:ext uri="{FF2B5EF4-FFF2-40B4-BE49-F238E27FC236}">
                <a16:creationId xmlns:a16="http://schemas.microsoft.com/office/drawing/2014/main" id="{A0FC1CC8-1FF5-4492-84C5-A54B53BC6903}"/>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dirty="0" err="1">
                <a:solidFill>
                  <a:srgbClr val="1B1B1B"/>
                </a:solidFill>
                <a:latin typeface="Arial"/>
                <a:ea typeface="Arial"/>
                <a:cs typeface="Arial"/>
              </a:rPr>
              <a:t>Dự</a:t>
            </a:r>
            <a:r>
              <a:rPr sz="1725" dirty="0">
                <a:solidFill>
                  <a:srgbClr val="1B1B1B"/>
                </a:solidFill>
                <a:latin typeface="Arial"/>
                <a:ea typeface="Arial"/>
                <a:cs typeface="Arial"/>
              </a:rPr>
              <a:t> </a:t>
            </a:r>
            <a:r>
              <a:rPr sz="1725" dirty="0" err="1">
                <a:solidFill>
                  <a:srgbClr val="1B1B1B"/>
                </a:solidFill>
                <a:latin typeface="Arial"/>
                <a:ea typeface="Arial"/>
                <a:cs typeface="Arial"/>
              </a:rPr>
              <a:t>án</a:t>
            </a:r>
            <a:r>
              <a:rPr sz="1725" dirty="0">
                <a:solidFill>
                  <a:srgbClr val="1B1B1B"/>
                </a:solidFill>
                <a:latin typeface="Arial"/>
                <a:ea typeface="Arial"/>
                <a:cs typeface="Arial"/>
              </a:rPr>
              <a:t>, </a:t>
            </a:r>
            <a:r>
              <a:rPr sz="1725" dirty="0" err="1">
                <a:solidFill>
                  <a:srgbClr val="1B1B1B"/>
                </a:solidFill>
                <a:latin typeface="Arial"/>
                <a:ea typeface="Arial"/>
                <a:cs typeface="Arial"/>
              </a:rPr>
              <a:t>dự</a:t>
            </a:r>
            <a:r>
              <a:rPr sz="1725" dirty="0">
                <a:solidFill>
                  <a:srgbClr val="1B1B1B"/>
                </a:solidFill>
                <a:latin typeface="Arial"/>
                <a:ea typeface="Arial"/>
                <a:cs typeface="Arial"/>
              </a:rPr>
              <a:t> </a:t>
            </a:r>
            <a:r>
              <a:rPr sz="1725" dirty="0" err="1">
                <a:solidFill>
                  <a:srgbClr val="1B1B1B"/>
                </a:solidFill>
                <a:latin typeface="Arial"/>
                <a:ea typeface="Arial"/>
                <a:cs typeface="Arial"/>
              </a:rPr>
              <a:t>toán</a:t>
            </a:r>
            <a:r>
              <a:rPr sz="1725" dirty="0">
                <a:solidFill>
                  <a:srgbClr val="1B1B1B"/>
                </a:solidFill>
                <a:latin typeface="Arial"/>
                <a:ea typeface="Arial"/>
                <a:cs typeface="Arial"/>
              </a:rPr>
              <a:t> </a:t>
            </a:r>
            <a:r>
              <a:rPr sz="1725" dirty="0" err="1">
                <a:solidFill>
                  <a:srgbClr val="1B1B1B"/>
                </a:solidFill>
                <a:latin typeface="Arial"/>
                <a:ea typeface="Arial"/>
                <a:cs typeface="Arial"/>
              </a:rPr>
              <a:t>mua</a:t>
            </a:r>
            <a:r>
              <a:rPr sz="1725" dirty="0">
                <a:solidFill>
                  <a:srgbClr val="1B1B1B"/>
                </a:solidFill>
                <a:latin typeface="Arial"/>
                <a:ea typeface="Arial"/>
                <a:cs typeface="Arial"/>
              </a:rPr>
              <a:t> </a:t>
            </a:r>
            <a:r>
              <a:rPr sz="1725" dirty="0" err="1">
                <a:solidFill>
                  <a:srgbClr val="1B1B1B"/>
                </a:solidFill>
                <a:latin typeface="Arial"/>
                <a:ea typeface="Arial"/>
                <a:cs typeface="Arial"/>
              </a:rPr>
              <a:t>sắm</a:t>
            </a:r>
            <a:r>
              <a:rPr sz="1725" dirty="0">
                <a:solidFill>
                  <a:srgbClr val="1B1B1B"/>
                </a:solidFill>
                <a:latin typeface="Arial"/>
                <a:ea typeface="Arial"/>
                <a:cs typeface="Arial"/>
              </a:rPr>
              <a:t> </a:t>
            </a:r>
            <a:r>
              <a:rPr sz="1725" dirty="0" err="1">
                <a:solidFill>
                  <a:srgbClr val="1B1B1B"/>
                </a:solidFill>
                <a:latin typeface="Arial"/>
                <a:ea typeface="Arial"/>
                <a:cs typeface="Arial"/>
              </a:rPr>
              <a:t>và</a:t>
            </a:r>
            <a:r>
              <a:rPr sz="1725" dirty="0">
                <a:solidFill>
                  <a:srgbClr val="1B1B1B"/>
                </a:solidFill>
                <a:latin typeface="Arial"/>
                <a:ea typeface="Arial"/>
                <a:cs typeface="Arial"/>
              </a:rPr>
              <a:t> </a:t>
            </a:r>
            <a:r>
              <a:rPr sz="1725" dirty="0" err="1">
                <a:solidFill>
                  <a:srgbClr val="1B1B1B"/>
                </a:solidFill>
                <a:latin typeface="Arial"/>
                <a:ea typeface="Arial"/>
                <a:cs typeface="Arial"/>
              </a:rPr>
              <a:t>các</a:t>
            </a:r>
            <a:r>
              <a:rPr sz="1725" dirty="0">
                <a:solidFill>
                  <a:srgbClr val="1B1B1B"/>
                </a:solidFill>
                <a:latin typeface="Arial"/>
                <a:ea typeface="Arial"/>
                <a:cs typeface="Arial"/>
              </a:rPr>
              <a:t> </a:t>
            </a:r>
            <a:r>
              <a:rPr sz="1725" dirty="0" err="1">
                <a:solidFill>
                  <a:srgbClr val="1B1B1B"/>
                </a:solidFill>
                <a:latin typeface="Arial"/>
                <a:ea typeface="Arial"/>
                <a:cs typeface="Arial"/>
              </a:rPr>
              <a:t>gói</a:t>
            </a:r>
            <a:r>
              <a:rPr sz="1725" dirty="0">
                <a:solidFill>
                  <a:srgbClr val="1B1B1B"/>
                </a:solidFill>
                <a:latin typeface="Arial"/>
                <a:ea typeface="Arial"/>
                <a:cs typeface="Arial"/>
              </a:rPr>
              <a:t> </a:t>
            </a:r>
            <a:r>
              <a:rPr sz="1725" dirty="0" err="1">
                <a:solidFill>
                  <a:srgbClr val="1B1B1B"/>
                </a:solidFill>
                <a:latin typeface="Arial"/>
                <a:ea typeface="Arial"/>
                <a:cs typeface="Arial"/>
              </a:rPr>
              <a:t>thầu</a:t>
            </a:r>
            <a:r>
              <a:rPr sz="1725" dirty="0">
                <a:solidFill>
                  <a:srgbClr val="1B1B1B"/>
                </a:solidFill>
                <a:latin typeface="Arial"/>
                <a:ea typeface="Arial"/>
                <a:cs typeface="Arial"/>
              </a:rPr>
              <a:t> </a:t>
            </a:r>
            <a:r>
              <a:rPr sz="1725" dirty="0" err="1">
                <a:solidFill>
                  <a:srgbClr val="1B1B1B"/>
                </a:solidFill>
                <a:latin typeface="Arial"/>
                <a:ea typeface="Arial"/>
                <a:cs typeface="Arial"/>
              </a:rPr>
              <a:t>thuộc</a:t>
            </a:r>
            <a:r>
              <a:rPr sz="1725" dirty="0">
                <a:solidFill>
                  <a:srgbClr val="1B1B1B"/>
                </a:solidFill>
                <a:latin typeface="Arial"/>
                <a:ea typeface="Arial"/>
                <a:cs typeface="Arial"/>
              </a:rPr>
              <a:t> </a:t>
            </a:r>
            <a:r>
              <a:rPr sz="1725" dirty="0" err="1">
                <a:solidFill>
                  <a:srgbClr val="1B1B1B"/>
                </a:solidFill>
                <a:latin typeface="Arial"/>
                <a:ea typeface="Arial"/>
                <a:cs typeface="Arial"/>
              </a:rPr>
              <a:t>nguồn</a:t>
            </a:r>
            <a:r>
              <a:rPr sz="1725" dirty="0">
                <a:solidFill>
                  <a:srgbClr val="1B1B1B"/>
                </a:solidFill>
                <a:latin typeface="Arial"/>
                <a:ea typeface="Arial"/>
                <a:cs typeface="Arial"/>
              </a:rPr>
              <a:t> </a:t>
            </a:r>
            <a:r>
              <a:rPr sz="1725" dirty="0" err="1">
                <a:solidFill>
                  <a:srgbClr val="1B1B1B"/>
                </a:solidFill>
                <a:latin typeface="Arial"/>
                <a:ea typeface="Arial"/>
                <a:cs typeface="Arial"/>
              </a:rPr>
              <a:t>vốn</a:t>
            </a:r>
            <a:r>
              <a:rPr sz="1725" dirty="0">
                <a:solidFill>
                  <a:srgbClr val="1B1B1B"/>
                </a:solidFill>
                <a:latin typeface="Arial"/>
                <a:ea typeface="Arial"/>
                <a:cs typeface="Arial"/>
              </a:rPr>
              <a:t>/</a:t>
            </a:r>
            <a:r>
              <a:rPr sz="1725" dirty="0" err="1">
                <a:solidFill>
                  <a:srgbClr val="1B1B1B"/>
                </a:solidFill>
                <a:latin typeface="Arial"/>
                <a:ea typeface="Arial"/>
                <a:cs typeface="Arial"/>
              </a:rPr>
              <a:t>chủ</a:t>
            </a:r>
            <a:r>
              <a:rPr sz="1725" dirty="0">
                <a:solidFill>
                  <a:srgbClr val="1B1B1B"/>
                </a:solidFill>
                <a:latin typeface="Arial"/>
                <a:ea typeface="Arial"/>
                <a:cs typeface="Arial"/>
              </a:rPr>
              <a:t> </a:t>
            </a:r>
            <a:r>
              <a:rPr sz="1725" dirty="0" err="1">
                <a:solidFill>
                  <a:srgbClr val="1B1B1B"/>
                </a:solidFill>
                <a:latin typeface="Arial"/>
                <a:ea typeface="Arial"/>
                <a:cs typeface="Arial"/>
              </a:rPr>
              <a:t>thể</a:t>
            </a:r>
            <a:r>
              <a:rPr sz="1725" dirty="0">
                <a:solidFill>
                  <a:srgbClr val="1B1B1B"/>
                </a:solidFill>
                <a:latin typeface="Arial"/>
                <a:ea typeface="Arial"/>
                <a:cs typeface="Arial"/>
              </a:rPr>
              <a:t> </a:t>
            </a:r>
            <a:r>
              <a:rPr sz="1725" dirty="0" err="1">
                <a:solidFill>
                  <a:srgbClr val="1B1B1B"/>
                </a:solidFill>
                <a:latin typeface="Arial"/>
                <a:ea typeface="Arial"/>
                <a:cs typeface="Arial"/>
              </a:rPr>
              <a:t>theo</a:t>
            </a:r>
            <a:r>
              <a:rPr sz="1725" dirty="0">
                <a:solidFill>
                  <a:srgbClr val="1B1B1B"/>
                </a:solidFill>
                <a:latin typeface="Arial"/>
                <a:ea typeface="Arial"/>
                <a:cs typeface="Arial"/>
              </a:rPr>
              <a:t> </a:t>
            </a:r>
            <a:r>
              <a:rPr sz="1725" dirty="0" err="1">
                <a:solidFill>
                  <a:srgbClr val="1B1B1B"/>
                </a:solidFill>
                <a:latin typeface="Arial"/>
                <a:ea typeface="Arial"/>
                <a:cs typeface="Arial"/>
              </a:rPr>
              <a:t>Luật</a:t>
            </a:r>
            <a:r>
              <a:rPr sz="1725" dirty="0">
                <a:solidFill>
                  <a:srgbClr val="1B1B1B"/>
                </a:solidFill>
                <a:latin typeface="Arial"/>
                <a:ea typeface="Arial"/>
                <a:cs typeface="Arial"/>
              </a:rPr>
              <a:t>.</a:t>
            </a:r>
          </a:p>
          <a:p>
            <a:pPr marL="279400" indent="-127000">
              <a:spcAft>
                <a:spcPts val="1200"/>
              </a:spcAft>
              <a:buChar char="•"/>
              <a:defRPr sz="1725">
                <a:solidFill>
                  <a:srgbClr val="1B1B1B"/>
                </a:solidFill>
                <a:latin typeface="Arial"/>
                <a:ea typeface="Arial"/>
                <a:cs typeface="Arial"/>
              </a:defRPr>
            </a:pPr>
            <a:r>
              <a:rPr sz="1725" dirty="0" err="1">
                <a:solidFill>
                  <a:srgbClr val="1B1B1B"/>
                </a:solidFill>
                <a:latin typeface="Arial"/>
                <a:ea typeface="Arial"/>
                <a:cs typeface="Arial"/>
              </a:rPr>
              <a:t>Luật</a:t>
            </a:r>
            <a:r>
              <a:rPr sz="1725" dirty="0">
                <a:solidFill>
                  <a:srgbClr val="1B1B1B"/>
                </a:solidFill>
                <a:latin typeface="Arial"/>
                <a:ea typeface="Arial"/>
                <a:cs typeface="Arial"/>
              </a:rPr>
              <a:t> </a:t>
            </a:r>
            <a:r>
              <a:rPr sz="1725" dirty="0" err="1">
                <a:solidFill>
                  <a:srgbClr val="1B1B1B"/>
                </a:solidFill>
                <a:latin typeface="Arial"/>
                <a:ea typeface="Arial"/>
                <a:cs typeface="Arial"/>
              </a:rPr>
              <a:t>và</a:t>
            </a:r>
            <a:r>
              <a:rPr sz="1725" dirty="0">
                <a:solidFill>
                  <a:srgbClr val="1B1B1B"/>
                </a:solidFill>
                <a:latin typeface="Arial"/>
                <a:ea typeface="Arial"/>
                <a:cs typeface="Arial"/>
              </a:rPr>
              <a:t> </a:t>
            </a:r>
            <a:r>
              <a:rPr sz="1725" dirty="0" err="1">
                <a:solidFill>
                  <a:srgbClr val="1B1B1B"/>
                </a:solidFill>
                <a:latin typeface="Arial"/>
                <a:ea typeface="Arial"/>
                <a:cs typeface="Arial"/>
              </a:rPr>
              <a:t>pháp</a:t>
            </a:r>
            <a:r>
              <a:rPr sz="1725" dirty="0">
                <a:solidFill>
                  <a:srgbClr val="1B1B1B"/>
                </a:solidFill>
                <a:latin typeface="Arial"/>
                <a:ea typeface="Arial"/>
                <a:cs typeface="Arial"/>
              </a:rPr>
              <a:t> </a:t>
            </a:r>
            <a:r>
              <a:rPr sz="1725" dirty="0" err="1">
                <a:solidFill>
                  <a:srgbClr val="1B1B1B"/>
                </a:solidFill>
                <a:latin typeface="Arial"/>
                <a:ea typeface="Arial"/>
                <a:cs typeface="Arial"/>
              </a:rPr>
              <a:t>luật</a:t>
            </a:r>
            <a:r>
              <a:rPr sz="1725" dirty="0">
                <a:solidFill>
                  <a:srgbClr val="1B1B1B"/>
                </a:solidFill>
                <a:latin typeface="Arial"/>
                <a:ea typeface="Arial"/>
                <a:cs typeface="Arial"/>
              </a:rPr>
              <a:t> </a:t>
            </a:r>
            <a:r>
              <a:rPr sz="1725" dirty="0" err="1">
                <a:solidFill>
                  <a:srgbClr val="1B1B1B"/>
                </a:solidFill>
                <a:latin typeface="Arial"/>
                <a:ea typeface="Arial"/>
                <a:cs typeface="Arial"/>
              </a:rPr>
              <a:t>liên</a:t>
            </a:r>
            <a:r>
              <a:rPr sz="1725" dirty="0">
                <a:solidFill>
                  <a:srgbClr val="1B1B1B"/>
                </a:solidFill>
                <a:latin typeface="Arial"/>
                <a:ea typeface="Arial"/>
                <a:cs typeface="Arial"/>
              </a:rPr>
              <a:t> </a:t>
            </a:r>
            <a:r>
              <a:rPr sz="1725" dirty="0" err="1">
                <a:solidFill>
                  <a:srgbClr val="1B1B1B"/>
                </a:solidFill>
                <a:latin typeface="Arial"/>
                <a:ea typeface="Arial"/>
                <a:cs typeface="Arial"/>
              </a:rPr>
              <a:t>quan</a:t>
            </a:r>
            <a:r>
              <a:rPr sz="1725" dirty="0">
                <a:solidFill>
                  <a:srgbClr val="1B1B1B"/>
                </a:solidFill>
                <a:latin typeface="Arial"/>
                <a:ea typeface="Arial"/>
                <a:cs typeface="Arial"/>
              </a:rPr>
              <a:t> </a:t>
            </a:r>
            <a:r>
              <a:rPr sz="1725" dirty="0" err="1">
                <a:solidFill>
                  <a:srgbClr val="1B1B1B"/>
                </a:solidFill>
                <a:latin typeface="Arial"/>
                <a:ea typeface="Arial"/>
                <a:cs typeface="Arial"/>
              </a:rPr>
              <a:t>cùng</a:t>
            </a:r>
            <a:r>
              <a:rPr sz="1725" dirty="0">
                <a:solidFill>
                  <a:srgbClr val="1B1B1B"/>
                </a:solidFill>
                <a:latin typeface="Arial"/>
                <a:ea typeface="Arial"/>
                <a:cs typeface="Arial"/>
              </a:rPr>
              <a:t> </a:t>
            </a:r>
            <a:r>
              <a:rPr sz="1725" dirty="0" err="1">
                <a:solidFill>
                  <a:srgbClr val="1B1B1B"/>
                </a:solidFill>
                <a:latin typeface="Arial"/>
                <a:ea typeface="Arial"/>
                <a:cs typeface="Arial"/>
              </a:rPr>
              <a:t>điều</a:t>
            </a:r>
            <a:r>
              <a:rPr sz="1725" dirty="0">
                <a:solidFill>
                  <a:srgbClr val="1B1B1B"/>
                </a:solidFill>
                <a:latin typeface="Arial"/>
                <a:ea typeface="Arial"/>
                <a:cs typeface="Arial"/>
              </a:rPr>
              <a:t> </a:t>
            </a:r>
            <a:r>
              <a:rPr sz="1725" dirty="0" err="1">
                <a:solidFill>
                  <a:srgbClr val="1B1B1B"/>
                </a:solidFill>
                <a:latin typeface="Arial"/>
                <a:ea typeface="Arial"/>
                <a:cs typeface="Arial"/>
              </a:rPr>
              <a:t>chỉnh</a:t>
            </a:r>
            <a:r>
              <a:rPr sz="1725" dirty="0">
                <a:solidFill>
                  <a:srgbClr val="1B1B1B"/>
                </a:solidFill>
                <a:latin typeface="Arial"/>
                <a:ea typeface="Arial"/>
                <a:cs typeface="Arial"/>
              </a:rPr>
              <a:t>; </a:t>
            </a:r>
            <a:r>
              <a:rPr sz="1725" dirty="0" err="1">
                <a:solidFill>
                  <a:srgbClr val="1B1B1B"/>
                </a:solidFill>
                <a:latin typeface="Arial"/>
                <a:ea typeface="Arial"/>
                <a:cs typeface="Arial"/>
              </a:rPr>
              <a:t>quy</a:t>
            </a:r>
            <a:r>
              <a:rPr sz="1725" dirty="0">
                <a:solidFill>
                  <a:srgbClr val="1B1B1B"/>
                </a:solidFill>
                <a:latin typeface="Arial"/>
                <a:ea typeface="Arial"/>
                <a:cs typeface="Arial"/>
              </a:rPr>
              <a:t> </a:t>
            </a:r>
            <a:r>
              <a:rPr sz="1725" dirty="0" err="1">
                <a:solidFill>
                  <a:srgbClr val="1B1B1B"/>
                </a:solidFill>
                <a:latin typeface="Arial"/>
                <a:ea typeface="Arial"/>
                <a:cs typeface="Arial"/>
              </a:rPr>
              <a:t>định</a:t>
            </a:r>
            <a:r>
              <a:rPr sz="1725" dirty="0">
                <a:solidFill>
                  <a:srgbClr val="1B1B1B"/>
                </a:solidFill>
                <a:latin typeface="Arial"/>
                <a:ea typeface="Arial"/>
                <a:cs typeface="Arial"/>
              </a:rPr>
              <a:t> </a:t>
            </a:r>
            <a:r>
              <a:rPr sz="1725" dirty="0" err="1">
                <a:solidFill>
                  <a:srgbClr val="1B1B1B"/>
                </a:solidFill>
                <a:latin typeface="Arial"/>
                <a:ea typeface="Arial"/>
                <a:cs typeface="Arial"/>
              </a:rPr>
              <a:t>xung</a:t>
            </a:r>
            <a:r>
              <a:rPr sz="1725" dirty="0">
                <a:solidFill>
                  <a:srgbClr val="1B1B1B"/>
                </a:solidFill>
                <a:latin typeface="Arial"/>
                <a:ea typeface="Arial"/>
                <a:cs typeface="Arial"/>
              </a:rPr>
              <a:t> </a:t>
            </a:r>
            <a:r>
              <a:rPr sz="1725" dirty="0" err="1">
                <a:solidFill>
                  <a:srgbClr val="1B1B1B"/>
                </a:solidFill>
                <a:latin typeface="Arial"/>
                <a:ea typeface="Arial"/>
                <a:cs typeface="Arial"/>
              </a:rPr>
              <a:t>đột</a:t>
            </a:r>
            <a:r>
              <a:rPr sz="1725" dirty="0">
                <a:solidFill>
                  <a:srgbClr val="1B1B1B"/>
                </a:solidFill>
                <a:latin typeface="Arial"/>
                <a:ea typeface="Arial"/>
                <a:cs typeface="Arial"/>
              </a:rPr>
              <a:t> </a:t>
            </a:r>
            <a:r>
              <a:rPr sz="1725" dirty="0" err="1">
                <a:solidFill>
                  <a:srgbClr val="1B1B1B"/>
                </a:solidFill>
                <a:latin typeface="Arial"/>
                <a:ea typeface="Arial"/>
                <a:cs typeface="Arial"/>
              </a:rPr>
              <a:t>phải</a:t>
            </a:r>
            <a:r>
              <a:rPr sz="1725" dirty="0">
                <a:solidFill>
                  <a:srgbClr val="1B1B1B"/>
                </a:solidFill>
                <a:latin typeface="Arial"/>
                <a:ea typeface="Arial"/>
                <a:cs typeface="Arial"/>
              </a:rPr>
              <a:t> </a:t>
            </a:r>
            <a:r>
              <a:rPr sz="1725" dirty="0" err="1">
                <a:solidFill>
                  <a:srgbClr val="1B1B1B"/>
                </a:solidFill>
                <a:latin typeface="Arial"/>
                <a:ea typeface="Arial"/>
                <a:cs typeface="Arial"/>
              </a:rPr>
              <a:t>xử</a:t>
            </a:r>
            <a:r>
              <a:rPr sz="1725" dirty="0">
                <a:solidFill>
                  <a:srgbClr val="1B1B1B"/>
                </a:solidFill>
                <a:latin typeface="Arial"/>
                <a:ea typeface="Arial"/>
                <a:cs typeface="Arial"/>
              </a:rPr>
              <a:t> </a:t>
            </a:r>
            <a:r>
              <a:rPr sz="1725" dirty="0" err="1">
                <a:solidFill>
                  <a:srgbClr val="1B1B1B"/>
                </a:solidFill>
                <a:latin typeface="Arial"/>
                <a:ea typeface="Arial"/>
                <a:cs typeface="Arial"/>
              </a:rPr>
              <a:t>lý</a:t>
            </a:r>
            <a:r>
              <a:rPr sz="1725" dirty="0">
                <a:solidFill>
                  <a:srgbClr val="1B1B1B"/>
                </a:solidFill>
                <a:latin typeface="Arial"/>
                <a:ea typeface="Arial"/>
                <a:cs typeface="Arial"/>
              </a:rPr>
              <a:t> </a:t>
            </a:r>
            <a:r>
              <a:rPr sz="1725" dirty="0" err="1">
                <a:solidFill>
                  <a:srgbClr val="1B1B1B"/>
                </a:solidFill>
                <a:latin typeface="Arial"/>
                <a:ea typeface="Arial"/>
                <a:cs typeface="Arial"/>
              </a:rPr>
              <a:t>theo</a:t>
            </a:r>
            <a:r>
              <a:rPr sz="1725" dirty="0">
                <a:solidFill>
                  <a:srgbClr val="1B1B1B"/>
                </a:solidFill>
                <a:latin typeface="Arial"/>
                <a:ea typeface="Arial"/>
                <a:cs typeface="Arial"/>
              </a:rPr>
              <a:t> </a:t>
            </a:r>
            <a:r>
              <a:rPr sz="1725" dirty="0" err="1">
                <a:solidFill>
                  <a:srgbClr val="1B1B1B"/>
                </a:solidFill>
                <a:latin typeface="Arial"/>
                <a:ea typeface="Arial"/>
                <a:cs typeface="Arial"/>
              </a:rPr>
              <a:t>điều</a:t>
            </a:r>
            <a:r>
              <a:rPr sz="1725" dirty="0">
                <a:solidFill>
                  <a:srgbClr val="1B1B1B"/>
                </a:solidFill>
                <a:latin typeface="Arial"/>
                <a:ea typeface="Arial"/>
                <a:cs typeface="Arial"/>
              </a:rPr>
              <a:t> </a:t>
            </a:r>
            <a:r>
              <a:rPr sz="1725" dirty="0" err="1">
                <a:solidFill>
                  <a:srgbClr val="1B1B1B"/>
                </a:solidFill>
                <a:latin typeface="Arial"/>
                <a:ea typeface="Arial"/>
                <a:cs typeface="Arial"/>
              </a:rPr>
              <a:t>khoản</a:t>
            </a:r>
            <a:r>
              <a:rPr sz="1725" dirty="0">
                <a:solidFill>
                  <a:srgbClr val="1B1B1B"/>
                </a:solidFill>
                <a:latin typeface="Arial"/>
                <a:ea typeface="Arial"/>
                <a:cs typeface="Arial"/>
              </a:rPr>
              <a:t> </a:t>
            </a:r>
            <a:r>
              <a:rPr sz="1725" dirty="0" err="1">
                <a:solidFill>
                  <a:srgbClr val="1B1B1B"/>
                </a:solidFill>
                <a:latin typeface="Arial"/>
                <a:ea typeface="Arial"/>
                <a:cs typeface="Arial"/>
              </a:rPr>
              <a:t>ưu</a:t>
            </a:r>
            <a:r>
              <a:rPr sz="1725" dirty="0">
                <a:solidFill>
                  <a:srgbClr val="1B1B1B"/>
                </a:solidFill>
                <a:latin typeface="Arial"/>
                <a:ea typeface="Arial"/>
                <a:cs typeface="Arial"/>
              </a:rPr>
              <a:t> </a:t>
            </a:r>
            <a:r>
              <a:rPr sz="1725" dirty="0" err="1">
                <a:solidFill>
                  <a:srgbClr val="1B1B1B"/>
                </a:solidFill>
                <a:latin typeface="Arial"/>
                <a:ea typeface="Arial"/>
                <a:cs typeface="Arial"/>
              </a:rPr>
              <a:t>tiên</a:t>
            </a:r>
            <a:r>
              <a:rPr sz="1725" dirty="0">
                <a:solidFill>
                  <a:srgbClr val="1B1B1B"/>
                </a:solidFill>
                <a:latin typeface="Arial"/>
                <a:ea typeface="Arial"/>
                <a:cs typeface="Arial"/>
              </a:rPr>
              <a:t>.</a:t>
            </a:r>
          </a:p>
          <a:p>
            <a:pPr marL="279400" indent="-127000">
              <a:spcAft>
                <a:spcPts val="1200"/>
              </a:spcAft>
              <a:buChar char="•"/>
              <a:defRPr sz="1725">
                <a:solidFill>
                  <a:srgbClr val="1B1B1B"/>
                </a:solidFill>
                <a:latin typeface="Arial"/>
                <a:ea typeface="Arial"/>
                <a:cs typeface="Arial"/>
              </a:defRPr>
            </a:pPr>
            <a:r>
              <a:rPr sz="1725" dirty="0" err="1">
                <a:solidFill>
                  <a:srgbClr val="1B1B1B"/>
                </a:solidFill>
                <a:latin typeface="Arial"/>
                <a:ea typeface="Arial"/>
                <a:cs typeface="Arial"/>
              </a:rPr>
              <a:t>Không</a:t>
            </a:r>
            <a:r>
              <a:rPr sz="1725" dirty="0">
                <a:solidFill>
                  <a:srgbClr val="1B1B1B"/>
                </a:solidFill>
                <a:latin typeface="Arial"/>
                <a:ea typeface="Arial"/>
                <a:cs typeface="Arial"/>
              </a:rPr>
              <a:t> </a:t>
            </a:r>
            <a:r>
              <a:rPr sz="1725" dirty="0" err="1">
                <a:solidFill>
                  <a:srgbClr val="1B1B1B"/>
                </a:solidFill>
                <a:latin typeface="Arial"/>
                <a:ea typeface="Arial"/>
                <a:cs typeface="Arial"/>
              </a:rPr>
              <a:t>suy</a:t>
            </a:r>
            <a:r>
              <a:rPr sz="1725" dirty="0">
                <a:solidFill>
                  <a:srgbClr val="1B1B1B"/>
                </a:solidFill>
                <a:latin typeface="Arial"/>
                <a:ea typeface="Arial"/>
                <a:cs typeface="Arial"/>
              </a:rPr>
              <a:t> </a:t>
            </a:r>
            <a:r>
              <a:rPr sz="1725" dirty="0" err="1">
                <a:solidFill>
                  <a:srgbClr val="1B1B1B"/>
                </a:solidFill>
                <a:latin typeface="Arial"/>
                <a:ea typeface="Arial"/>
                <a:cs typeface="Arial"/>
              </a:rPr>
              <a:t>đoán</a:t>
            </a:r>
            <a:r>
              <a:rPr sz="1725" dirty="0">
                <a:solidFill>
                  <a:srgbClr val="1B1B1B"/>
                </a:solidFill>
                <a:latin typeface="Arial"/>
                <a:ea typeface="Arial"/>
                <a:cs typeface="Arial"/>
              </a:rPr>
              <a:t> </a:t>
            </a:r>
            <a:r>
              <a:rPr sz="1725" dirty="0" err="1">
                <a:solidFill>
                  <a:srgbClr val="1B1B1B"/>
                </a:solidFill>
                <a:latin typeface="Arial"/>
                <a:ea typeface="Arial"/>
                <a:cs typeface="Arial"/>
              </a:rPr>
              <a:t>phạm</a:t>
            </a:r>
            <a:r>
              <a:rPr sz="1725" dirty="0">
                <a:solidFill>
                  <a:srgbClr val="1B1B1B"/>
                </a:solidFill>
                <a:latin typeface="Arial"/>
                <a:ea typeface="Arial"/>
                <a:cs typeface="Arial"/>
              </a:rPr>
              <a:t> vi </a:t>
            </a:r>
            <a:r>
              <a:rPr sz="1725" dirty="0" err="1">
                <a:solidFill>
                  <a:srgbClr val="1B1B1B"/>
                </a:solidFill>
                <a:latin typeface="Arial"/>
                <a:ea typeface="Arial"/>
                <a:cs typeface="Arial"/>
              </a:rPr>
              <a:t>chỉ</a:t>
            </a:r>
            <a:r>
              <a:rPr sz="1725" dirty="0">
                <a:solidFill>
                  <a:srgbClr val="1B1B1B"/>
                </a:solidFill>
                <a:latin typeface="Arial"/>
                <a:ea typeface="Arial"/>
                <a:cs typeface="Arial"/>
              </a:rPr>
              <a:t> </a:t>
            </a:r>
            <a:r>
              <a:rPr sz="1725" dirty="0" err="1">
                <a:solidFill>
                  <a:srgbClr val="1B1B1B"/>
                </a:solidFill>
                <a:latin typeface="Arial"/>
                <a:ea typeface="Arial"/>
                <a:cs typeface="Arial"/>
              </a:rPr>
              <a:t>từ</a:t>
            </a:r>
            <a:r>
              <a:rPr sz="1725" dirty="0">
                <a:solidFill>
                  <a:srgbClr val="1B1B1B"/>
                </a:solidFill>
                <a:latin typeface="Arial"/>
                <a:ea typeface="Arial"/>
                <a:cs typeface="Arial"/>
              </a:rPr>
              <a:t> </a:t>
            </a:r>
            <a:r>
              <a:rPr sz="1725" dirty="0" err="1">
                <a:solidFill>
                  <a:srgbClr val="1B1B1B"/>
                </a:solidFill>
                <a:latin typeface="Arial"/>
                <a:ea typeface="Arial"/>
                <a:cs typeface="Arial"/>
              </a:rPr>
              <a:t>tên</a:t>
            </a:r>
            <a:r>
              <a:rPr sz="1725" dirty="0">
                <a:solidFill>
                  <a:srgbClr val="1B1B1B"/>
                </a:solidFill>
                <a:latin typeface="Arial"/>
                <a:ea typeface="Arial"/>
                <a:cs typeface="Arial"/>
              </a:rPr>
              <a:t> </a:t>
            </a:r>
            <a:r>
              <a:rPr sz="1725" dirty="0" err="1">
                <a:solidFill>
                  <a:srgbClr val="1B1B1B"/>
                </a:solidFill>
                <a:latin typeface="Arial"/>
                <a:ea typeface="Arial"/>
                <a:cs typeface="Arial"/>
              </a:rPr>
              <a:t>đơn</a:t>
            </a:r>
            <a:r>
              <a:rPr sz="1725" dirty="0">
                <a:solidFill>
                  <a:srgbClr val="1B1B1B"/>
                </a:solidFill>
                <a:latin typeface="Arial"/>
                <a:ea typeface="Arial"/>
                <a:cs typeface="Arial"/>
              </a:rPr>
              <a:t> </a:t>
            </a:r>
            <a:r>
              <a:rPr sz="1725" dirty="0" err="1">
                <a:solidFill>
                  <a:srgbClr val="1B1B1B"/>
                </a:solidFill>
                <a:latin typeface="Arial"/>
                <a:ea typeface="Arial"/>
                <a:cs typeface="Arial"/>
              </a:rPr>
              <a:t>vị</a:t>
            </a:r>
            <a:r>
              <a:rPr sz="1725" dirty="0">
                <a:solidFill>
                  <a:srgbClr val="1B1B1B"/>
                </a:solidFill>
                <a:latin typeface="Arial"/>
                <a:ea typeface="Arial"/>
                <a:cs typeface="Arial"/>
              </a:rPr>
              <a:t>.</a:t>
            </a:r>
          </a:p>
        </p:txBody>
      </p:sp>
      <p:sp>
        <p:nvSpPr>
          <p:cNvPr id="4" name="Rectangle 3">
            <a:extLst>
              <a:ext uri="{FF2B5EF4-FFF2-40B4-BE49-F238E27FC236}">
                <a16:creationId xmlns:a16="http://schemas.microsoft.com/office/drawing/2014/main" id="{2ACB5455-1DDB-44E1-9E80-73458B582653}"/>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79DF6113-BD12-4389-80EF-6C7D0A9533A9}"/>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F346C956-D3DE-4BEA-8697-2206E6244274}"/>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dirty="0" err="1">
                <a:solidFill>
                  <a:srgbClr val="1B1B1B"/>
                </a:solidFill>
                <a:latin typeface="Arial"/>
                <a:ea typeface="Arial"/>
                <a:cs typeface="Arial"/>
              </a:rPr>
              <a:t>Dự</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án</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dự</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toán</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mua</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sắm</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và</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các</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gói</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thầu</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thuộc</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nguồn</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vốn</a:t>
            </a:r>
            <a:r>
              <a:rPr sz="1350" b="1" i="0" dirty="0">
                <a:solidFill>
                  <a:srgbClr val="1B1B1B"/>
                </a:solidFill>
                <a:latin typeface="Arial"/>
                <a:ea typeface="Arial"/>
                <a:cs typeface="Arial"/>
              </a:rPr>
              <a:t>/</a:t>
            </a:r>
            <a:r>
              <a:rPr sz="1350" b="1" i="0" dirty="0" err="1">
                <a:solidFill>
                  <a:srgbClr val="1B1B1B"/>
                </a:solidFill>
                <a:latin typeface="Arial"/>
                <a:ea typeface="Arial"/>
                <a:cs typeface="Arial"/>
              </a:rPr>
              <a:t>chủ</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thể</a:t>
            </a:r>
            <a:r>
              <a:rPr sz="1350" b="1" i="0" dirty="0">
                <a:solidFill>
                  <a:srgbClr val="1B1B1B"/>
                </a:solidFill>
                <a:latin typeface="Arial"/>
                <a:ea typeface="Arial"/>
                <a:cs typeface="Arial"/>
              </a:rPr>
              <a:t> the…</a:t>
            </a:r>
          </a:p>
        </p:txBody>
      </p:sp>
      <p:sp>
        <p:nvSpPr>
          <p:cNvPr id="7" name="Rectangle 6">
            <a:extLst>
              <a:ext uri="{FF2B5EF4-FFF2-40B4-BE49-F238E27FC236}">
                <a16:creationId xmlns:a16="http://schemas.microsoft.com/office/drawing/2014/main" id="{0236406A-347D-446B-802C-34DC9C88FA62}"/>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934287DD-A7AF-4DE3-9838-DAD3AB039BCB}"/>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Luật và pháp luật liên quan cùng điều chỉnh; quy định xung đột phả…</a:t>
            </a:r>
          </a:p>
        </p:txBody>
      </p:sp>
      <p:sp>
        <p:nvSpPr>
          <p:cNvPr id="9" name="Rectangle 8">
            <a:extLst>
              <a:ext uri="{FF2B5EF4-FFF2-40B4-BE49-F238E27FC236}">
                <a16:creationId xmlns:a16="http://schemas.microsoft.com/office/drawing/2014/main" id="{8436AF9D-E9F6-43B4-8E0D-F95BCF315B94}"/>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dirty="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B0111F47-1E0F-4FE2-B8E5-1E239BE3BC12}"/>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dirty="0" err="1">
                <a:solidFill>
                  <a:srgbClr val="1B1B1B"/>
                </a:solidFill>
                <a:latin typeface="Arial"/>
                <a:ea typeface="Arial"/>
                <a:cs typeface="Arial"/>
              </a:rPr>
              <a:t>Không</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suy</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đoán</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phạm</a:t>
            </a:r>
            <a:r>
              <a:rPr sz="1350" b="1" i="0" dirty="0">
                <a:solidFill>
                  <a:srgbClr val="1B1B1B"/>
                </a:solidFill>
                <a:latin typeface="Arial"/>
                <a:ea typeface="Arial"/>
                <a:cs typeface="Arial"/>
              </a:rPr>
              <a:t> vi </a:t>
            </a:r>
            <a:r>
              <a:rPr sz="1350" b="1" i="0" dirty="0" err="1">
                <a:solidFill>
                  <a:srgbClr val="1B1B1B"/>
                </a:solidFill>
                <a:latin typeface="Arial"/>
                <a:ea typeface="Arial"/>
                <a:cs typeface="Arial"/>
              </a:rPr>
              <a:t>chỉ</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từ</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tên</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đơn</a:t>
            </a:r>
            <a:r>
              <a:rPr sz="1350" b="1" i="0" dirty="0">
                <a:solidFill>
                  <a:srgbClr val="1B1B1B"/>
                </a:solidFill>
                <a:latin typeface="Arial"/>
                <a:ea typeface="Arial"/>
                <a:cs typeface="Arial"/>
              </a:rPr>
              <a:t> </a:t>
            </a:r>
            <a:r>
              <a:rPr sz="1350" b="1" i="0" dirty="0" err="1">
                <a:solidFill>
                  <a:srgbClr val="1B1B1B"/>
                </a:solidFill>
                <a:latin typeface="Arial"/>
                <a:ea typeface="Arial"/>
                <a:cs typeface="Arial"/>
              </a:rPr>
              <a:t>vị</a:t>
            </a:r>
            <a:r>
              <a:rPr sz="1350" b="1" i="0" dirty="0">
                <a:solidFill>
                  <a:srgbClr val="1B1B1B"/>
                </a:solidFill>
                <a:latin typeface="Arial"/>
                <a:ea typeface="Arial"/>
                <a:cs typeface="Arial"/>
              </a:rPr>
              <a:t>.</a:t>
            </a:r>
          </a:p>
        </p:txBody>
      </p:sp>
      <p:sp>
        <p:nvSpPr>
          <p:cNvPr id="11" name="Rectangle 10">
            <a:extLst>
              <a:ext uri="{FF2B5EF4-FFF2-40B4-BE49-F238E27FC236}">
                <a16:creationId xmlns:a16="http://schemas.microsoft.com/office/drawing/2014/main" id="{4F18B198-B233-40A3-ACEA-1F25C85156F5}"/>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FADD03C6-9405-4CF9-BB43-97207C3B7B4D}"/>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8D0F95A3-51CE-4F51-83B9-9C107001E658}"/>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a:t>
            </a:r>
          </a:p>
        </p:txBody>
      </p:sp>
      <p:sp>
        <p:nvSpPr>
          <p:cNvPr id="14" name="Rectangle 13">
            <a:extLst>
              <a:ext uri="{FF2B5EF4-FFF2-40B4-BE49-F238E27FC236}">
                <a16:creationId xmlns:a16="http://schemas.microsoft.com/office/drawing/2014/main" id="{4D4CC956-9BB9-4D5B-9C53-29705FFE221B}"/>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925460FD-DCA5-4947-81BD-F17830C2CBA8}"/>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Tree>
    <p:extLst>
      <p:ext uri="{BB962C8B-B14F-4D97-AF65-F5344CB8AC3E}">
        <p14:creationId xmlns:p14="http://schemas.microsoft.com/office/powerpoint/2010/main" val="18569037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591E565-E4A4-47F1-B91D-DA6E066C6BAE}"/>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NGUỒN VỐN VÀ CHỦ THỂ: CÂU HỎI MỞ ĐẦU</a:t>
            </a:r>
          </a:p>
        </p:txBody>
      </p:sp>
      <p:sp>
        <p:nvSpPr>
          <p:cNvPr id="2" name="Rectangle 1">
            <a:extLst>
              <a:ext uri="{FF2B5EF4-FFF2-40B4-BE49-F238E27FC236}">
                <a16:creationId xmlns:a16="http://schemas.microsoft.com/office/drawing/2014/main" id="{8F12F98F-51D5-45CC-9581-53854E3993E1}"/>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Biến phạm vi pháp lý thành bộ câu hỏi kiểm tra.</a:t>
            </a:r>
          </a:p>
        </p:txBody>
      </p:sp>
      <p:sp>
        <p:nvSpPr>
          <p:cNvPr id="3" name="Rectangle 2">
            <a:extLst>
              <a:ext uri="{FF2B5EF4-FFF2-40B4-BE49-F238E27FC236}">
                <a16:creationId xmlns:a16="http://schemas.microsoft.com/office/drawing/2014/main" id="{0E7FE7D6-D3D1-4BE4-A581-4394830E3AB8}"/>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là gì và ai phê duyệt?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Chủ đầu tư có thuộc đối tượng áp dụng Luật không?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tượng là dự án, dự toán mua sắm hay hoạt động được tự quyết định?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điều ước, thỏa thuận vốn hoặc luật chuyên ngành cần ưu tiên không?</a:t>
            </a:r>
          </a:p>
        </p:txBody>
      </p:sp>
      <p:sp>
        <p:nvSpPr>
          <p:cNvPr id="4" name="Rectangle 3">
            <a:extLst>
              <a:ext uri="{FF2B5EF4-FFF2-40B4-BE49-F238E27FC236}">
                <a16:creationId xmlns:a16="http://schemas.microsoft.com/office/drawing/2014/main" id="{9D08D9FB-2A41-42D8-8297-E9A56061BC13}"/>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A7CC688D-FCDC-480D-9179-1BC9B5539D87}"/>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0E1B8742-9140-456E-A931-7D0A05623FFE}"/>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Nguồn vốn là gì và ai phê duyệt?</a:t>
            </a:r>
          </a:p>
        </p:txBody>
      </p:sp>
      <p:sp>
        <p:nvSpPr>
          <p:cNvPr id="7" name="Rectangle 6">
            <a:extLst>
              <a:ext uri="{FF2B5EF4-FFF2-40B4-BE49-F238E27FC236}">
                <a16:creationId xmlns:a16="http://schemas.microsoft.com/office/drawing/2014/main" id="{F01EBE91-282B-40D0-9344-64A4E0D6F31A}"/>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B39506DC-FBCE-4356-9662-C17A67F867EF}"/>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Chủ đầu tư có thuộc đối tượng áp dụng Luật không?</a:t>
            </a:r>
          </a:p>
        </p:txBody>
      </p:sp>
      <p:sp>
        <p:nvSpPr>
          <p:cNvPr id="9" name="Rectangle 8">
            <a:extLst>
              <a:ext uri="{FF2B5EF4-FFF2-40B4-BE49-F238E27FC236}">
                <a16:creationId xmlns:a16="http://schemas.microsoft.com/office/drawing/2014/main" id="{797AD90C-DEFB-4352-BB93-E239B1AF8F23}"/>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699F8C35-E115-449A-94D7-AB3F929808A6}"/>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Đối tượng là dự án, dự toán mua sắm hay hoạt động được tự quyết đị…</a:t>
            </a:r>
          </a:p>
        </p:txBody>
      </p:sp>
      <p:sp>
        <p:nvSpPr>
          <p:cNvPr id="11" name="Rectangle 10">
            <a:extLst>
              <a:ext uri="{FF2B5EF4-FFF2-40B4-BE49-F238E27FC236}">
                <a16:creationId xmlns:a16="http://schemas.microsoft.com/office/drawing/2014/main" id="{E3081BE2-6AB6-4D74-AFAA-DDEB11440ECA}"/>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DF715287-6A25-4F0B-A00D-94E65C030C62}"/>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Có điều ước, thỏa thuận vốn hoặc luật chuyên ngành cần ưu tiên khô…</a:t>
            </a:r>
          </a:p>
        </p:txBody>
      </p:sp>
      <p:sp>
        <p:nvSpPr>
          <p:cNvPr id="13" name="Rectangle 12">
            <a:extLst>
              <a:ext uri="{FF2B5EF4-FFF2-40B4-BE49-F238E27FC236}">
                <a16:creationId xmlns:a16="http://schemas.microsoft.com/office/drawing/2014/main" id="{153595A0-2CD2-4829-9750-797DC338AF19}"/>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9F2FCF39-524F-45C1-9E04-09EB1995DD40}"/>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D80396CF-2FE9-4E2F-A1DF-601295B48F7F}"/>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a:t>
            </a:r>
          </a:p>
        </p:txBody>
      </p:sp>
      <p:sp>
        <p:nvSpPr>
          <p:cNvPr id="16" name="Rectangle 15">
            <a:extLst>
              <a:ext uri="{FF2B5EF4-FFF2-40B4-BE49-F238E27FC236}">
                <a16:creationId xmlns:a16="http://schemas.microsoft.com/office/drawing/2014/main" id="{2F5075BB-D9C3-489A-B8C2-411F3290B60B}"/>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C55E5BBB-5F72-40EE-A62D-2A74BF9EF301}"/>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 BẢN ĐỒ PHÁP LÝ</a:t>
            </a:r>
          </a:p>
        </p:txBody>
      </p:sp>
      <p:sp>
        <p:nvSpPr>
          <p:cNvPr id="18" name="Rectangle 17">
            <a:extLst>
              <a:ext uri="{FF2B5EF4-FFF2-40B4-BE49-F238E27FC236}">
                <a16:creationId xmlns:a16="http://schemas.microsoft.com/office/drawing/2014/main" id="{0B3FB72C-E079-4679-B2F9-8F20D5B5D72C}"/>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1-3 Luật; E-CDNT 3, Dự thảo E-HSMT Hỗ trợ Tư vấn, tr. 23-25.</a:t>
            </a:r>
          </a:p>
        </p:txBody>
      </p:sp>
    </p:spTree>
    <p:extLst>
      <p:ext uri="{BB962C8B-B14F-4D97-AF65-F5344CB8AC3E}">
        <p14:creationId xmlns:p14="http://schemas.microsoft.com/office/powerpoint/2010/main" val="10294162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E90E970-90E1-4771-A959-A5234498A7A9}"/>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BẢN ĐỒ HÌNH THỨC LỰA CHỌN NHÀ THẦU</a:t>
            </a:r>
          </a:p>
        </p:txBody>
      </p:sp>
      <p:sp>
        <p:nvSpPr>
          <p:cNvPr id="2" name="Rectangle 1">
            <a:extLst>
              <a:ext uri="{FF2B5EF4-FFF2-40B4-BE49-F238E27FC236}">
                <a16:creationId xmlns:a16="http://schemas.microsoft.com/office/drawing/2014/main" id="{75C5BB6F-9F45-4E07-800C-248AA7E0BF6B}"/>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Nhìn toàn bộ các hình thức trước khi đi sâu.</a:t>
            </a:r>
          </a:p>
        </p:txBody>
      </p:sp>
      <p:sp>
        <p:nvSpPr>
          <p:cNvPr id="3" name="Rectangle 2">
            <a:extLst>
              <a:ext uri="{FF2B5EF4-FFF2-40B4-BE49-F238E27FC236}">
                <a16:creationId xmlns:a16="http://schemas.microsoft.com/office/drawing/2014/main" id="{0A2D386C-C126-4891-82D4-295067432ED7}"/>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rộng rãi, hạn chế, chào hàng cạnh tranh, chỉ định thầu, mua sắm trực tiếp, tự thực hiện, cộng đồng, đàm phán giá, trường hợp đặc biệt, đặt hàng.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rộng rãi, hạn chế, chào giá trực tuyến, chào hàng cạnh tranh, mua sắm trực tiếp, chỉ định thầu, đàm phán trực tiếp, đặt hàng, giao nhiệm vụ, tự thực hiện.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Hình thức là quyết định về cách mời/chọn nhà thầu; phương thức là cách tổ chức hồ sơ và đánh giá.</a:t>
            </a:r>
          </a:p>
        </p:txBody>
      </p:sp>
      <p:sp>
        <p:nvSpPr>
          <p:cNvPr id="4" name="Rectangle 3">
            <a:extLst>
              <a:ext uri="{FF2B5EF4-FFF2-40B4-BE49-F238E27FC236}">
                <a16:creationId xmlns:a16="http://schemas.microsoft.com/office/drawing/2014/main" id="{B002002C-6C40-4C3E-B24B-90CC95B96EEE}"/>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6B60AFB5-8E1C-4A0F-8374-B6CD16CE3359}"/>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6A32942D-5335-4DC0-8BBA-6F3686401D06}"/>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Luật: rộng rãi, hạn chế, chào hàng cạnh tranh, chỉ định thầu, mua …</a:t>
            </a:r>
          </a:p>
        </p:txBody>
      </p:sp>
      <p:sp>
        <p:nvSpPr>
          <p:cNvPr id="7" name="Rectangle 6">
            <a:extLst>
              <a:ext uri="{FF2B5EF4-FFF2-40B4-BE49-F238E27FC236}">
                <a16:creationId xmlns:a16="http://schemas.microsoft.com/office/drawing/2014/main" id="{C6600168-62E7-41F1-AC2A-2CBD8ECEEC5D}"/>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FCA65035-0A8B-406F-AB05-32EAEEF8F564}"/>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Viettel: rộng rãi, hạn chế, chào giá trực tuyến, chào hàng cạnh tr…</a:t>
            </a:r>
          </a:p>
        </p:txBody>
      </p:sp>
      <p:sp>
        <p:nvSpPr>
          <p:cNvPr id="9" name="Rectangle 8">
            <a:extLst>
              <a:ext uri="{FF2B5EF4-FFF2-40B4-BE49-F238E27FC236}">
                <a16:creationId xmlns:a16="http://schemas.microsoft.com/office/drawing/2014/main" id="{79F63E47-E176-46B8-8577-AFF2522E7310}"/>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B66C5B4C-7211-4480-8AF5-72CE6F78574B}"/>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Hình thức là quyết định về cách mời/chọn nhà thầu; phương thức là …</a:t>
            </a:r>
          </a:p>
        </p:txBody>
      </p:sp>
      <p:sp>
        <p:nvSpPr>
          <p:cNvPr id="11" name="Rectangle 10">
            <a:extLst>
              <a:ext uri="{FF2B5EF4-FFF2-40B4-BE49-F238E27FC236}">
                <a16:creationId xmlns:a16="http://schemas.microsoft.com/office/drawing/2014/main" id="{23293DE6-7077-4A50-B218-9C1FF162A2A4}"/>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370CBD56-B464-4CFB-A3F1-7458C7796AA4}"/>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15A5BBD2-8B2D-4255-B4FD-FD55203FB4B8}"/>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9</a:t>
            </a:r>
          </a:p>
        </p:txBody>
      </p:sp>
      <p:sp>
        <p:nvSpPr>
          <p:cNvPr id="14" name="Rectangle 13">
            <a:extLst>
              <a:ext uri="{FF2B5EF4-FFF2-40B4-BE49-F238E27FC236}">
                <a16:creationId xmlns:a16="http://schemas.microsoft.com/office/drawing/2014/main" id="{CDC80E01-1A35-4323-9AAD-5AC72D3CA3F3}"/>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77FFE2D7-A68E-4548-95F6-D2A3A92EAE34}"/>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Rectangle 15">
            <a:extLst>
              <a:ext uri="{FF2B5EF4-FFF2-40B4-BE49-F238E27FC236}">
                <a16:creationId xmlns:a16="http://schemas.microsoft.com/office/drawing/2014/main" id="{B2001AB6-65F1-44F6-B110-55D03A263763}"/>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20-29b Luật; Điều 12-22 Quy chế 2486.</a:t>
            </a:r>
          </a:p>
        </p:txBody>
      </p:sp>
    </p:spTree>
    <p:extLst>
      <p:ext uri="{BB962C8B-B14F-4D97-AF65-F5344CB8AC3E}">
        <p14:creationId xmlns:p14="http://schemas.microsoft.com/office/powerpoint/2010/main" val="1121625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9BEC74A-DEB0-4CAE-B8FD-15DB4232924C}"/>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ĐẤU THẦU RỘNG RÃI VÀ ĐẤU THẦU HẠN CHẾ</a:t>
            </a:r>
          </a:p>
        </p:txBody>
      </p:sp>
      <p:sp>
        <p:nvSpPr>
          <p:cNvPr id="2" name="Rectangle 1">
            <a:extLst>
              <a:ext uri="{FF2B5EF4-FFF2-40B4-BE49-F238E27FC236}">
                <a16:creationId xmlns:a16="http://schemas.microsoft.com/office/drawing/2014/main" id="{581938A9-AB24-442A-8250-AC1DF0A99957}"/>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Phân biệt mặc định rộng rãi và ngoại lệ hạn chế.</a:t>
            </a:r>
          </a:p>
        </p:txBody>
      </p:sp>
      <p:sp>
        <p:nvSpPr>
          <p:cNvPr id="3" name="Rectangle 2">
            <a:extLst>
              <a:ext uri="{FF2B5EF4-FFF2-40B4-BE49-F238E27FC236}">
                <a16:creationId xmlns:a16="http://schemas.microsoft.com/office/drawing/2014/main" id="{3AA93F77-35CA-4D1A-9FCF-DCC26FDFA716}"/>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Rộng rãi: không hạn chế số lượng nhà thầu.</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Hạn chế: chỉ mời một số nhà thầu đáp ứng yêu cầu đặc thù hoặc yêu cầu của nhà tài trợ.</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Khi không áp dụng rộng rãi, hồ sơ trình KHLCNT phải nêu lý do.</a:t>
            </a:r>
          </a:p>
        </p:txBody>
      </p:sp>
      <p:sp>
        <p:nvSpPr>
          <p:cNvPr id="4" name="Rectangle 3">
            <a:extLst>
              <a:ext uri="{FF2B5EF4-FFF2-40B4-BE49-F238E27FC236}">
                <a16:creationId xmlns:a16="http://schemas.microsoft.com/office/drawing/2014/main" id="{EDDF08F0-DBA6-4B6A-8238-B75787DECC5B}"/>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499A1020-8565-4BF0-A1E4-246590C58CF5}"/>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D7B4F3FD-3248-44E6-865C-D92EA2833340}"/>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Rộng rãi: không hạn chế số lượng nhà thầu.</a:t>
            </a:r>
          </a:p>
        </p:txBody>
      </p:sp>
      <p:sp>
        <p:nvSpPr>
          <p:cNvPr id="7" name="Rectangle 6">
            <a:extLst>
              <a:ext uri="{FF2B5EF4-FFF2-40B4-BE49-F238E27FC236}">
                <a16:creationId xmlns:a16="http://schemas.microsoft.com/office/drawing/2014/main" id="{4A5EE5A4-F0E1-44B4-BA98-64546A788D4D}"/>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EF921B15-ED71-42F0-903C-231DA4BE1879}"/>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Hạn chế: chỉ mời một số nhà thầu đáp ứng yêu cầu đặc thù hoặc yêu …</a:t>
            </a:r>
          </a:p>
        </p:txBody>
      </p:sp>
      <p:sp>
        <p:nvSpPr>
          <p:cNvPr id="9" name="Rectangle 8">
            <a:extLst>
              <a:ext uri="{FF2B5EF4-FFF2-40B4-BE49-F238E27FC236}">
                <a16:creationId xmlns:a16="http://schemas.microsoft.com/office/drawing/2014/main" id="{D911DB2F-8B85-4225-A27A-DE5ED8D0AD94}"/>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0AEB24B0-6242-4F54-839C-8E6BC1E08F49}"/>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Khi không áp dụng rộng rãi, hồ sơ trình KHLCNT phải nêu lý do.</a:t>
            </a:r>
          </a:p>
        </p:txBody>
      </p:sp>
      <p:sp>
        <p:nvSpPr>
          <p:cNvPr id="11" name="Rectangle 10">
            <a:extLst>
              <a:ext uri="{FF2B5EF4-FFF2-40B4-BE49-F238E27FC236}">
                <a16:creationId xmlns:a16="http://schemas.microsoft.com/office/drawing/2014/main" id="{474C5631-2AB7-4AEA-A1E6-67527FF0893D}"/>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6BBE06AB-EA12-404D-A2F0-50402BB35614}"/>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AEAA63B6-78A7-4A4A-AB28-394A86B36CD5}"/>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10</a:t>
            </a:r>
          </a:p>
        </p:txBody>
      </p:sp>
      <p:sp>
        <p:nvSpPr>
          <p:cNvPr id="14" name="Rectangle 13">
            <a:extLst>
              <a:ext uri="{FF2B5EF4-FFF2-40B4-BE49-F238E27FC236}">
                <a16:creationId xmlns:a16="http://schemas.microsoft.com/office/drawing/2014/main" id="{F1A3CAB3-9966-478B-8ECE-66F46F040495}"/>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307C9C31-0064-43DF-9454-EF94A1CDFF75}"/>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Rectangle 15">
            <a:extLst>
              <a:ext uri="{FF2B5EF4-FFF2-40B4-BE49-F238E27FC236}">
                <a16:creationId xmlns:a16="http://schemas.microsoft.com/office/drawing/2014/main" id="{F3ECFDC1-2D8B-4665-A0F2-515EC1BD53C7}"/>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21, Điều 22 Luật; Điều 12, Điều 13 Quy chế 2486.</a:t>
            </a:r>
          </a:p>
        </p:txBody>
      </p:sp>
    </p:spTree>
    <p:extLst>
      <p:ext uri="{BB962C8B-B14F-4D97-AF65-F5344CB8AC3E}">
        <p14:creationId xmlns:p14="http://schemas.microsoft.com/office/powerpoint/2010/main" val="16339550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9939EEC-5C07-4968-A2C5-D8853C788309}"/>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CHÀO HÀNG CẠNH TRANH VÀ CHÀO GIÁ TRỰC TUYẾN</a:t>
            </a:r>
          </a:p>
        </p:txBody>
      </p:sp>
      <p:sp>
        <p:nvSpPr>
          <p:cNvPr id="2" name="Rectangle 1">
            <a:extLst>
              <a:ext uri="{FF2B5EF4-FFF2-40B4-BE49-F238E27FC236}">
                <a16:creationId xmlns:a16="http://schemas.microsoft.com/office/drawing/2014/main" id="{94FFE562-0FBA-4888-A33D-2DC8AC485C6E}"/>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Không nhầm hai cơ chế “chào giá”.</a:t>
            </a:r>
          </a:p>
        </p:txBody>
      </p:sp>
      <p:sp>
        <p:nvSpPr>
          <p:cNvPr id="3" name="Rectangle 2">
            <a:extLst>
              <a:ext uri="{FF2B5EF4-FFF2-40B4-BE49-F238E27FC236}">
                <a16:creationId xmlns:a16="http://schemas.microsoft.com/office/drawing/2014/main" id="{F45A41D0-C5EE-4B83-8983-32EB6FBA20BC}"/>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chào hàng cạnh tranh theo đối tượng và hạn mức do Luật/VBHN quy định.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chào giá trực tuyến trên Cổng đấu thầu Viettel, giá thấp nhất, thời gian phiên xác định.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Cần tách HSMCG, HSCG, bước giá, thời điểm bắt đầu và thứ hạng.</a:t>
            </a:r>
          </a:p>
        </p:txBody>
      </p:sp>
      <p:sp>
        <p:nvSpPr>
          <p:cNvPr id="4" name="Rectangle 3">
            <a:extLst>
              <a:ext uri="{FF2B5EF4-FFF2-40B4-BE49-F238E27FC236}">
                <a16:creationId xmlns:a16="http://schemas.microsoft.com/office/drawing/2014/main" id="{E4EE8908-3C98-4667-A5BC-B0EA3E9A394B}"/>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F04005D8-1A56-4CFE-8B07-5BF7C5DAE462}"/>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A7D91B5B-E22A-44BA-8410-02998938E6C1}"/>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Luật: chào hàng cạnh tranh theo đối tượng và hạn mức do Luật/VBHN …</a:t>
            </a:r>
          </a:p>
        </p:txBody>
      </p:sp>
      <p:sp>
        <p:nvSpPr>
          <p:cNvPr id="7" name="Rectangle 6">
            <a:extLst>
              <a:ext uri="{FF2B5EF4-FFF2-40B4-BE49-F238E27FC236}">
                <a16:creationId xmlns:a16="http://schemas.microsoft.com/office/drawing/2014/main" id="{35E750EF-ED0B-4232-92B2-E4A9EB5B557C}"/>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0D5C6C8B-E249-44A8-8A67-B1E104ACCD01}"/>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Viettel: chào giá trực tuyến trên Cổng đấu thầu Viettel, giá thấp …</a:t>
            </a:r>
          </a:p>
        </p:txBody>
      </p:sp>
      <p:sp>
        <p:nvSpPr>
          <p:cNvPr id="9" name="Rectangle 8">
            <a:extLst>
              <a:ext uri="{FF2B5EF4-FFF2-40B4-BE49-F238E27FC236}">
                <a16:creationId xmlns:a16="http://schemas.microsoft.com/office/drawing/2014/main" id="{93188FAD-C58F-4479-A8CD-3434D116120B}"/>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3E960480-D915-4263-AD48-67D72AB1CDE9}"/>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Cần tách HSMCG, HSCG, bước giá, thời điểm bắt đầu và thứ hạng.</a:t>
            </a:r>
          </a:p>
        </p:txBody>
      </p:sp>
      <p:sp>
        <p:nvSpPr>
          <p:cNvPr id="11" name="Rectangle 10">
            <a:extLst>
              <a:ext uri="{FF2B5EF4-FFF2-40B4-BE49-F238E27FC236}">
                <a16:creationId xmlns:a16="http://schemas.microsoft.com/office/drawing/2014/main" id="{E5993013-9778-4C84-8AC4-C2BBA32967CB}"/>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1ACFE952-91EF-4E4A-973D-7116AD567079}"/>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B303FD81-D179-4095-A889-48155E032527}"/>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11</a:t>
            </a:r>
          </a:p>
        </p:txBody>
      </p:sp>
      <p:sp>
        <p:nvSpPr>
          <p:cNvPr id="14" name="Rectangle 13">
            <a:extLst>
              <a:ext uri="{FF2B5EF4-FFF2-40B4-BE49-F238E27FC236}">
                <a16:creationId xmlns:a16="http://schemas.microsoft.com/office/drawing/2014/main" id="{2704B49F-35A1-42CC-BCF3-DF21C79E73B5}"/>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5992D830-58DC-4049-B3E5-5A5DD30C2CA5}"/>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Rectangle 15">
            <a:extLst>
              <a:ext uri="{FF2B5EF4-FFF2-40B4-BE49-F238E27FC236}">
                <a16:creationId xmlns:a16="http://schemas.microsoft.com/office/drawing/2014/main" id="{774DEBC6-2EA3-4F69-B7EB-35E653FCB78A}"/>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24 Luật; Điều 14, 15 Quy chế 2486.</a:t>
            </a:r>
          </a:p>
        </p:txBody>
      </p:sp>
    </p:spTree>
    <p:extLst>
      <p:ext uri="{BB962C8B-B14F-4D97-AF65-F5344CB8AC3E}">
        <p14:creationId xmlns:p14="http://schemas.microsoft.com/office/powerpoint/2010/main" val="372509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72F7DDE-FA2D-40F0-8937-D62B0389AC9F}"/>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CHỈ ĐỊNH THẦU, MUA SẮM TRỰC TIẾP VÀ TỰ THỰC HIỆN</a:t>
            </a:r>
          </a:p>
        </p:txBody>
      </p:sp>
      <p:sp>
        <p:nvSpPr>
          <p:cNvPr id="2" name="Rectangle 1">
            <a:extLst>
              <a:ext uri="{FF2B5EF4-FFF2-40B4-BE49-F238E27FC236}">
                <a16:creationId xmlns:a16="http://schemas.microsoft.com/office/drawing/2014/main" id="{864B7544-0E10-4BD2-A670-C90B3560906E}"/>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Phân biệt ba đường tắt thường bị dùng sai.</a:t>
            </a:r>
          </a:p>
        </p:txBody>
      </p:sp>
      <p:sp>
        <p:nvSpPr>
          <p:cNvPr id="3" name="Rectangle 2">
            <a:extLst>
              <a:ext uri="{FF2B5EF4-FFF2-40B4-BE49-F238E27FC236}">
                <a16:creationId xmlns:a16="http://schemas.microsoft.com/office/drawing/2014/main" id="{49E2F628-D297-47DA-91B0-24443FE94343}"/>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Chỉ định thầu: giao một nhà thầu trong trường hợp đủ điều kiện.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Mua sắm trực tiếp: hàng hóa/dịch vụ tương tự, gắn với gói trước và điều kiện định lượng.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Tự thực hiện: chủ đầu tư trực tiếp quản lý, sử dụng và đáp ứng điều kiện nội bộ/pháp luật.</a:t>
            </a:r>
          </a:p>
        </p:txBody>
      </p:sp>
      <p:sp>
        <p:nvSpPr>
          <p:cNvPr id="4" name="Rectangle 3">
            <a:extLst>
              <a:ext uri="{FF2B5EF4-FFF2-40B4-BE49-F238E27FC236}">
                <a16:creationId xmlns:a16="http://schemas.microsoft.com/office/drawing/2014/main" id="{B74F40E8-59A1-44A3-A316-3D4B41681B11}"/>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5475919E-0E7C-40B2-8D21-9DE0B1EB9371}"/>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7B1EE71B-45CF-4CBB-8D9C-9B0477DB2DC7}"/>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Chỉ định thầu: giao một nhà thầu trong trường hợp đủ điều kiện.</a:t>
            </a:r>
          </a:p>
        </p:txBody>
      </p:sp>
      <p:sp>
        <p:nvSpPr>
          <p:cNvPr id="7" name="Rectangle 6">
            <a:extLst>
              <a:ext uri="{FF2B5EF4-FFF2-40B4-BE49-F238E27FC236}">
                <a16:creationId xmlns:a16="http://schemas.microsoft.com/office/drawing/2014/main" id="{B5C11765-E303-48CD-A73C-750B08FAF6AB}"/>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FE888CD1-7D59-464D-9ECC-BE0DE673EA38}"/>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Mua sắm trực tiếp: hàng hóa/dịch vụ tương tự, gắn với gói trước và…</a:t>
            </a:r>
          </a:p>
        </p:txBody>
      </p:sp>
      <p:sp>
        <p:nvSpPr>
          <p:cNvPr id="9" name="Rectangle 8">
            <a:extLst>
              <a:ext uri="{FF2B5EF4-FFF2-40B4-BE49-F238E27FC236}">
                <a16:creationId xmlns:a16="http://schemas.microsoft.com/office/drawing/2014/main" id="{921D4E49-33B7-4A48-9254-E2FFAE441B1C}"/>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58A34E64-BC78-440B-8DAE-F51A89D76482}"/>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Tự thực hiện: chủ đầu tư trực tiếp quản lý, sử dụng và đáp ứng điề…</a:t>
            </a:r>
          </a:p>
        </p:txBody>
      </p:sp>
      <p:sp>
        <p:nvSpPr>
          <p:cNvPr id="11" name="Rectangle 10">
            <a:extLst>
              <a:ext uri="{FF2B5EF4-FFF2-40B4-BE49-F238E27FC236}">
                <a16:creationId xmlns:a16="http://schemas.microsoft.com/office/drawing/2014/main" id="{BE0E61E4-EB99-4B89-8D4A-E1F8A4BBC87D}"/>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42E07454-2870-4B24-A0EC-011F03AB48BA}"/>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C5995A7B-7588-4DD2-AEBD-091FC0BD6E9E}"/>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12</a:t>
            </a:r>
          </a:p>
        </p:txBody>
      </p:sp>
      <p:sp>
        <p:nvSpPr>
          <p:cNvPr id="14" name="Rectangle 13">
            <a:extLst>
              <a:ext uri="{FF2B5EF4-FFF2-40B4-BE49-F238E27FC236}">
                <a16:creationId xmlns:a16="http://schemas.microsoft.com/office/drawing/2014/main" id="{48006926-254A-4315-8E93-4CDDF31E3D99}"/>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8E54D14B-839F-4F15-A230-6A20BBFEA9CF}"/>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Rectangle 15">
            <a:extLst>
              <a:ext uri="{FF2B5EF4-FFF2-40B4-BE49-F238E27FC236}">
                <a16:creationId xmlns:a16="http://schemas.microsoft.com/office/drawing/2014/main" id="{67666A3C-7A65-49C5-B19F-B69E93C5235D}"/>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23, 25, 26 Luật; Điều 16, 17, 21 Quy chế 2486.</a:t>
            </a:r>
          </a:p>
        </p:txBody>
      </p:sp>
    </p:spTree>
    <p:extLst>
      <p:ext uri="{BB962C8B-B14F-4D97-AF65-F5344CB8AC3E}">
        <p14:creationId xmlns:p14="http://schemas.microsoft.com/office/powerpoint/2010/main" val="19207157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8689631-3DCF-447A-8885-192515B67633}"/>
              </a:ext>
            </a:extLst>
          </p:cNvPr>
          <p:cNvSpPr>
            <a:spLocks noGrp="1"/>
          </p:cNvSpPr>
          <p:nvPr/>
        </p:nvSpPr>
        <p:spPr>
          <a:xfrm>
            <a:off x="590550" y="266700"/>
            <a:ext cx="7096125" cy="742950"/>
          </a:xfrm>
          <a:prstGeom prst="rect">
            <a:avLst/>
          </a:prstGeom>
          <a:noFill/>
          <a:ln w="0">
            <a:noFill/>
          </a:ln>
        </p:spPr>
        <p:txBody>
          <a:bodyPr anchor="t">
            <a:noAutofit/>
          </a:bodyPr>
          <a:lstStyle/>
          <a:p>
            <a:pPr>
              <a:defRPr sz="1800" b="1" i="0">
                <a:solidFill>
                  <a:srgbClr val="E6002D"/>
                </a:solidFill>
                <a:latin typeface="Arial"/>
                <a:ea typeface="Arial"/>
                <a:cs typeface="Arial"/>
              </a:defRPr>
            </a:pPr>
            <a:r>
              <a:rPr sz="1800" b="1" i="0">
                <a:solidFill>
                  <a:srgbClr val="E6002D"/>
                </a:solidFill>
                <a:latin typeface="Arial"/>
                <a:ea typeface="Arial"/>
                <a:cs typeface="Arial"/>
              </a:rPr>
              <a:t>ĐÀM PHÁN GIÁ, ĐÀM PHÁN TRỰC TIẾP, ĐẶT HÀNG VÀ GIAO NHIỆM VỤ</a:t>
            </a:r>
          </a:p>
        </p:txBody>
      </p:sp>
      <p:sp>
        <p:nvSpPr>
          <p:cNvPr id="2" name="Rectangle 1">
            <a:extLst>
              <a:ext uri="{FF2B5EF4-FFF2-40B4-BE49-F238E27FC236}">
                <a16:creationId xmlns:a16="http://schemas.microsoft.com/office/drawing/2014/main" id="{0435F28F-70DB-4E57-B619-D46E8D9397F7}"/>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Nhận diện các hình thức không thể gom thành chỉ định thầu.</a:t>
            </a:r>
          </a:p>
        </p:txBody>
      </p:sp>
      <p:sp>
        <p:nvSpPr>
          <p:cNvPr id="3" name="Rectangle 2">
            <a:extLst>
              <a:ext uri="{FF2B5EF4-FFF2-40B4-BE49-F238E27FC236}">
                <a16:creationId xmlns:a16="http://schemas.microsoft.com/office/drawing/2014/main" id="{BD7A265A-1098-43DD-9ECE-50DA702CDE1A}"/>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có đàm phán giá, đặt hàng và trường hợp đặc biệt theo căn cứ riêng.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có đàm phán trực tiếp, đặt hàng và giao nhiệm vụ theo Quy chế.</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Mỗi hình thức có danh sách nhà thầu, phương án, thẩm quyền và hồ sơ riêng.</a:t>
            </a:r>
          </a:p>
        </p:txBody>
      </p:sp>
      <p:sp>
        <p:nvSpPr>
          <p:cNvPr id="4" name="Rectangle 3">
            <a:extLst>
              <a:ext uri="{FF2B5EF4-FFF2-40B4-BE49-F238E27FC236}">
                <a16:creationId xmlns:a16="http://schemas.microsoft.com/office/drawing/2014/main" id="{06CCB641-E242-41D3-A2AE-24C842FDACD4}"/>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123B5515-2DF6-4AEE-9B5B-6BBB66EEEC7C}"/>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9660C428-09DC-4A78-B7A6-A4082922E258}"/>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Luật có đàm phán giá, đặt hàng và trường hợp đặc biệt theo căn cứ …</a:t>
            </a:r>
          </a:p>
        </p:txBody>
      </p:sp>
      <p:sp>
        <p:nvSpPr>
          <p:cNvPr id="7" name="Rectangle 6">
            <a:extLst>
              <a:ext uri="{FF2B5EF4-FFF2-40B4-BE49-F238E27FC236}">
                <a16:creationId xmlns:a16="http://schemas.microsoft.com/office/drawing/2014/main" id="{5FBE339C-709F-43EF-AD33-36DE398BF9A0}"/>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EF77EE56-D17F-4A39-8882-4E8DF3008203}"/>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Viettel có đàm phán trực tiếp, đặt hàng và giao nhiệm vụ theo Quy …</a:t>
            </a:r>
          </a:p>
        </p:txBody>
      </p:sp>
      <p:sp>
        <p:nvSpPr>
          <p:cNvPr id="9" name="Rectangle 8">
            <a:extLst>
              <a:ext uri="{FF2B5EF4-FFF2-40B4-BE49-F238E27FC236}">
                <a16:creationId xmlns:a16="http://schemas.microsoft.com/office/drawing/2014/main" id="{9F5D5BB2-5FAC-4A7E-82E5-A55B7B81AC95}"/>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44D468D8-8796-4919-875C-092655644EEA}"/>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Mỗi hình thức có danh sách nhà thầu, phương án, thẩm quyền và hồ s…</a:t>
            </a:r>
          </a:p>
        </p:txBody>
      </p:sp>
      <p:sp>
        <p:nvSpPr>
          <p:cNvPr id="11" name="Rectangle 10">
            <a:extLst>
              <a:ext uri="{FF2B5EF4-FFF2-40B4-BE49-F238E27FC236}">
                <a16:creationId xmlns:a16="http://schemas.microsoft.com/office/drawing/2014/main" id="{A3F59133-A7CB-48BF-98C5-86AD3A466018}"/>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5CC17C86-F9D8-46EC-9F2A-19D621D47DDB}"/>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0225E079-9FAF-4405-8097-B503370D3691}"/>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13</a:t>
            </a:r>
          </a:p>
        </p:txBody>
      </p:sp>
      <p:sp>
        <p:nvSpPr>
          <p:cNvPr id="14" name="Rectangle 13">
            <a:extLst>
              <a:ext uri="{FF2B5EF4-FFF2-40B4-BE49-F238E27FC236}">
                <a16:creationId xmlns:a16="http://schemas.microsoft.com/office/drawing/2014/main" id="{3FC6D6EE-6739-457F-9F19-61665BD9A0BA}"/>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A156F7C7-B65E-47CB-9860-875DCCEC3FD3}"/>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Rectangle 15">
            <a:extLst>
              <a:ext uri="{FF2B5EF4-FFF2-40B4-BE49-F238E27FC236}">
                <a16:creationId xmlns:a16="http://schemas.microsoft.com/office/drawing/2014/main" id="{06B22A84-F4B3-4B49-852D-0451C8E9AF4D}"/>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28-29a Luật; Điều 18-20, 22 Quy chế 2486.</a:t>
            </a:r>
          </a:p>
        </p:txBody>
      </p:sp>
    </p:spTree>
    <p:extLst>
      <p:ext uri="{BB962C8B-B14F-4D97-AF65-F5344CB8AC3E}">
        <p14:creationId xmlns:p14="http://schemas.microsoft.com/office/powerpoint/2010/main" val="16419699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644278D-3BC1-4F3C-9F19-F44C6D5B196A}"/>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PHƯƠNG THỨC THEO LUẬT</a:t>
            </a:r>
          </a:p>
        </p:txBody>
      </p:sp>
      <p:sp>
        <p:nvSpPr>
          <p:cNvPr id="2" name="Rectangle 1">
            <a:extLst>
              <a:ext uri="{FF2B5EF4-FFF2-40B4-BE49-F238E27FC236}">
                <a16:creationId xmlns:a16="http://schemas.microsoft.com/office/drawing/2014/main" id="{F5F80C98-4D83-4BF3-80BE-8A00133B1A9A}"/>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Hiểu khi nào dùng một hay hai túi hồ sơ.</a:t>
            </a:r>
          </a:p>
        </p:txBody>
      </p:sp>
      <p:sp>
        <p:nvSpPr>
          <p:cNvPr id="3" name="Rectangle 2">
            <a:extLst>
              <a:ext uri="{FF2B5EF4-FFF2-40B4-BE49-F238E27FC236}">
                <a16:creationId xmlns:a16="http://schemas.microsoft.com/office/drawing/2014/main" id="{02E7C7D7-3321-4116-832C-8370B5583F93}"/>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giai đoạn một túi hồ sơ: kỹ thuật và tài chính trong cùng bộ, mở một lần.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giai đoạn hai túi hồ sơ: kỹ thuật và tài chính tách biệt, mở tài chính sau kỹ thuật.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Hai giai đoạn một túi và hai túi: dùng khi chưa xác định đầy đủ yêu cầu kỹ thuật hoặc cần làm rõ ở giai đoạn đầu.</a:t>
            </a:r>
          </a:p>
        </p:txBody>
      </p:sp>
      <p:sp>
        <p:nvSpPr>
          <p:cNvPr id="4" name="Rectangle 3">
            <a:extLst>
              <a:ext uri="{FF2B5EF4-FFF2-40B4-BE49-F238E27FC236}">
                <a16:creationId xmlns:a16="http://schemas.microsoft.com/office/drawing/2014/main" id="{B4B2996C-25FD-4A64-9A36-1A45CFEE18C5}"/>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183010FF-CC01-4292-8E3E-E150258DA161}"/>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6C45310C-6A86-4843-94D2-C3D23C351994}"/>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Một giai đoạn một túi hồ sơ: kỹ thuật và tài chính trong cùng bộ, …</a:t>
            </a:r>
          </a:p>
        </p:txBody>
      </p:sp>
      <p:sp>
        <p:nvSpPr>
          <p:cNvPr id="7" name="Rectangle 6">
            <a:extLst>
              <a:ext uri="{FF2B5EF4-FFF2-40B4-BE49-F238E27FC236}">
                <a16:creationId xmlns:a16="http://schemas.microsoft.com/office/drawing/2014/main" id="{59A3C99F-32C5-4F60-8412-47949878EF7A}"/>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4C082C12-D137-452E-BE1D-3D15024501CA}"/>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Một giai đoạn hai túi hồ sơ: kỹ thuật và tài chính tách biệt, mở t…</a:t>
            </a:r>
          </a:p>
        </p:txBody>
      </p:sp>
      <p:sp>
        <p:nvSpPr>
          <p:cNvPr id="9" name="Rectangle 8">
            <a:extLst>
              <a:ext uri="{FF2B5EF4-FFF2-40B4-BE49-F238E27FC236}">
                <a16:creationId xmlns:a16="http://schemas.microsoft.com/office/drawing/2014/main" id="{713376E8-285D-4EDF-9AD4-270B955FAAA3}"/>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B44EB055-51A6-4F7B-912B-ED9D4AA64BF5}"/>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Hai giai đoạn một túi và hai túi: dùng khi chưa xác định đầy đủ yê…</a:t>
            </a:r>
          </a:p>
        </p:txBody>
      </p:sp>
      <p:sp>
        <p:nvSpPr>
          <p:cNvPr id="11" name="Rectangle 10">
            <a:extLst>
              <a:ext uri="{FF2B5EF4-FFF2-40B4-BE49-F238E27FC236}">
                <a16:creationId xmlns:a16="http://schemas.microsoft.com/office/drawing/2014/main" id="{9AC9ACF0-9842-4C32-B9B3-F065B6BEA675}"/>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DFCAD2D5-CB59-4BBF-9D0B-75CDCC3362EF}"/>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38188045-1116-4BE6-A00C-8B4B4A12770D}"/>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14</a:t>
            </a:r>
          </a:p>
        </p:txBody>
      </p:sp>
      <p:sp>
        <p:nvSpPr>
          <p:cNvPr id="14" name="Rectangle 13">
            <a:extLst>
              <a:ext uri="{FF2B5EF4-FFF2-40B4-BE49-F238E27FC236}">
                <a16:creationId xmlns:a16="http://schemas.microsoft.com/office/drawing/2014/main" id="{AD188574-2AAE-4653-9222-1126B184576A}"/>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9419BD26-34DC-4821-8857-2BA9C9DD0777}"/>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Rectangle 15">
            <a:extLst>
              <a:ext uri="{FF2B5EF4-FFF2-40B4-BE49-F238E27FC236}">
                <a16:creationId xmlns:a16="http://schemas.microsoft.com/office/drawing/2014/main" id="{24DA9826-0486-4930-A7D9-E14E40829ECF}"/>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30-33 Luật.</a:t>
            </a:r>
          </a:p>
        </p:txBody>
      </p:sp>
    </p:spTree>
    <p:extLst>
      <p:ext uri="{BB962C8B-B14F-4D97-AF65-F5344CB8AC3E}">
        <p14:creationId xmlns:p14="http://schemas.microsoft.com/office/powerpoint/2010/main" val="9476744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00B9C44-E2EF-4209-AF42-E9B41E22742E}"/>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PHƯƠNG THỨC THEO VIETTEL</a:t>
            </a:r>
          </a:p>
        </p:txBody>
      </p:sp>
      <p:sp>
        <p:nvSpPr>
          <p:cNvPr id="2" name="Rectangle 1">
            <a:extLst>
              <a:ext uri="{FF2B5EF4-FFF2-40B4-BE49-F238E27FC236}">
                <a16:creationId xmlns:a16="http://schemas.microsoft.com/office/drawing/2014/main" id="{4CDFAAAF-5B4B-4FCB-91A0-82732A547370}"/>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Đặt phương thức Viettel cạnh phương thức Luật.</a:t>
            </a:r>
          </a:p>
        </p:txBody>
      </p:sp>
      <p:sp>
        <p:nvSpPr>
          <p:cNvPr id="3" name="Rectangle 2">
            <a:extLst>
              <a:ext uri="{FF2B5EF4-FFF2-40B4-BE49-F238E27FC236}">
                <a16:creationId xmlns:a16="http://schemas.microsoft.com/office/drawing/2014/main" id="{54677D5D-C982-4D7C-93C3-ED60FC54521C}"/>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 giai đoạn 1 túi: rộng rãi, hạn chế, chào giá trực tuyến, chào hàng cạnh tranh, chỉ định thông thường, đặt hàng, giao nhiệm vụ.</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 giai đoạn 2 túi: kỹ thuật và tài chính riêng, mở hai lần; dùng cho tư vấn phức tạp/yêu cầu kỹ thuật cao.</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Việc chọn phương thức phải ghi trong KHLCNT/HSMT.</a:t>
            </a:r>
          </a:p>
        </p:txBody>
      </p:sp>
      <p:sp>
        <p:nvSpPr>
          <p:cNvPr id="4" name="Rectangle 3">
            <a:extLst>
              <a:ext uri="{FF2B5EF4-FFF2-40B4-BE49-F238E27FC236}">
                <a16:creationId xmlns:a16="http://schemas.microsoft.com/office/drawing/2014/main" id="{EC01D7B0-4C71-419D-BE13-B40B0A7F5A86}"/>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0DE969C9-B71D-45AE-A0C1-8BE706C0B0DE}"/>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4DD4FBFB-494C-41C9-9538-6BA60890E6B5}"/>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1 giai đoạn 1 túi: rộng rãi, hạn chế, chào giá trực tuyến, chào hà…</a:t>
            </a:r>
          </a:p>
        </p:txBody>
      </p:sp>
      <p:sp>
        <p:nvSpPr>
          <p:cNvPr id="7" name="Rectangle 6">
            <a:extLst>
              <a:ext uri="{FF2B5EF4-FFF2-40B4-BE49-F238E27FC236}">
                <a16:creationId xmlns:a16="http://schemas.microsoft.com/office/drawing/2014/main" id="{1E15A758-F86C-4C7E-9524-1C8B48C1580C}"/>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EA5552CC-3AC8-4C28-AED8-807857E8B2BD}"/>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1 giai đoạn 2 túi: kỹ thuật và tài chính riêng, mở hai lần; dùng c…</a:t>
            </a:r>
          </a:p>
        </p:txBody>
      </p:sp>
      <p:sp>
        <p:nvSpPr>
          <p:cNvPr id="9" name="Rectangle 8">
            <a:extLst>
              <a:ext uri="{FF2B5EF4-FFF2-40B4-BE49-F238E27FC236}">
                <a16:creationId xmlns:a16="http://schemas.microsoft.com/office/drawing/2014/main" id="{406A2937-0AD7-4E6C-BB91-1EDCBBC892A4}"/>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C083783E-CBC8-4AFB-AB2F-BDA92A587F45}"/>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Việc chọn phương thức phải ghi trong KHLCNT/HSMT.</a:t>
            </a:r>
          </a:p>
        </p:txBody>
      </p:sp>
      <p:sp>
        <p:nvSpPr>
          <p:cNvPr id="11" name="Rectangle 10">
            <a:extLst>
              <a:ext uri="{FF2B5EF4-FFF2-40B4-BE49-F238E27FC236}">
                <a16:creationId xmlns:a16="http://schemas.microsoft.com/office/drawing/2014/main" id="{87D340CA-E955-46EA-B56F-DB6C1FCC11C7}"/>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CE430021-6509-4F2E-9EBC-F1AFABC5BAB2}"/>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5D66B98D-2B35-4758-89EC-AF3AABF2EBC9}"/>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15</a:t>
            </a:r>
          </a:p>
        </p:txBody>
      </p:sp>
      <p:sp>
        <p:nvSpPr>
          <p:cNvPr id="14" name="Rectangle 13">
            <a:extLst>
              <a:ext uri="{FF2B5EF4-FFF2-40B4-BE49-F238E27FC236}">
                <a16:creationId xmlns:a16="http://schemas.microsoft.com/office/drawing/2014/main" id="{BD1F971E-40BF-4395-AA14-6E805B394270}"/>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BE96C475-8751-46AA-971C-1785577EE7B2}"/>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Rectangle 15">
            <a:extLst>
              <a:ext uri="{FF2B5EF4-FFF2-40B4-BE49-F238E27FC236}">
                <a16:creationId xmlns:a16="http://schemas.microsoft.com/office/drawing/2014/main" id="{3C5B5002-4FB4-41BC-BDB6-3B24521EDC6D}"/>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11 Quy chế 2486; HSMT 101, Chương IV.</a:t>
            </a:r>
          </a:p>
        </p:txBody>
      </p:sp>
    </p:spTree>
    <p:extLst>
      <p:ext uri="{BB962C8B-B14F-4D97-AF65-F5344CB8AC3E}">
        <p14:creationId xmlns:p14="http://schemas.microsoft.com/office/powerpoint/2010/main" val="15241664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C31E447C-DB41-4A96-8848-78E36EF2A842}"/>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HÌNH THỨC, PHƯƠNG THỨC, PHƯƠNG PHÁP: BA KHÁI NIỆM</a:t>
            </a:r>
          </a:p>
        </p:txBody>
      </p:sp>
      <p:sp>
        <p:nvSpPr>
          <p:cNvPr id="2" name="Rectangle 1">
            <a:extLst>
              <a:ext uri="{FF2B5EF4-FFF2-40B4-BE49-F238E27FC236}">
                <a16:creationId xmlns:a16="http://schemas.microsoft.com/office/drawing/2014/main" id="{0BB1E32C-F825-4708-A2EE-8798CAAD5031}"/>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Sửa lỗi dùng từ trong biên bản và HSMT.</a:t>
            </a:r>
          </a:p>
        </p:txBody>
      </p:sp>
      <p:sp>
        <p:nvSpPr>
          <p:cNvPr id="3" name="Rectangle 2">
            <a:extLst>
              <a:ext uri="{FF2B5EF4-FFF2-40B4-BE49-F238E27FC236}">
                <a16:creationId xmlns:a16="http://schemas.microsoft.com/office/drawing/2014/main" id="{4892F48C-714B-41C6-B0CC-85C367398677}"/>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Hình thức: cách mời/chọn.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thức: cách nộp và mở hồ sơ theo giai đoạn/túi.</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pháp đánh giá: giá thấp nhất, giá đánh giá, kỹ thuật, kỹ thuật và giá, đạt/không đạt.</a:t>
            </a:r>
          </a:p>
        </p:txBody>
      </p:sp>
      <p:sp>
        <p:nvSpPr>
          <p:cNvPr id="4" name="Rectangle 3">
            <a:extLst>
              <a:ext uri="{FF2B5EF4-FFF2-40B4-BE49-F238E27FC236}">
                <a16:creationId xmlns:a16="http://schemas.microsoft.com/office/drawing/2014/main" id="{7971BD37-5799-4055-8389-D91CA21181C2}"/>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DB5F058E-5961-4667-A38F-27F3E8EEB7AA}"/>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4AFAA743-1CB2-49A0-8011-311C269CFA4C}"/>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Hình thức: cách mời/chọn.</a:t>
            </a:r>
          </a:p>
        </p:txBody>
      </p:sp>
      <p:sp>
        <p:nvSpPr>
          <p:cNvPr id="7" name="Rectangle 6">
            <a:extLst>
              <a:ext uri="{FF2B5EF4-FFF2-40B4-BE49-F238E27FC236}">
                <a16:creationId xmlns:a16="http://schemas.microsoft.com/office/drawing/2014/main" id="{F8311C2D-2050-4029-9CBB-4136294D17D9}"/>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0A6FDB63-AB99-4AB2-814A-3D382A4B6A29}"/>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Phương thức: cách nộp và mở hồ sơ theo giai đoạn/túi.</a:t>
            </a:r>
          </a:p>
        </p:txBody>
      </p:sp>
      <p:sp>
        <p:nvSpPr>
          <p:cNvPr id="9" name="Rectangle 8">
            <a:extLst>
              <a:ext uri="{FF2B5EF4-FFF2-40B4-BE49-F238E27FC236}">
                <a16:creationId xmlns:a16="http://schemas.microsoft.com/office/drawing/2014/main" id="{35BD2ACB-620D-4605-93F4-5594E0B08310}"/>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AB00C19F-8945-4C0F-92C8-3669C5ECE2D1}"/>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Phương pháp đánh giá: giá thấp nhất, giá đánh giá, kỹ thuật, kỹ th…</a:t>
            </a:r>
          </a:p>
        </p:txBody>
      </p:sp>
      <p:sp>
        <p:nvSpPr>
          <p:cNvPr id="11" name="Rectangle 10">
            <a:extLst>
              <a:ext uri="{FF2B5EF4-FFF2-40B4-BE49-F238E27FC236}">
                <a16:creationId xmlns:a16="http://schemas.microsoft.com/office/drawing/2014/main" id="{A7B52EBC-F3F3-403E-A4C6-84FEBE9161CD}"/>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8AD5D72D-ECA5-4C7D-AA83-26DEEF4C4FBD}"/>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29DE8D99-C578-4B97-B091-2FA10A3A738D}"/>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16</a:t>
            </a:r>
          </a:p>
        </p:txBody>
      </p:sp>
      <p:sp>
        <p:nvSpPr>
          <p:cNvPr id="14" name="Rectangle 13">
            <a:extLst>
              <a:ext uri="{FF2B5EF4-FFF2-40B4-BE49-F238E27FC236}">
                <a16:creationId xmlns:a16="http://schemas.microsoft.com/office/drawing/2014/main" id="{05AC1B8D-20B0-43F7-B464-57B6D11A3F11}"/>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D300D0C4-099F-4BC8-8E5E-81C40E6619CA}"/>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 HÌNH THỨC VÀ PHƯƠNG THỨC</a:t>
            </a:r>
          </a:p>
        </p:txBody>
      </p:sp>
      <p:sp>
        <p:nvSpPr>
          <p:cNvPr id="16" name="Rectangle 15">
            <a:extLst>
              <a:ext uri="{FF2B5EF4-FFF2-40B4-BE49-F238E27FC236}">
                <a16:creationId xmlns:a16="http://schemas.microsoft.com/office/drawing/2014/main" id="{5D643F22-BDA9-42F9-AE37-4AAD137C72CD}"/>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20, 30, 58 Luật; E-CDNT 29.1 HSMT Cần Thơ; Chương III HSMT 101.</a:t>
            </a:r>
          </a:p>
        </p:txBody>
      </p:sp>
    </p:spTree>
    <p:extLst>
      <p:ext uri="{BB962C8B-B14F-4D97-AF65-F5344CB8AC3E}">
        <p14:creationId xmlns:p14="http://schemas.microsoft.com/office/powerpoint/2010/main" val="9973908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3D478C3-FB9C-4352-BE8D-47D92C44DCC6}"/>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NGÀY VÀ NGÀY LÀM VIỆC</a:t>
            </a:r>
          </a:p>
        </p:txBody>
      </p:sp>
      <p:sp>
        <p:nvSpPr>
          <p:cNvPr id="2" name="Rectangle 1">
            <a:extLst>
              <a:ext uri="{FF2B5EF4-FFF2-40B4-BE49-F238E27FC236}">
                <a16:creationId xmlns:a16="http://schemas.microsoft.com/office/drawing/2014/main" id="{5453AE8F-BE59-43D9-9AD5-0A6FE9261E43}"/>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Tránh lỗi cộng ngày.</a:t>
            </a:r>
          </a:p>
        </p:txBody>
      </p:sp>
      <p:sp>
        <p:nvSpPr>
          <p:cNvPr id="3" name="Rectangle 2">
            <a:extLst>
              <a:ext uri="{FF2B5EF4-FFF2-40B4-BE49-F238E27FC236}">
                <a16:creationId xmlns:a16="http://schemas.microsoft.com/office/drawing/2014/main" id="{19D4CD11-DC58-412F-80A5-7B10DB49D7D1}"/>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“Ngày” theo HSMT E-CDNT 2.2 bao gồm cuối tuần, lễ, Tết theo pháp luật lao động.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“Ngày làm việc” loại trừ ngày nghỉ theo quy định áp dụng.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Thời gian trên Hệ thống là GMT+7.</a:t>
            </a:r>
          </a:p>
        </p:txBody>
      </p:sp>
      <p:sp>
        <p:nvSpPr>
          <p:cNvPr id="4" name="Rectangle 3">
            <a:extLst>
              <a:ext uri="{FF2B5EF4-FFF2-40B4-BE49-F238E27FC236}">
                <a16:creationId xmlns:a16="http://schemas.microsoft.com/office/drawing/2014/main" id="{B82C659F-D361-4369-BBF3-622CD385A63E}"/>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5EC2B40B-99D8-453F-BAE1-143CC60B227A}"/>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C40CDA25-0FCD-4530-9DA5-310EC7A4DA22}"/>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“Ngày” theo HSMT E-CDNT 2.2 bao gồm cuối tuần, lễ, Tết theo pháp l…</a:t>
            </a:r>
          </a:p>
        </p:txBody>
      </p:sp>
      <p:sp>
        <p:nvSpPr>
          <p:cNvPr id="7" name="Rectangle 6">
            <a:extLst>
              <a:ext uri="{FF2B5EF4-FFF2-40B4-BE49-F238E27FC236}">
                <a16:creationId xmlns:a16="http://schemas.microsoft.com/office/drawing/2014/main" id="{A68BBB40-5708-4F4D-8CEA-60ADA03407C1}"/>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914C679B-6DDB-48A7-B1BC-E81072B7FF46}"/>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“Ngày làm việc” loại trừ ngày nghỉ theo quy định áp dụng.</a:t>
            </a:r>
          </a:p>
        </p:txBody>
      </p:sp>
      <p:sp>
        <p:nvSpPr>
          <p:cNvPr id="9" name="Rectangle 8">
            <a:extLst>
              <a:ext uri="{FF2B5EF4-FFF2-40B4-BE49-F238E27FC236}">
                <a16:creationId xmlns:a16="http://schemas.microsoft.com/office/drawing/2014/main" id="{D646C14C-2C86-44E0-85D7-12D778FE947E}"/>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38386A53-896A-45F6-9DEA-1FE4876BA527}"/>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Thời gian trên Hệ thống là GMT+7.</a:t>
            </a:r>
          </a:p>
        </p:txBody>
      </p:sp>
      <p:sp>
        <p:nvSpPr>
          <p:cNvPr id="11" name="Rectangle 10">
            <a:extLst>
              <a:ext uri="{FF2B5EF4-FFF2-40B4-BE49-F238E27FC236}">
                <a16:creationId xmlns:a16="http://schemas.microsoft.com/office/drawing/2014/main" id="{0A25FF69-9430-4AD0-9B35-EB310C92F8EF}"/>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6996CC4E-1309-450A-9317-059A2E0CB6EC}"/>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5A1B53DE-CC0C-45FE-8015-6A7191837375}"/>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17</a:t>
            </a:r>
          </a:p>
        </p:txBody>
      </p:sp>
      <p:sp>
        <p:nvSpPr>
          <p:cNvPr id="14" name="Rectangle 13">
            <a:extLst>
              <a:ext uri="{FF2B5EF4-FFF2-40B4-BE49-F238E27FC236}">
                <a16:creationId xmlns:a16="http://schemas.microsoft.com/office/drawing/2014/main" id="{30A84482-6664-48A9-BB64-9AB6C0E84D5B}"/>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5256A3AB-4FE6-43A8-A967-A4AE203265E5}"/>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Rectangle 15">
            <a:extLst>
              <a:ext uri="{FF2B5EF4-FFF2-40B4-BE49-F238E27FC236}">
                <a16:creationId xmlns:a16="http://schemas.microsoft.com/office/drawing/2014/main" id="{62BEB4D4-9909-4563-9144-E380E6D0EE67}"/>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E-CDNT 2.2-2.3 HSMT Cần Thơ; Điều 31 Quy chế 2486.</a:t>
            </a:r>
          </a:p>
        </p:txBody>
      </p:sp>
    </p:spTree>
    <p:extLst>
      <p:ext uri="{BB962C8B-B14F-4D97-AF65-F5344CB8AC3E}">
        <p14:creationId xmlns:p14="http://schemas.microsoft.com/office/powerpoint/2010/main" val="562982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45543088-EBF0-4814-8C7A-38743A1B6A68}"/>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TIMELINE LUẬT: TỪ PHÁT HÀNH ĐẾN MỞ THẦU</a:t>
            </a:r>
          </a:p>
        </p:txBody>
      </p:sp>
      <p:sp>
        <p:nvSpPr>
          <p:cNvPr id="2" name="Rectangle 1">
            <a:extLst>
              <a:ext uri="{FF2B5EF4-FFF2-40B4-BE49-F238E27FC236}">
                <a16:creationId xmlns:a16="http://schemas.microsoft.com/office/drawing/2014/main" id="{42BA3B07-F58B-4F1F-A9E9-173B43883F32}"/>
              </a:ext>
            </a:extLst>
          </p:cNvPr>
          <p:cNvSpPr>
            <a:spLocks noGrp="1"/>
          </p:cNvSpPr>
          <p:nvPr/>
        </p:nvSpPr>
        <p:spPr>
          <a:xfrm>
            <a:off x="666750" y="1000125"/>
            <a:ext cx="10763250" cy="523875"/>
          </a:xfrm>
          <a:prstGeom prst="rect">
            <a:avLst/>
          </a:prstGeom>
          <a:noFill/>
          <a:ln w="0">
            <a:noFill/>
          </a:ln>
        </p:spPr>
        <p:txBody>
          <a:bodyPr anchor="ctr">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Nắm chuỗi mốc chính theo Luật/VBHN.</a:t>
            </a:r>
          </a:p>
        </p:txBody>
      </p:sp>
      <p:sp>
        <p:nvSpPr>
          <p:cNvPr id="3" name="Straight Connector 2">
            <a:extLst>
              <a:ext uri="{FF2B5EF4-FFF2-40B4-BE49-F238E27FC236}">
                <a16:creationId xmlns:a16="http://schemas.microsoft.com/office/drawing/2014/main" id="{586E9B7E-92A6-48AE-B1C0-62F3106955D4}"/>
              </a:ext>
            </a:extLst>
          </p:cNvPr>
          <p:cNvSpPr>
            <a:spLocks noGrp="1"/>
          </p:cNvSpPr>
          <p:nvPr/>
        </p:nvSpPr>
        <p:spPr>
          <a:xfrm>
            <a:off x="1047750" y="3286125"/>
            <a:ext cx="10096500" cy="0"/>
          </a:xfrm>
          <a:prstGeom prst="line">
            <a:avLst/>
          </a:prstGeom>
          <a:noFill/>
          <a:ln w="28575">
            <a:solidFill>
              <a:srgbClr val="E6002D"/>
            </a:solidFill>
            <a:prstDash val="solid"/>
          </a:ln>
        </p:spPr>
        <p:txBody>
          <a:bodyPr/>
          <a:lstStyle/>
          <a:p>
            <a:endParaRPr lang="vi-VN"/>
          </a:p>
        </p:txBody>
      </p:sp>
      <p:sp>
        <p:nvSpPr>
          <p:cNvPr id="4" name="Oval 3">
            <a:extLst>
              <a:ext uri="{FF2B5EF4-FFF2-40B4-BE49-F238E27FC236}">
                <a16:creationId xmlns:a16="http://schemas.microsoft.com/office/drawing/2014/main" id="{F2FA1402-3E01-4149-9270-5FA2FD6F1465}"/>
              </a:ext>
            </a:extLst>
          </p:cNvPr>
          <p:cNvSpPr>
            <a:spLocks noGrp="1"/>
          </p:cNvSpPr>
          <p:nvPr/>
        </p:nvSpPr>
        <p:spPr>
          <a:xfrm>
            <a:off x="895350" y="3133725"/>
            <a:ext cx="304800" cy="304800"/>
          </a:xfrm>
          <a:prstGeom prst="ellipse">
            <a:avLst/>
          </a:prstGeom>
          <a:solidFill>
            <a:srgbClr val="E6002D"/>
          </a:solidFill>
          <a:ln w="28575">
            <a:solidFill>
              <a:srgbClr val="FFFFFF"/>
            </a:solidFill>
          </a:ln>
        </p:spPr>
        <p:txBody>
          <a:bodyPr/>
          <a:lstStyle/>
          <a:p>
            <a:endParaRPr lang="vi-VN"/>
          </a:p>
        </p:txBody>
      </p:sp>
      <p:sp>
        <p:nvSpPr>
          <p:cNvPr id="5" name="Rectangle 4">
            <a:extLst>
              <a:ext uri="{FF2B5EF4-FFF2-40B4-BE49-F238E27FC236}">
                <a16:creationId xmlns:a16="http://schemas.microsoft.com/office/drawing/2014/main" id="{7DC395E8-48A6-42E0-96E9-55856AD10BB7}"/>
              </a:ext>
            </a:extLst>
          </p:cNvPr>
          <p:cNvSpPr>
            <a:spLocks noGrp="1"/>
          </p:cNvSpPr>
          <p:nvPr/>
        </p:nvSpPr>
        <p:spPr>
          <a:xfrm>
            <a:off x="95250" y="2333625"/>
            <a:ext cx="1905000" cy="666750"/>
          </a:xfrm>
          <a:prstGeom prst="rect">
            <a:avLst/>
          </a:prstGeom>
          <a:noFill/>
          <a:ln w="0">
            <a:noFill/>
          </a:ln>
        </p:spPr>
        <p:txBody>
          <a:bodyPr anchor="ctr">
            <a:noAutofit/>
          </a:bodyPr>
          <a:lstStyle/>
          <a:p>
            <a:pPr>
              <a:defRPr sz="1200" b="1" i="0">
                <a:solidFill>
                  <a:srgbClr val="1B1B1B"/>
                </a:solidFill>
                <a:latin typeface="Arial"/>
                <a:ea typeface="Arial"/>
                <a:cs typeface="Arial"/>
              </a:defRPr>
            </a:pPr>
            <a:r>
              <a:rPr sz="1200" b="1" i="0">
                <a:solidFill>
                  <a:srgbClr val="1B1B1B"/>
                </a:solidFill>
                <a:latin typeface="Arial"/>
                <a:ea typeface="Arial"/>
                <a:cs typeface="Arial"/>
              </a:rPr>
              <a:t>Phát hành HSMT/E-HSMT.</a:t>
            </a:r>
          </a:p>
        </p:txBody>
      </p:sp>
      <p:sp>
        <p:nvSpPr>
          <p:cNvPr id="6" name="Oval 5">
            <a:extLst>
              <a:ext uri="{FF2B5EF4-FFF2-40B4-BE49-F238E27FC236}">
                <a16:creationId xmlns:a16="http://schemas.microsoft.com/office/drawing/2014/main" id="{6E8181E1-109E-4348-8E7C-09F52983DF28}"/>
              </a:ext>
            </a:extLst>
          </p:cNvPr>
          <p:cNvSpPr>
            <a:spLocks noGrp="1"/>
          </p:cNvSpPr>
          <p:nvPr/>
        </p:nvSpPr>
        <p:spPr>
          <a:xfrm>
            <a:off x="4260850" y="3133725"/>
            <a:ext cx="304800" cy="304800"/>
          </a:xfrm>
          <a:prstGeom prst="ellipse">
            <a:avLst/>
          </a:prstGeom>
          <a:solidFill>
            <a:srgbClr val="E6002D"/>
          </a:solidFill>
          <a:ln w="28575">
            <a:solidFill>
              <a:srgbClr val="FFFFFF"/>
            </a:solidFill>
          </a:ln>
        </p:spPr>
        <p:txBody>
          <a:bodyPr/>
          <a:lstStyle/>
          <a:p>
            <a:endParaRPr lang="vi-VN"/>
          </a:p>
        </p:txBody>
      </p:sp>
      <p:sp>
        <p:nvSpPr>
          <p:cNvPr id="7" name="Rectangle 6">
            <a:extLst>
              <a:ext uri="{FF2B5EF4-FFF2-40B4-BE49-F238E27FC236}">
                <a16:creationId xmlns:a16="http://schemas.microsoft.com/office/drawing/2014/main" id="{B407F8FB-0E13-4DCC-827A-6A3B5DF3B805}"/>
              </a:ext>
            </a:extLst>
          </p:cNvPr>
          <p:cNvSpPr>
            <a:spLocks noGrp="1"/>
          </p:cNvSpPr>
          <p:nvPr/>
        </p:nvSpPr>
        <p:spPr>
          <a:xfrm>
            <a:off x="3460750" y="3552825"/>
            <a:ext cx="1905000" cy="666750"/>
          </a:xfrm>
          <a:prstGeom prst="rect">
            <a:avLst/>
          </a:prstGeom>
          <a:noFill/>
          <a:ln w="0">
            <a:noFill/>
          </a:ln>
        </p:spPr>
        <p:txBody>
          <a:bodyPr anchor="ctr">
            <a:noAutofit/>
          </a:bodyPr>
          <a:lstStyle/>
          <a:p>
            <a:pPr>
              <a:defRPr sz="1200" b="1" i="0">
                <a:solidFill>
                  <a:srgbClr val="1B1B1B"/>
                </a:solidFill>
                <a:latin typeface="Arial"/>
                <a:ea typeface="Arial"/>
                <a:cs typeface="Arial"/>
              </a:defRPr>
            </a:pPr>
            <a:r>
              <a:rPr sz="1200" b="1" i="0">
                <a:solidFill>
                  <a:srgbClr val="1B1B1B"/>
                </a:solidFill>
                <a:latin typeface="Arial"/>
                <a:ea typeface="Arial"/>
                <a:cs typeface="Arial"/>
              </a:rPr>
              <a:t>Chuẩn bị HSDT: phân biệt trong nước/quốc tế và loại hồ sơ.</a:t>
            </a:r>
          </a:p>
        </p:txBody>
      </p:sp>
      <p:sp>
        <p:nvSpPr>
          <p:cNvPr id="8" name="Oval 7">
            <a:extLst>
              <a:ext uri="{FF2B5EF4-FFF2-40B4-BE49-F238E27FC236}">
                <a16:creationId xmlns:a16="http://schemas.microsoft.com/office/drawing/2014/main" id="{B9C8F2BC-E41C-447C-9767-4A92F0B47C79}"/>
              </a:ext>
            </a:extLst>
          </p:cNvPr>
          <p:cNvSpPr>
            <a:spLocks noGrp="1"/>
          </p:cNvSpPr>
          <p:nvPr/>
        </p:nvSpPr>
        <p:spPr>
          <a:xfrm>
            <a:off x="7626350" y="3133725"/>
            <a:ext cx="304800" cy="304800"/>
          </a:xfrm>
          <a:prstGeom prst="ellipse">
            <a:avLst/>
          </a:prstGeom>
          <a:solidFill>
            <a:srgbClr val="E6002D"/>
          </a:solidFill>
          <a:ln w="28575">
            <a:solidFill>
              <a:srgbClr val="FFFFFF"/>
            </a:solidFill>
          </a:ln>
        </p:spPr>
        <p:txBody>
          <a:bodyPr/>
          <a:lstStyle/>
          <a:p>
            <a:endParaRPr lang="vi-VN"/>
          </a:p>
        </p:txBody>
      </p:sp>
      <p:sp>
        <p:nvSpPr>
          <p:cNvPr id="9" name="Rectangle 8">
            <a:extLst>
              <a:ext uri="{FF2B5EF4-FFF2-40B4-BE49-F238E27FC236}">
                <a16:creationId xmlns:a16="http://schemas.microsoft.com/office/drawing/2014/main" id="{0725C61B-366A-454B-89B1-3FFCDD85CEA6}"/>
              </a:ext>
            </a:extLst>
          </p:cNvPr>
          <p:cNvSpPr>
            <a:spLocks noGrp="1"/>
          </p:cNvSpPr>
          <p:nvPr/>
        </p:nvSpPr>
        <p:spPr>
          <a:xfrm>
            <a:off x="6826250" y="2333625"/>
            <a:ext cx="1905000" cy="666750"/>
          </a:xfrm>
          <a:prstGeom prst="rect">
            <a:avLst/>
          </a:prstGeom>
          <a:noFill/>
          <a:ln w="0">
            <a:noFill/>
          </a:ln>
        </p:spPr>
        <p:txBody>
          <a:bodyPr anchor="ctr">
            <a:noAutofit/>
          </a:bodyPr>
          <a:lstStyle/>
          <a:p>
            <a:pPr>
              <a:defRPr sz="1200" b="1" i="0">
                <a:solidFill>
                  <a:srgbClr val="1B1B1B"/>
                </a:solidFill>
                <a:latin typeface="Arial"/>
                <a:ea typeface="Arial"/>
                <a:cs typeface="Arial"/>
              </a:defRPr>
            </a:pPr>
            <a:r>
              <a:rPr sz="1200" b="1" i="0">
                <a:solidFill>
                  <a:srgbClr val="1B1B1B"/>
                </a:solidFill>
                <a:latin typeface="Arial"/>
                <a:ea typeface="Arial"/>
                <a:cs typeface="Arial"/>
              </a:rPr>
              <a:t>Yêu cầu làm rõ, trả lời làm rõ, sửa đổi HSMT.</a:t>
            </a:r>
          </a:p>
        </p:txBody>
      </p:sp>
      <p:sp>
        <p:nvSpPr>
          <p:cNvPr id="10" name="Oval 9">
            <a:extLst>
              <a:ext uri="{FF2B5EF4-FFF2-40B4-BE49-F238E27FC236}">
                <a16:creationId xmlns:a16="http://schemas.microsoft.com/office/drawing/2014/main" id="{D1B5699C-89F7-458B-8CD3-FC562D31EF80}"/>
              </a:ext>
            </a:extLst>
          </p:cNvPr>
          <p:cNvSpPr>
            <a:spLocks noGrp="1"/>
          </p:cNvSpPr>
          <p:nvPr/>
        </p:nvSpPr>
        <p:spPr>
          <a:xfrm>
            <a:off x="10991850" y="3133725"/>
            <a:ext cx="304800" cy="304800"/>
          </a:xfrm>
          <a:prstGeom prst="ellipse">
            <a:avLst/>
          </a:prstGeom>
          <a:solidFill>
            <a:srgbClr val="E6002D"/>
          </a:solidFill>
          <a:ln w="28575">
            <a:solidFill>
              <a:srgbClr val="FFFFFF"/>
            </a:solidFill>
          </a:ln>
        </p:spPr>
        <p:txBody>
          <a:bodyPr/>
          <a:lstStyle/>
          <a:p>
            <a:endParaRPr lang="vi-VN"/>
          </a:p>
        </p:txBody>
      </p:sp>
      <p:sp>
        <p:nvSpPr>
          <p:cNvPr id="11" name="Rectangle 10">
            <a:extLst>
              <a:ext uri="{FF2B5EF4-FFF2-40B4-BE49-F238E27FC236}">
                <a16:creationId xmlns:a16="http://schemas.microsoft.com/office/drawing/2014/main" id="{1B0588BC-C942-4A3B-B65D-A1D30E375304}"/>
              </a:ext>
            </a:extLst>
          </p:cNvPr>
          <p:cNvSpPr>
            <a:spLocks noGrp="1"/>
          </p:cNvSpPr>
          <p:nvPr/>
        </p:nvSpPr>
        <p:spPr>
          <a:xfrm>
            <a:off x="10191750" y="3552825"/>
            <a:ext cx="1905000" cy="666750"/>
          </a:xfrm>
          <a:prstGeom prst="rect">
            <a:avLst/>
          </a:prstGeom>
          <a:noFill/>
          <a:ln w="0">
            <a:noFill/>
          </a:ln>
        </p:spPr>
        <p:txBody>
          <a:bodyPr anchor="ctr">
            <a:noAutofit/>
          </a:bodyPr>
          <a:lstStyle/>
          <a:p>
            <a:pPr>
              <a:defRPr sz="1200" b="1" i="0">
                <a:solidFill>
                  <a:srgbClr val="1B1B1B"/>
                </a:solidFill>
                <a:latin typeface="Arial"/>
                <a:ea typeface="Arial"/>
                <a:cs typeface="Arial"/>
              </a:defRPr>
            </a:pPr>
            <a:r>
              <a:rPr sz="1200" b="1" i="0">
                <a:solidFill>
                  <a:srgbClr val="1B1B1B"/>
                </a:solidFill>
                <a:latin typeface="Arial"/>
                <a:ea typeface="Arial"/>
                <a:cs typeface="Arial"/>
              </a:rPr>
              <a:t>Đóng thầu, mở thầu, đăng tải biên bản/kết quả theo căn cứ …</a:t>
            </a:r>
          </a:p>
        </p:txBody>
      </p:sp>
      <p:sp>
        <p:nvSpPr>
          <p:cNvPr id="12" name="Rectangle 11">
            <a:extLst>
              <a:ext uri="{FF2B5EF4-FFF2-40B4-BE49-F238E27FC236}">
                <a16:creationId xmlns:a16="http://schemas.microsoft.com/office/drawing/2014/main" id="{BAA60A10-BB17-4C4C-8806-80FD1CBADEA2}"/>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3" name="Rectangle: Rounded Corners 12">
            <a:extLst>
              <a:ext uri="{FF2B5EF4-FFF2-40B4-BE49-F238E27FC236}">
                <a16:creationId xmlns:a16="http://schemas.microsoft.com/office/drawing/2014/main" id="{7AF87ED8-B4F2-4F2C-A49C-FACE02AD7456}"/>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4" name="Rectangle 13">
            <a:extLst>
              <a:ext uri="{FF2B5EF4-FFF2-40B4-BE49-F238E27FC236}">
                <a16:creationId xmlns:a16="http://schemas.microsoft.com/office/drawing/2014/main" id="{DD6D2106-8DE4-45EE-9E2C-E471FA050301}"/>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18</a:t>
            </a:r>
          </a:p>
        </p:txBody>
      </p:sp>
      <p:sp>
        <p:nvSpPr>
          <p:cNvPr id="15" name="Rectangle 14">
            <a:extLst>
              <a:ext uri="{FF2B5EF4-FFF2-40B4-BE49-F238E27FC236}">
                <a16:creationId xmlns:a16="http://schemas.microsoft.com/office/drawing/2014/main" id="{5FBB9ADC-261C-4C05-96E5-83D49FE3132C}"/>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Rectangle 15">
            <a:extLst>
              <a:ext uri="{FF2B5EF4-FFF2-40B4-BE49-F238E27FC236}">
                <a16:creationId xmlns:a16="http://schemas.microsoft.com/office/drawing/2014/main" id="{8826E29C-8E7D-47A1-B8F1-CBBF7E77ACAD}"/>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7" name="Rectangle 16">
            <a:extLst>
              <a:ext uri="{FF2B5EF4-FFF2-40B4-BE49-F238E27FC236}">
                <a16:creationId xmlns:a16="http://schemas.microsoft.com/office/drawing/2014/main" id="{7B5BB1DB-D5CD-4242-9C4C-6BC40598EC46}"/>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VBHN 36/2026, phần thời gian tổ chức lựa chọn nhà thầu; Mục 7 E-CDNT HSMT Cần Thơ.</a:t>
            </a:r>
          </a:p>
        </p:txBody>
      </p:sp>
    </p:spTree>
    <p:extLst>
      <p:ext uri="{BB962C8B-B14F-4D97-AF65-F5344CB8AC3E}">
        <p14:creationId xmlns:p14="http://schemas.microsoft.com/office/powerpoint/2010/main" val="5786373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05A13A8-D4BC-404D-A15A-BB620F730EBB}"/>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TIMELINE VIETTEL: TỪ HSMT ĐẾN KQLCNT</a:t>
            </a:r>
          </a:p>
        </p:txBody>
      </p:sp>
      <p:sp>
        <p:nvSpPr>
          <p:cNvPr id="2" name="Rectangle 1">
            <a:extLst>
              <a:ext uri="{FF2B5EF4-FFF2-40B4-BE49-F238E27FC236}">
                <a16:creationId xmlns:a16="http://schemas.microsoft.com/office/drawing/2014/main" id="{B82AC5F7-8295-4BC3-8CED-974030CAF290}"/>
              </a:ext>
            </a:extLst>
          </p:cNvPr>
          <p:cNvSpPr>
            <a:spLocks noGrp="1"/>
          </p:cNvSpPr>
          <p:nvPr/>
        </p:nvSpPr>
        <p:spPr>
          <a:xfrm>
            <a:off x="666750" y="1000125"/>
            <a:ext cx="10763250" cy="523875"/>
          </a:xfrm>
          <a:prstGeom prst="rect">
            <a:avLst/>
          </a:prstGeom>
          <a:noFill/>
          <a:ln w="0">
            <a:noFill/>
          </a:ln>
        </p:spPr>
        <p:txBody>
          <a:bodyPr anchor="ctr">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Nắm các mốc nội bộ Viettel đã xác minh.</a:t>
            </a:r>
          </a:p>
        </p:txBody>
      </p:sp>
      <p:sp>
        <p:nvSpPr>
          <p:cNvPr id="3" name="Straight Connector 2">
            <a:extLst>
              <a:ext uri="{FF2B5EF4-FFF2-40B4-BE49-F238E27FC236}">
                <a16:creationId xmlns:a16="http://schemas.microsoft.com/office/drawing/2014/main" id="{7E4D4894-0B54-4BAF-AF75-049AB75E659B}"/>
              </a:ext>
            </a:extLst>
          </p:cNvPr>
          <p:cNvSpPr>
            <a:spLocks noGrp="1"/>
          </p:cNvSpPr>
          <p:nvPr/>
        </p:nvSpPr>
        <p:spPr>
          <a:xfrm>
            <a:off x="1047750" y="3286125"/>
            <a:ext cx="10096500" cy="0"/>
          </a:xfrm>
          <a:prstGeom prst="line">
            <a:avLst/>
          </a:prstGeom>
          <a:noFill/>
          <a:ln w="28575">
            <a:solidFill>
              <a:srgbClr val="E6002D"/>
            </a:solidFill>
            <a:prstDash val="solid"/>
          </a:ln>
        </p:spPr>
        <p:txBody>
          <a:bodyPr/>
          <a:lstStyle/>
          <a:p>
            <a:endParaRPr lang="vi-VN"/>
          </a:p>
        </p:txBody>
      </p:sp>
      <p:sp>
        <p:nvSpPr>
          <p:cNvPr id="4" name="Oval 3">
            <a:extLst>
              <a:ext uri="{FF2B5EF4-FFF2-40B4-BE49-F238E27FC236}">
                <a16:creationId xmlns:a16="http://schemas.microsoft.com/office/drawing/2014/main" id="{F5BB16E2-7C9B-47B8-966D-5C20FC10096E}"/>
              </a:ext>
            </a:extLst>
          </p:cNvPr>
          <p:cNvSpPr>
            <a:spLocks noGrp="1"/>
          </p:cNvSpPr>
          <p:nvPr/>
        </p:nvSpPr>
        <p:spPr>
          <a:xfrm>
            <a:off x="895350" y="3133725"/>
            <a:ext cx="304800" cy="304800"/>
          </a:xfrm>
          <a:prstGeom prst="ellipse">
            <a:avLst/>
          </a:prstGeom>
          <a:solidFill>
            <a:srgbClr val="E6002D"/>
          </a:solidFill>
          <a:ln w="28575">
            <a:solidFill>
              <a:srgbClr val="FFFFFF"/>
            </a:solidFill>
          </a:ln>
        </p:spPr>
        <p:txBody>
          <a:bodyPr/>
          <a:lstStyle/>
          <a:p>
            <a:endParaRPr lang="vi-VN"/>
          </a:p>
        </p:txBody>
      </p:sp>
      <p:sp>
        <p:nvSpPr>
          <p:cNvPr id="5" name="Rectangle 4">
            <a:extLst>
              <a:ext uri="{FF2B5EF4-FFF2-40B4-BE49-F238E27FC236}">
                <a16:creationId xmlns:a16="http://schemas.microsoft.com/office/drawing/2014/main" id="{D6AC61B7-850E-4B3C-8503-A9649D64BB7C}"/>
              </a:ext>
            </a:extLst>
          </p:cNvPr>
          <p:cNvSpPr>
            <a:spLocks noGrp="1"/>
          </p:cNvSpPr>
          <p:nvPr/>
        </p:nvSpPr>
        <p:spPr>
          <a:xfrm>
            <a:off x="95250" y="2333625"/>
            <a:ext cx="1905000" cy="666750"/>
          </a:xfrm>
          <a:prstGeom prst="rect">
            <a:avLst/>
          </a:prstGeom>
          <a:noFill/>
          <a:ln w="0">
            <a:noFill/>
          </a:ln>
        </p:spPr>
        <p:txBody>
          <a:bodyPr anchor="ctr">
            <a:noAutofit/>
          </a:bodyPr>
          <a:lstStyle/>
          <a:p>
            <a:pPr>
              <a:defRPr sz="1200" b="1" i="0">
                <a:solidFill>
                  <a:srgbClr val="1B1B1B"/>
                </a:solidFill>
                <a:latin typeface="Arial"/>
                <a:ea typeface="Arial"/>
                <a:cs typeface="Arial"/>
              </a:defRPr>
            </a:pPr>
            <a:r>
              <a:rPr sz="1200" b="1" i="0">
                <a:solidFill>
                  <a:srgbClr val="1B1B1B"/>
                </a:solidFill>
                <a:latin typeface="Arial"/>
                <a:ea typeface="Arial"/>
                <a:cs typeface="Arial"/>
              </a:rPr>
              <a:t>Chuẩn bị HSDT tối thiểu 07 ngày làm việc trong nước, 14 ng…</a:t>
            </a:r>
          </a:p>
        </p:txBody>
      </p:sp>
      <p:sp>
        <p:nvSpPr>
          <p:cNvPr id="6" name="Oval 5">
            <a:extLst>
              <a:ext uri="{FF2B5EF4-FFF2-40B4-BE49-F238E27FC236}">
                <a16:creationId xmlns:a16="http://schemas.microsoft.com/office/drawing/2014/main" id="{1714FB53-EC70-46E9-AE38-65522CEB74D1}"/>
              </a:ext>
            </a:extLst>
          </p:cNvPr>
          <p:cNvSpPr>
            <a:spLocks noGrp="1"/>
          </p:cNvSpPr>
          <p:nvPr/>
        </p:nvSpPr>
        <p:spPr>
          <a:xfrm>
            <a:off x="4260850" y="3133725"/>
            <a:ext cx="304800" cy="304800"/>
          </a:xfrm>
          <a:prstGeom prst="ellipse">
            <a:avLst/>
          </a:prstGeom>
          <a:solidFill>
            <a:srgbClr val="E6002D"/>
          </a:solidFill>
          <a:ln w="28575">
            <a:solidFill>
              <a:srgbClr val="FFFFFF"/>
            </a:solidFill>
          </a:ln>
        </p:spPr>
        <p:txBody>
          <a:bodyPr/>
          <a:lstStyle/>
          <a:p>
            <a:endParaRPr lang="vi-VN"/>
          </a:p>
        </p:txBody>
      </p:sp>
      <p:sp>
        <p:nvSpPr>
          <p:cNvPr id="7" name="Rectangle 6">
            <a:extLst>
              <a:ext uri="{FF2B5EF4-FFF2-40B4-BE49-F238E27FC236}">
                <a16:creationId xmlns:a16="http://schemas.microsoft.com/office/drawing/2014/main" id="{9D1373DF-B5DD-4690-B7B7-EFED02E62E51}"/>
              </a:ext>
            </a:extLst>
          </p:cNvPr>
          <p:cNvSpPr>
            <a:spLocks noGrp="1"/>
          </p:cNvSpPr>
          <p:nvPr/>
        </p:nvSpPr>
        <p:spPr>
          <a:xfrm>
            <a:off x="3460750" y="3552825"/>
            <a:ext cx="1905000" cy="666750"/>
          </a:xfrm>
          <a:prstGeom prst="rect">
            <a:avLst/>
          </a:prstGeom>
          <a:noFill/>
          <a:ln w="0">
            <a:noFill/>
          </a:ln>
        </p:spPr>
        <p:txBody>
          <a:bodyPr anchor="ctr">
            <a:noAutofit/>
          </a:bodyPr>
          <a:lstStyle/>
          <a:p>
            <a:pPr>
              <a:defRPr sz="1200" b="1" i="0">
                <a:solidFill>
                  <a:srgbClr val="1B1B1B"/>
                </a:solidFill>
                <a:latin typeface="Arial"/>
                <a:ea typeface="Arial"/>
                <a:cs typeface="Arial"/>
              </a:defRPr>
            </a:pPr>
            <a:r>
              <a:rPr sz="1200" b="1" i="0">
                <a:solidFill>
                  <a:srgbClr val="1B1B1B"/>
                </a:solidFill>
                <a:latin typeface="Arial"/>
                <a:ea typeface="Arial"/>
                <a:cs typeface="Arial"/>
              </a:rPr>
              <a:t>Chuẩn bị HSĐX/HSCG/HSBG tối thiểu 03 ngày làm việc.</a:t>
            </a:r>
          </a:p>
        </p:txBody>
      </p:sp>
      <p:sp>
        <p:nvSpPr>
          <p:cNvPr id="8" name="Oval 7">
            <a:extLst>
              <a:ext uri="{FF2B5EF4-FFF2-40B4-BE49-F238E27FC236}">
                <a16:creationId xmlns:a16="http://schemas.microsoft.com/office/drawing/2014/main" id="{113716D8-192A-49D8-8804-00196B7C02EB}"/>
              </a:ext>
            </a:extLst>
          </p:cNvPr>
          <p:cNvSpPr>
            <a:spLocks noGrp="1"/>
          </p:cNvSpPr>
          <p:nvPr/>
        </p:nvSpPr>
        <p:spPr>
          <a:xfrm>
            <a:off x="7626350" y="3133725"/>
            <a:ext cx="304800" cy="304800"/>
          </a:xfrm>
          <a:prstGeom prst="ellipse">
            <a:avLst/>
          </a:prstGeom>
          <a:solidFill>
            <a:srgbClr val="E6002D"/>
          </a:solidFill>
          <a:ln w="28575">
            <a:solidFill>
              <a:srgbClr val="FFFFFF"/>
            </a:solidFill>
          </a:ln>
        </p:spPr>
        <p:txBody>
          <a:bodyPr/>
          <a:lstStyle/>
          <a:p>
            <a:endParaRPr lang="vi-VN"/>
          </a:p>
        </p:txBody>
      </p:sp>
      <p:sp>
        <p:nvSpPr>
          <p:cNvPr id="9" name="Rectangle 8">
            <a:extLst>
              <a:ext uri="{FF2B5EF4-FFF2-40B4-BE49-F238E27FC236}">
                <a16:creationId xmlns:a16="http://schemas.microsoft.com/office/drawing/2014/main" id="{63288E97-668F-4E5D-8C02-A96CB9F55D2C}"/>
              </a:ext>
            </a:extLst>
          </p:cNvPr>
          <p:cNvSpPr>
            <a:spLocks noGrp="1"/>
          </p:cNvSpPr>
          <p:nvPr/>
        </p:nvSpPr>
        <p:spPr>
          <a:xfrm>
            <a:off x="6826250" y="2333625"/>
            <a:ext cx="1905000" cy="666750"/>
          </a:xfrm>
          <a:prstGeom prst="rect">
            <a:avLst/>
          </a:prstGeom>
          <a:noFill/>
          <a:ln w="0">
            <a:noFill/>
          </a:ln>
        </p:spPr>
        <p:txBody>
          <a:bodyPr anchor="ctr">
            <a:noAutofit/>
          </a:bodyPr>
          <a:lstStyle/>
          <a:p>
            <a:pPr>
              <a:defRPr sz="1200" b="1" i="0">
                <a:solidFill>
                  <a:srgbClr val="1B1B1B"/>
                </a:solidFill>
                <a:latin typeface="Arial"/>
                <a:ea typeface="Arial"/>
                <a:cs typeface="Arial"/>
              </a:defRPr>
            </a:pPr>
            <a:r>
              <a:rPr sz="1200" b="1" i="0">
                <a:solidFill>
                  <a:srgbClr val="1B1B1B"/>
                </a:solidFill>
                <a:latin typeface="Arial"/>
                <a:ea typeface="Arial"/>
                <a:cs typeface="Arial"/>
              </a:rPr>
              <a:t>Sửa HSMT tối thiểu 03 ngày làm việc trong nước, 05 ngày qu…</a:t>
            </a:r>
          </a:p>
        </p:txBody>
      </p:sp>
      <p:sp>
        <p:nvSpPr>
          <p:cNvPr id="10" name="Oval 9">
            <a:extLst>
              <a:ext uri="{FF2B5EF4-FFF2-40B4-BE49-F238E27FC236}">
                <a16:creationId xmlns:a16="http://schemas.microsoft.com/office/drawing/2014/main" id="{6387DE9B-4D18-4BEE-8F19-0164E55F7488}"/>
              </a:ext>
            </a:extLst>
          </p:cNvPr>
          <p:cNvSpPr>
            <a:spLocks noGrp="1"/>
          </p:cNvSpPr>
          <p:nvPr/>
        </p:nvSpPr>
        <p:spPr>
          <a:xfrm>
            <a:off x="10991850" y="3133725"/>
            <a:ext cx="304800" cy="304800"/>
          </a:xfrm>
          <a:prstGeom prst="ellipse">
            <a:avLst/>
          </a:prstGeom>
          <a:solidFill>
            <a:srgbClr val="E6002D"/>
          </a:solidFill>
          <a:ln w="28575">
            <a:solidFill>
              <a:srgbClr val="FFFFFF"/>
            </a:solidFill>
          </a:ln>
        </p:spPr>
        <p:txBody>
          <a:bodyPr/>
          <a:lstStyle/>
          <a:p>
            <a:endParaRPr lang="vi-VN"/>
          </a:p>
        </p:txBody>
      </p:sp>
      <p:sp>
        <p:nvSpPr>
          <p:cNvPr id="11" name="Rectangle 10">
            <a:extLst>
              <a:ext uri="{FF2B5EF4-FFF2-40B4-BE49-F238E27FC236}">
                <a16:creationId xmlns:a16="http://schemas.microsoft.com/office/drawing/2014/main" id="{337A5EC9-E2BC-456E-AABE-2C6654370032}"/>
              </a:ext>
            </a:extLst>
          </p:cNvPr>
          <p:cNvSpPr>
            <a:spLocks noGrp="1"/>
          </p:cNvSpPr>
          <p:nvPr/>
        </p:nvSpPr>
        <p:spPr>
          <a:xfrm>
            <a:off x="10191750" y="3552825"/>
            <a:ext cx="1905000" cy="666750"/>
          </a:xfrm>
          <a:prstGeom prst="rect">
            <a:avLst/>
          </a:prstGeom>
          <a:noFill/>
          <a:ln w="0">
            <a:noFill/>
          </a:ln>
        </p:spPr>
        <p:txBody>
          <a:bodyPr anchor="ctr">
            <a:noAutofit/>
          </a:bodyPr>
          <a:lstStyle/>
          <a:p>
            <a:pPr>
              <a:defRPr sz="1200" b="1" i="0">
                <a:solidFill>
                  <a:srgbClr val="1B1B1B"/>
                </a:solidFill>
                <a:latin typeface="Arial"/>
                <a:ea typeface="Arial"/>
                <a:cs typeface="Arial"/>
              </a:defRPr>
            </a:pPr>
            <a:r>
              <a:rPr sz="1200" b="1" i="0">
                <a:solidFill>
                  <a:srgbClr val="1B1B1B"/>
                </a:solidFill>
                <a:latin typeface="Arial"/>
                <a:ea typeface="Arial"/>
                <a:cs typeface="Arial"/>
              </a:rPr>
              <a:t>Mở thầu công khai trong vòng 02 giờ; hiệu lực hồ sơ tối đa…</a:t>
            </a:r>
          </a:p>
        </p:txBody>
      </p:sp>
      <p:sp>
        <p:nvSpPr>
          <p:cNvPr id="12" name="Rectangle 11">
            <a:extLst>
              <a:ext uri="{FF2B5EF4-FFF2-40B4-BE49-F238E27FC236}">
                <a16:creationId xmlns:a16="http://schemas.microsoft.com/office/drawing/2014/main" id="{401AD767-62F4-4D48-83FA-5F67EAE5339A}"/>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3" name="Rectangle: Rounded Corners 12">
            <a:extLst>
              <a:ext uri="{FF2B5EF4-FFF2-40B4-BE49-F238E27FC236}">
                <a16:creationId xmlns:a16="http://schemas.microsoft.com/office/drawing/2014/main" id="{AA3671BF-03CC-4DE5-A0BA-63471A969600}"/>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4" name="Rectangle 13">
            <a:extLst>
              <a:ext uri="{FF2B5EF4-FFF2-40B4-BE49-F238E27FC236}">
                <a16:creationId xmlns:a16="http://schemas.microsoft.com/office/drawing/2014/main" id="{3DAD5131-0C56-45F1-9FB6-E394D7569015}"/>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19</a:t>
            </a:r>
          </a:p>
        </p:txBody>
      </p:sp>
      <p:sp>
        <p:nvSpPr>
          <p:cNvPr id="15" name="Rectangle 14">
            <a:extLst>
              <a:ext uri="{FF2B5EF4-FFF2-40B4-BE49-F238E27FC236}">
                <a16:creationId xmlns:a16="http://schemas.microsoft.com/office/drawing/2014/main" id="{7319C477-811B-4004-99CE-6603841CB183}"/>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Rectangle 15">
            <a:extLst>
              <a:ext uri="{FF2B5EF4-FFF2-40B4-BE49-F238E27FC236}">
                <a16:creationId xmlns:a16="http://schemas.microsoft.com/office/drawing/2014/main" id="{CE462BBB-784B-4E6C-91C1-B8F9A39E5D80}"/>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7" name="Rectangle 16">
            <a:extLst>
              <a:ext uri="{FF2B5EF4-FFF2-40B4-BE49-F238E27FC236}">
                <a16:creationId xmlns:a16="http://schemas.microsoft.com/office/drawing/2014/main" id="{5016739F-0245-4659-8111-B2566C997621}"/>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31 Quy chế 2486.</a:t>
            </a:r>
          </a:p>
        </p:txBody>
      </p:sp>
    </p:spTree>
    <p:extLst>
      <p:ext uri="{BB962C8B-B14F-4D97-AF65-F5344CB8AC3E}">
        <p14:creationId xmlns:p14="http://schemas.microsoft.com/office/powerpoint/2010/main" val="120632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33D279F-BF78-48C3-B4C9-1029EF60CC42}"/>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MASTER TIMELINE SO SÁNH</a:t>
            </a:r>
          </a:p>
        </p:txBody>
      </p:sp>
      <p:graphicFrame>
        <p:nvGraphicFramePr>
          <p:cNvPr id="10" name="Table 9"/>
          <p:cNvGraphicFramePr/>
          <p:nvPr/>
        </p:nvGraphicFramePr>
        <p:xfrm>
          <a:off x="523875" y="1190625"/>
          <a:ext cx="11144250" cy="2933700"/>
        </p:xfrm>
        <a:graphic>
          <a:graphicData uri="http://schemas.openxmlformats.org/drawingml/2006/table">
            <a:tbl>
              <a:tblPr firstRow="1"/>
              <a:tblGrid>
                <a:gridCol w="2333625">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gridCol w="1619250">
                  <a:extLst>
                    <a:ext uri="{9D8B030D-6E8A-4147-A177-3AD203B41FA5}">
                      <a16:colId xmlns:a16="http://schemas.microsoft.com/office/drawing/2014/main" val="20003"/>
                    </a:ext>
                  </a:extLst>
                </a:gridCol>
              </a:tblGrid>
              <a:tr h="488950">
                <a:tc>
                  <a:txBody>
                    <a:bodyPr/>
                    <a:lstStyle/>
                    <a:p>
                      <a:r>
                        <a:rPr sz="1200" b="1">
                          <a:solidFill>
                            <a:srgbClr val="FFFFFF"/>
                          </a:solidFill>
                          <a:latin typeface="Arial"/>
                          <a:ea typeface="Arial"/>
                          <a:cs typeface="Arial"/>
                        </a:rPr>
                        <a:t>Mốc</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Luật/VBHN</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Viettel</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Trạng thái</a:t>
                      </a:r>
                    </a:p>
                  </a:txBody>
                  <a:tcPr marL="76200" marR="76200" marT="47625" marB="47625" anchor="ctr">
                    <a:solidFill>
                      <a:srgbClr val="E6002D"/>
                    </a:solidFill>
                  </a:tcPr>
                </a:tc>
                <a:extLst>
                  <a:ext uri="{0D108BD9-81ED-4DB2-BD59-A6C34878D82A}">
                    <a16:rowId xmlns:a16="http://schemas.microsoft.com/office/drawing/2014/main" val="10000"/>
                  </a:ext>
                </a:extLst>
              </a:tr>
              <a:tr h="488950">
                <a:tc>
                  <a:txBody>
                    <a:bodyPr/>
                    <a:lstStyle/>
                    <a:p>
                      <a:r>
                        <a:rPr sz="1125">
                          <a:solidFill>
                            <a:srgbClr val="1B1B1B"/>
                          </a:solidFill>
                          <a:latin typeface="Arial"/>
                          <a:ea typeface="Arial"/>
                          <a:cs typeface="Arial"/>
                        </a:rPr>
                        <a:t>Chuẩn bị HSDT</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VBHN/mẫu áp dụng</a:t>
                      </a:r>
                    </a:p>
                  </a:txBody>
                  <a:tcPr marL="76200" marR="76200" marT="38100" marB="38100" anchor="ctr">
                    <a:solidFill>
                      <a:srgbClr val="FFFFFF"/>
                    </a:solidFill>
                  </a:tcPr>
                </a:tc>
                <a:tc>
                  <a:txBody>
                    <a:bodyPr/>
                    <a:lstStyle/>
                    <a:p>
                      <a:r>
                        <a:rPr sz="1125">
                          <a:solidFill>
                            <a:srgbClr val="1B1B1B"/>
                          </a:solidFill>
                          <a:latin typeface="Arial"/>
                          <a:ea typeface="Arial"/>
                          <a:cs typeface="Arial"/>
                        </a:rPr>
                        <a:t>07/14 ngày làm việc</a:t>
                      </a:r>
                    </a:p>
                  </a:txBody>
                  <a:tcPr marL="76200" marR="76200" marT="38100" marB="38100" anchor="ctr">
                    <a:solidFill>
                      <a:srgbClr val="FFFFFF"/>
                    </a:solidFill>
                  </a:tcPr>
                </a:tc>
                <a:tc>
                  <a:txBody>
                    <a:bodyPr/>
                    <a:lstStyle/>
                    <a:p>
                      <a:r>
                        <a:rPr sz="1125">
                          <a:solidFill>
                            <a:srgbClr val="1B1B1B"/>
                          </a:solidFill>
                          <a:latin typeface="Arial"/>
                          <a:ea typeface="Arial"/>
                          <a:cs typeface="Arial"/>
                        </a:rPr>
                        <a:t>Luật cần xác minh điều</a:t>
                      </a:r>
                    </a:p>
                  </a:txBody>
                  <a:tcPr marL="76200" marR="76200" marT="38100" marB="38100" anchor="ctr">
                    <a:solidFill>
                      <a:srgbClr val="FFFFFF"/>
                    </a:solidFill>
                  </a:tcPr>
                </a:tc>
                <a:extLst>
                  <a:ext uri="{0D108BD9-81ED-4DB2-BD59-A6C34878D82A}">
                    <a16:rowId xmlns:a16="http://schemas.microsoft.com/office/drawing/2014/main" val="10001"/>
                  </a:ext>
                </a:extLst>
              </a:tr>
              <a:tr h="488950">
                <a:tc>
                  <a:txBody>
                    <a:bodyPr/>
                    <a:lstStyle/>
                    <a:p>
                      <a:r>
                        <a:rPr sz="1125">
                          <a:solidFill>
                            <a:srgbClr val="1B1B1B"/>
                          </a:solidFill>
                          <a:latin typeface="Arial"/>
                          <a:ea typeface="Arial"/>
                          <a:cs typeface="Arial"/>
                        </a:rPr>
                        <a:t>HSĐX/HSCG/HSBG</a:t>
                      </a:r>
                    </a:p>
                  </a:txBody>
                  <a:tcPr marL="76200" marR="76200" marT="38100" marB="38100" anchor="ctr">
                    <a:solidFill>
                      <a:srgbClr val="F5F5F5"/>
                    </a:solidFill>
                  </a:tcPr>
                </a:tc>
                <a:tc>
                  <a:txBody>
                    <a:bodyPr/>
                    <a:lstStyle/>
                    <a:p>
                      <a:r>
                        <a:rPr sz="1125">
                          <a:solidFill>
                            <a:srgbClr val="1B1B1B"/>
                          </a:solidFill>
                          <a:latin typeface="Arial"/>
                          <a:ea typeface="Arial"/>
                          <a:cs typeface="Arial"/>
                        </a:rPr>
                        <a:t>Theo loại gói</a:t>
                      </a:r>
                    </a:p>
                  </a:txBody>
                  <a:tcPr marL="76200" marR="76200" marT="38100" marB="38100" anchor="ctr">
                    <a:solidFill>
                      <a:srgbClr val="F5F5F5"/>
                    </a:solidFill>
                  </a:tcPr>
                </a:tc>
                <a:tc>
                  <a:txBody>
                    <a:bodyPr/>
                    <a:lstStyle/>
                    <a:p>
                      <a:r>
                        <a:rPr sz="1125">
                          <a:solidFill>
                            <a:srgbClr val="1B1B1B"/>
                          </a:solidFill>
                          <a:latin typeface="Arial"/>
                          <a:ea typeface="Arial"/>
                          <a:cs typeface="Arial"/>
                        </a:rPr>
                        <a:t>03 ngày làm việc</a:t>
                      </a:r>
                    </a:p>
                  </a:txBody>
                  <a:tcPr marL="76200" marR="76200" marT="38100" marB="38100" anchor="ctr">
                    <a:solidFill>
                      <a:srgbClr val="F5F5F5"/>
                    </a:solidFill>
                  </a:tcPr>
                </a:tc>
                <a:tc>
                  <a:txBody>
                    <a:bodyPr/>
                    <a:lstStyle/>
                    <a:p>
                      <a:r>
                        <a:rPr sz="1125">
                          <a:solidFill>
                            <a:srgbClr val="1B1B1B"/>
                          </a:solidFill>
                          <a:latin typeface="Arial"/>
                          <a:ea typeface="Arial"/>
                          <a:cs typeface="Arial"/>
                        </a:rPr>
                        <a:t>Viettel</a:t>
                      </a:r>
                    </a:p>
                  </a:txBody>
                  <a:tcPr marL="76200" marR="76200" marT="38100" marB="38100" anchor="ctr">
                    <a:solidFill>
                      <a:srgbClr val="F5F5F5"/>
                    </a:solidFill>
                  </a:tcPr>
                </a:tc>
                <a:extLst>
                  <a:ext uri="{0D108BD9-81ED-4DB2-BD59-A6C34878D82A}">
                    <a16:rowId xmlns:a16="http://schemas.microsoft.com/office/drawing/2014/main" val="10002"/>
                  </a:ext>
                </a:extLst>
              </a:tr>
              <a:tr h="488950">
                <a:tc>
                  <a:txBody>
                    <a:bodyPr/>
                    <a:lstStyle/>
                    <a:p>
                      <a:r>
                        <a:rPr sz="1125">
                          <a:solidFill>
                            <a:srgbClr val="1B1B1B"/>
                          </a:solidFill>
                          <a:latin typeface="Arial"/>
                          <a:ea typeface="Arial"/>
                          <a:cs typeface="Arial"/>
                        </a:rPr>
                        <a:t>Sửa HSMT</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quy định áp dụng</a:t>
                      </a:r>
                    </a:p>
                  </a:txBody>
                  <a:tcPr marL="76200" marR="76200" marT="38100" marB="38100" anchor="ctr">
                    <a:solidFill>
                      <a:srgbClr val="FFFFFF"/>
                    </a:solidFill>
                  </a:tcPr>
                </a:tc>
                <a:tc>
                  <a:txBody>
                    <a:bodyPr/>
                    <a:lstStyle/>
                    <a:p>
                      <a:r>
                        <a:rPr sz="1125">
                          <a:solidFill>
                            <a:srgbClr val="1B1B1B"/>
                          </a:solidFill>
                          <a:latin typeface="Arial"/>
                          <a:ea typeface="Arial"/>
                          <a:cs typeface="Arial"/>
                        </a:rPr>
                        <a:t>03/05 ngày làm việc</a:t>
                      </a:r>
                    </a:p>
                  </a:txBody>
                  <a:tcPr marL="76200" marR="76200" marT="38100" marB="38100" anchor="ctr">
                    <a:solidFill>
                      <a:srgbClr val="FFFFFF"/>
                    </a:solidFill>
                  </a:tcPr>
                </a:tc>
                <a:tc>
                  <a:txBody>
                    <a:bodyPr/>
                    <a:lstStyle/>
                    <a:p>
                      <a:r>
                        <a:rPr sz="1125">
                          <a:solidFill>
                            <a:srgbClr val="1B1B1B"/>
                          </a:solidFill>
                          <a:latin typeface="Arial"/>
                          <a:ea typeface="Arial"/>
                          <a:cs typeface="Arial"/>
                        </a:rPr>
                        <a:t>/</a:t>
                      </a:r>
                    </a:p>
                  </a:txBody>
                  <a:tcPr marL="76200" marR="76200" marT="38100" marB="38100" anchor="ctr">
                    <a:solidFill>
                      <a:srgbClr val="FFFFFF"/>
                    </a:solidFill>
                  </a:tcPr>
                </a:tc>
                <a:extLst>
                  <a:ext uri="{0D108BD9-81ED-4DB2-BD59-A6C34878D82A}">
                    <a16:rowId xmlns:a16="http://schemas.microsoft.com/office/drawing/2014/main" val="10003"/>
                  </a:ext>
                </a:extLst>
              </a:tr>
              <a:tr h="488950">
                <a:tc>
                  <a:txBody>
                    <a:bodyPr/>
                    <a:lstStyle/>
                    <a:p>
                      <a:r>
                        <a:rPr sz="1125">
                          <a:solidFill>
                            <a:srgbClr val="1B1B1B"/>
                          </a:solidFill>
                          <a:latin typeface="Arial"/>
                          <a:ea typeface="Arial"/>
                          <a:cs typeface="Arial"/>
                        </a:rPr>
                        <a:t>Mở thầu</a:t>
                      </a:r>
                    </a:p>
                  </a:txBody>
                  <a:tcPr marL="76200" marR="76200" marT="38100" marB="38100" anchor="ctr">
                    <a:solidFill>
                      <a:srgbClr val="F5F5F5"/>
                    </a:solidFill>
                  </a:tcPr>
                </a:tc>
                <a:tc>
                  <a:txBody>
                    <a:bodyPr/>
                    <a:lstStyle/>
                    <a:p>
                      <a:r>
                        <a:rPr sz="1125">
                          <a:solidFill>
                            <a:srgbClr val="1B1B1B"/>
                          </a:solidFill>
                          <a:latin typeface="Arial"/>
                          <a:ea typeface="Arial"/>
                          <a:cs typeface="Arial"/>
                        </a:rPr>
                        <a:t>Theo Hệ thống/quy định</a:t>
                      </a:r>
                    </a:p>
                  </a:txBody>
                  <a:tcPr marL="76200" marR="76200" marT="38100" marB="38100" anchor="ctr">
                    <a:solidFill>
                      <a:srgbClr val="F5F5F5"/>
                    </a:solidFill>
                  </a:tcPr>
                </a:tc>
                <a:tc>
                  <a:txBody>
                    <a:bodyPr/>
                    <a:lstStyle/>
                    <a:p>
                      <a:r>
                        <a:rPr sz="1125">
                          <a:solidFill>
                            <a:srgbClr val="1B1B1B"/>
                          </a:solidFill>
                          <a:latin typeface="Arial"/>
                          <a:ea typeface="Arial"/>
                          <a:cs typeface="Arial"/>
                        </a:rPr>
                        <a:t>02 giờ</a:t>
                      </a:r>
                    </a:p>
                  </a:txBody>
                  <a:tcPr marL="76200" marR="76200" marT="38100" marB="38100" anchor="ctr">
                    <a:solidFill>
                      <a:srgbClr val="F5F5F5"/>
                    </a:solidFill>
                  </a:tcPr>
                </a:tc>
                <a:tc>
                  <a:txBody>
                    <a:bodyPr/>
                    <a:lstStyle/>
                    <a:p>
                      <a:r>
                        <a:rPr sz="1125">
                          <a:solidFill>
                            <a:srgbClr val="1B1B1B"/>
                          </a:solidFill>
                          <a:latin typeface="Arial"/>
                          <a:ea typeface="Arial"/>
                          <a:cs typeface="Arial"/>
                        </a:rPr>
                        <a:t>Viettel</a:t>
                      </a:r>
                    </a:p>
                  </a:txBody>
                  <a:tcPr marL="76200" marR="76200" marT="38100" marB="38100" anchor="ctr">
                    <a:solidFill>
                      <a:srgbClr val="F5F5F5"/>
                    </a:solidFill>
                  </a:tcPr>
                </a:tc>
                <a:extLst>
                  <a:ext uri="{0D108BD9-81ED-4DB2-BD59-A6C34878D82A}">
                    <a16:rowId xmlns:a16="http://schemas.microsoft.com/office/drawing/2014/main" val="10004"/>
                  </a:ext>
                </a:extLst>
              </a:tr>
              <a:tr h="488950">
                <a:tc>
                  <a:txBody>
                    <a:bodyPr/>
                    <a:lstStyle/>
                    <a:p>
                      <a:r>
                        <a:rPr sz="1125">
                          <a:solidFill>
                            <a:srgbClr val="1B1B1B"/>
                          </a:solidFill>
                          <a:latin typeface="Arial"/>
                          <a:ea typeface="Arial"/>
                          <a:cs typeface="Arial"/>
                        </a:rPr>
                        <a:t>Hiệu lực hồ sơ</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HSMT</a:t>
                      </a:r>
                    </a:p>
                  </a:txBody>
                  <a:tcPr marL="76200" marR="76200" marT="38100" marB="38100" anchor="ctr">
                    <a:solidFill>
                      <a:srgbClr val="FFFFFF"/>
                    </a:solidFill>
                  </a:tcPr>
                </a:tc>
                <a:tc>
                  <a:txBody>
                    <a:bodyPr/>
                    <a:lstStyle/>
                    <a:p>
                      <a:r>
                        <a:rPr sz="1125">
                          <a:solidFill>
                            <a:srgbClr val="1B1B1B"/>
                          </a:solidFill>
                          <a:latin typeface="Arial"/>
                          <a:ea typeface="Arial"/>
                          <a:cs typeface="Arial"/>
                        </a:rPr>
                        <a:t>Tối đa 180 ngày</a:t>
                      </a:r>
                    </a:p>
                  </a:txBody>
                  <a:tcPr marL="76200" marR="76200" marT="38100" marB="38100" anchor="ctr">
                    <a:solidFill>
                      <a:srgbClr val="FFFFFF"/>
                    </a:solidFill>
                  </a:tcPr>
                </a:tc>
                <a:tc>
                  <a:txBody>
                    <a:bodyPr/>
                    <a:lstStyle/>
                    <a:p>
                      <a:r>
                        <a:rPr sz="1125">
                          <a:solidFill>
                            <a:srgbClr val="1B1B1B"/>
                          </a:solidFill>
                          <a:latin typeface="Arial"/>
                          <a:ea typeface="Arial"/>
                          <a:cs typeface="Arial"/>
                        </a:rPr>
                        <a:t>Viettel</a:t>
                      </a:r>
                    </a:p>
                  </a:txBody>
                  <a:tcPr marL="76200" marR="76200" marT="38100" marB="38100" anchor="ctr">
                    <a:solidFill>
                      <a:srgbClr val="FFFFFF"/>
                    </a:solidFill>
                  </a:tcPr>
                </a:tc>
                <a:extLst>
                  <a:ext uri="{0D108BD9-81ED-4DB2-BD59-A6C34878D82A}">
                    <a16:rowId xmlns:a16="http://schemas.microsoft.com/office/drawing/2014/main" val="10005"/>
                  </a:ext>
                </a:extLst>
              </a:tr>
            </a:tbl>
          </a:graphicData>
        </a:graphic>
      </p:graphicFrame>
      <p:sp>
        <p:nvSpPr>
          <p:cNvPr id="3" name="Rectangle 2">
            <a:extLst>
              <a:ext uri="{FF2B5EF4-FFF2-40B4-BE49-F238E27FC236}">
                <a16:creationId xmlns:a16="http://schemas.microsoft.com/office/drawing/2014/main" id="{6021C4F0-2DC8-4FC2-ADAE-E737A726E263}"/>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4" name="Rectangle: Rounded Corners 3">
            <a:extLst>
              <a:ext uri="{FF2B5EF4-FFF2-40B4-BE49-F238E27FC236}">
                <a16:creationId xmlns:a16="http://schemas.microsoft.com/office/drawing/2014/main" id="{F48FEFE8-0C6A-4E0D-9AC1-288AE59BE4E9}"/>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47B612F5-E6F5-4513-83BA-ED1938F23488}"/>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20</a:t>
            </a:r>
          </a:p>
        </p:txBody>
      </p:sp>
      <p:sp>
        <p:nvSpPr>
          <p:cNvPr id="6" name="Rectangle 5">
            <a:extLst>
              <a:ext uri="{FF2B5EF4-FFF2-40B4-BE49-F238E27FC236}">
                <a16:creationId xmlns:a16="http://schemas.microsoft.com/office/drawing/2014/main" id="{A26479BF-CF99-4461-973B-6B2DA9F712D1}"/>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Rectangle 6">
            <a:extLst>
              <a:ext uri="{FF2B5EF4-FFF2-40B4-BE49-F238E27FC236}">
                <a16:creationId xmlns:a16="http://schemas.microsoft.com/office/drawing/2014/main" id="{265DFB10-A4BF-4571-A43C-7C383C03A6B1}"/>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8" name="Rectangle 7">
            <a:extLst>
              <a:ext uri="{FF2B5EF4-FFF2-40B4-BE49-F238E27FC236}">
                <a16:creationId xmlns:a16="http://schemas.microsoft.com/office/drawing/2014/main" id="{EFB6C959-5BE5-49FE-ACDB-23310AE276CE}"/>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31 Quy chế 2486; VBHN 36/2026 và HSMT mẫu.</a:t>
            </a:r>
          </a:p>
        </p:txBody>
      </p:sp>
    </p:spTree>
    <p:extLst>
      <p:ext uri="{BB962C8B-B14F-4D97-AF65-F5344CB8AC3E}">
        <p14:creationId xmlns:p14="http://schemas.microsoft.com/office/powerpoint/2010/main" val="1666140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41BEC43-84EB-4DEC-9652-83827A0E76BD}"/>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SỬA ĐỔI HSMT VÀ GIA HẠN ĐÓNG THẦU</a:t>
            </a:r>
          </a:p>
        </p:txBody>
      </p:sp>
      <p:sp>
        <p:nvSpPr>
          <p:cNvPr id="2" name="Rectangle 1">
            <a:extLst>
              <a:ext uri="{FF2B5EF4-FFF2-40B4-BE49-F238E27FC236}">
                <a16:creationId xmlns:a16="http://schemas.microsoft.com/office/drawing/2014/main" id="{C0EA88A6-2696-4676-8C47-FE1938746492}"/>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Biết khi nào phải gia hạn.</a:t>
            </a:r>
          </a:p>
        </p:txBody>
      </p:sp>
      <p:sp>
        <p:nvSpPr>
          <p:cNvPr id="3" name="Rectangle 2">
            <a:extLst>
              <a:ext uri="{FF2B5EF4-FFF2-40B4-BE49-F238E27FC236}">
                <a16:creationId xmlns:a16="http://schemas.microsoft.com/office/drawing/2014/main" id="{E03D0356-DD3E-40F1-826F-706E4FA6F465}"/>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Sửa đổi phải đăng tải cùng nội dung sửa đổi và HSMT đã chỉnh.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Nếu không đủ thời gian để nhà thầu hoàn chỉnh hồ sơ, phải gia hạn thời điểm đóng thầu.</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phải theo dõi Hệ thống/Cổng Viettel và tự chịu rủi ro nếu bỏ sót thông tin theo HSMT.</a:t>
            </a:r>
          </a:p>
        </p:txBody>
      </p:sp>
      <p:sp>
        <p:nvSpPr>
          <p:cNvPr id="4" name="Rectangle 3">
            <a:extLst>
              <a:ext uri="{FF2B5EF4-FFF2-40B4-BE49-F238E27FC236}">
                <a16:creationId xmlns:a16="http://schemas.microsoft.com/office/drawing/2014/main" id="{7B53FA18-972A-4F2E-9953-2AF41F2D14E9}"/>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D2A4CF36-FE70-4A37-A906-40B6BF9983A2}"/>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70EDDCD8-1D3C-4711-8F14-924FBF02475D}"/>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Sửa đổi phải đăng tải cùng nội dung sửa đổi và HSMT đã chỉnh.</a:t>
            </a:r>
          </a:p>
        </p:txBody>
      </p:sp>
      <p:sp>
        <p:nvSpPr>
          <p:cNvPr id="7" name="Rectangle 6">
            <a:extLst>
              <a:ext uri="{FF2B5EF4-FFF2-40B4-BE49-F238E27FC236}">
                <a16:creationId xmlns:a16="http://schemas.microsoft.com/office/drawing/2014/main" id="{66A536C3-3C77-4892-9FBD-03AA4B62477A}"/>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11DF9D78-AC0A-4870-B0FC-FCD72F90378B}"/>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Nếu không đủ thời gian để nhà thầu hoàn chỉnh hồ sơ, phải gia hạn …</a:t>
            </a:r>
          </a:p>
        </p:txBody>
      </p:sp>
      <p:sp>
        <p:nvSpPr>
          <p:cNvPr id="9" name="Rectangle 8">
            <a:extLst>
              <a:ext uri="{FF2B5EF4-FFF2-40B4-BE49-F238E27FC236}">
                <a16:creationId xmlns:a16="http://schemas.microsoft.com/office/drawing/2014/main" id="{9A07E000-9931-4BEF-AA98-F7259404E0A4}"/>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37591FEF-BFED-4F04-A722-9234C1553756}"/>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Nhà thầu phải theo dõi Hệ thống/Cổng Viettel và tự chịu rủi ro nếu…</a:t>
            </a:r>
          </a:p>
        </p:txBody>
      </p:sp>
      <p:sp>
        <p:nvSpPr>
          <p:cNvPr id="11" name="Rectangle 10">
            <a:extLst>
              <a:ext uri="{FF2B5EF4-FFF2-40B4-BE49-F238E27FC236}">
                <a16:creationId xmlns:a16="http://schemas.microsoft.com/office/drawing/2014/main" id="{A203CE8E-5CA9-4FB9-9A12-6E868968BE3B}"/>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B05E115D-68E6-4A9A-9B57-E3614691E007}"/>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C9EEB43E-CF48-4333-B162-809769D05530}"/>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21</a:t>
            </a:r>
          </a:p>
        </p:txBody>
      </p:sp>
      <p:sp>
        <p:nvSpPr>
          <p:cNvPr id="14" name="Rectangle 13">
            <a:extLst>
              <a:ext uri="{FF2B5EF4-FFF2-40B4-BE49-F238E27FC236}">
                <a16:creationId xmlns:a16="http://schemas.microsoft.com/office/drawing/2014/main" id="{EF254392-B9A6-444C-80F7-59606AD8F63E}"/>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C6CFE511-6E4C-413D-8895-860F8F69ACD1}"/>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Rectangle 15">
            <a:extLst>
              <a:ext uri="{FF2B5EF4-FFF2-40B4-BE49-F238E27FC236}">
                <a16:creationId xmlns:a16="http://schemas.microsoft.com/office/drawing/2014/main" id="{1B224B4A-2096-471C-9336-A15E021E81C0}"/>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7.1-7.4 E-CDNT HSMT Cần Thơ; Điều 31 Quy chế 2486.</a:t>
            </a:r>
          </a:p>
        </p:txBody>
      </p:sp>
    </p:spTree>
    <p:extLst>
      <p:ext uri="{BB962C8B-B14F-4D97-AF65-F5344CB8AC3E}">
        <p14:creationId xmlns:p14="http://schemas.microsoft.com/office/powerpoint/2010/main" val="10689082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57267A9C-86D1-49D8-A8B0-EFFEC84B77D3}"/>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LÀM RÕ HSMT: TRƯỚC ĐÓNG THẦU</a:t>
            </a:r>
          </a:p>
        </p:txBody>
      </p:sp>
      <p:sp>
        <p:nvSpPr>
          <p:cNvPr id="2" name="Rectangle 1">
            <a:extLst>
              <a:ext uri="{FF2B5EF4-FFF2-40B4-BE49-F238E27FC236}">
                <a16:creationId xmlns:a16="http://schemas.microsoft.com/office/drawing/2014/main" id="{6DCEB500-287D-4304-A52F-A37924CACFE4}"/>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Ghi nhớ mốc yêu cầu và trả lời.</a:t>
            </a:r>
          </a:p>
        </p:txBody>
      </p:sp>
      <p:sp>
        <p:nvSpPr>
          <p:cNvPr id="3" name="Rectangle 2">
            <a:extLst>
              <a:ext uri="{FF2B5EF4-FFF2-40B4-BE49-F238E27FC236}">
                <a16:creationId xmlns:a16="http://schemas.microsoft.com/office/drawing/2014/main" id="{8A74B69B-7AE9-4BE7-8293-927631DD1A24}"/>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gửi yêu cầu tối thiểu 03 ngày làm việc trước đóng thầu.</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Chủ đầu tư làm rõ tối thiểu 02 ngày làm việc trước đóng thầu trong HSMT Cần Thơ.</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Làm rõ dẫn đến sửa HSMT thì phải sửa HSMT theo quy trình tương ứng.</a:t>
            </a:r>
          </a:p>
        </p:txBody>
      </p:sp>
      <p:sp>
        <p:nvSpPr>
          <p:cNvPr id="4" name="Rectangle 3">
            <a:extLst>
              <a:ext uri="{FF2B5EF4-FFF2-40B4-BE49-F238E27FC236}">
                <a16:creationId xmlns:a16="http://schemas.microsoft.com/office/drawing/2014/main" id="{840EA927-C665-47EE-B360-8B0F27916091}"/>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59BBFD10-5352-4221-B449-43184E30E90B}"/>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441C8BBE-305F-492D-B800-993C1FD1624B}"/>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Nhà thầu gửi yêu cầu tối thiểu 03 ngày làm việc trước đóng thầu.</a:t>
            </a:r>
          </a:p>
        </p:txBody>
      </p:sp>
      <p:sp>
        <p:nvSpPr>
          <p:cNvPr id="7" name="Rectangle 6">
            <a:extLst>
              <a:ext uri="{FF2B5EF4-FFF2-40B4-BE49-F238E27FC236}">
                <a16:creationId xmlns:a16="http://schemas.microsoft.com/office/drawing/2014/main" id="{C5C49AFC-5611-4458-805C-48A2FDDF1E7E}"/>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25BE0126-AB07-46F1-9640-4DA75B21F903}"/>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Chủ đầu tư làm rõ tối thiểu 02 ngày làm việc trước đóng thầu trong…</a:t>
            </a:r>
          </a:p>
        </p:txBody>
      </p:sp>
      <p:sp>
        <p:nvSpPr>
          <p:cNvPr id="9" name="Rectangle 8">
            <a:extLst>
              <a:ext uri="{FF2B5EF4-FFF2-40B4-BE49-F238E27FC236}">
                <a16:creationId xmlns:a16="http://schemas.microsoft.com/office/drawing/2014/main" id="{7092B512-03C5-427C-ADE4-296E3AE4CE27}"/>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8A8A0F67-7149-489D-8E7F-6C0FEEC27B68}"/>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Làm rõ dẫn đến sửa HSMT thì phải sửa HSMT theo quy trình tương ứng.</a:t>
            </a:r>
          </a:p>
        </p:txBody>
      </p:sp>
      <p:sp>
        <p:nvSpPr>
          <p:cNvPr id="11" name="Rectangle 10">
            <a:extLst>
              <a:ext uri="{FF2B5EF4-FFF2-40B4-BE49-F238E27FC236}">
                <a16:creationId xmlns:a16="http://schemas.microsoft.com/office/drawing/2014/main" id="{54B315D5-519E-4B6E-9025-6038023E2C3A}"/>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137E72F3-DDFA-4321-AE11-091BF54DA010}"/>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033BB8DE-6655-47B7-918C-A74237F44945}"/>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22</a:t>
            </a:r>
          </a:p>
        </p:txBody>
      </p:sp>
      <p:sp>
        <p:nvSpPr>
          <p:cNvPr id="14" name="Rectangle 13">
            <a:extLst>
              <a:ext uri="{FF2B5EF4-FFF2-40B4-BE49-F238E27FC236}">
                <a16:creationId xmlns:a16="http://schemas.microsoft.com/office/drawing/2014/main" id="{1FC000B9-B6A5-4B4E-9F13-AE5A3756ED92}"/>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2A56056C-ADA0-4100-A416-9F8AFFCC4784}"/>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Rectangle 15">
            <a:extLst>
              <a:ext uri="{FF2B5EF4-FFF2-40B4-BE49-F238E27FC236}">
                <a16:creationId xmlns:a16="http://schemas.microsoft.com/office/drawing/2014/main" id="{8409E649-2B62-4202-B986-6F538F40595D}"/>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7.2 E-CDNT HSMT Cần Thơ; Điều 31 Quy chế 2486.</a:t>
            </a:r>
          </a:p>
        </p:txBody>
      </p:sp>
    </p:spTree>
    <p:extLst>
      <p:ext uri="{BB962C8B-B14F-4D97-AF65-F5344CB8AC3E}">
        <p14:creationId xmlns:p14="http://schemas.microsoft.com/office/powerpoint/2010/main" val="14376900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144CB0C-369D-4527-B140-1F90E3E45246}"/>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MỞ THẦU, LÀM RÕ HSDT VÀ ĐỐI CHIẾU TÀI LIỆU</a:t>
            </a:r>
          </a:p>
        </p:txBody>
      </p:sp>
      <p:sp>
        <p:nvSpPr>
          <p:cNvPr id="2" name="Rectangle 1">
            <a:extLst>
              <a:ext uri="{FF2B5EF4-FFF2-40B4-BE49-F238E27FC236}">
                <a16:creationId xmlns:a16="http://schemas.microsoft.com/office/drawing/2014/main" id="{AA74538D-B928-42BD-845B-EB8D5018A3B4}"/>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Phân biệt ba mốc sau đóng thầu.</a:t>
            </a:r>
          </a:p>
        </p:txBody>
      </p:sp>
      <p:sp>
        <p:nvSpPr>
          <p:cNvPr id="3" name="Rectangle 2">
            <a:extLst>
              <a:ext uri="{FF2B5EF4-FFF2-40B4-BE49-F238E27FC236}">
                <a16:creationId xmlns:a16="http://schemas.microsoft.com/office/drawing/2014/main" id="{7DF9ECDC-C4D9-4D0E-9929-64D25B5DAFC3}"/>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Mở thầu: công khai theo Hệ thống/quy định.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Làm rõ HSDT: trong quá trình đánh giá, có giới hạn nội dung.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chiếu tài liệu: với nhà thầu xếp hạng thứ nhất theo HSMT.</a:t>
            </a:r>
          </a:p>
        </p:txBody>
      </p:sp>
      <p:sp>
        <p:nvSpPr>
          <p:cNvPr id="4" name="Rectangle 3">
            <a:extLst>
              <a:ext uri="{FF2B5EF4-FFF2-40B4-BE49-F238E27FC236}">
                <a16:creationId xmlns:a16="http://schemas.microsoft.com/office/drawing/2014/main" id="{61E66E08-ED25-4E46-B38D-4A5CDEE50DDF}"/>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49B68B24-DE44-4999-9405-6CD3EB090B2C}"/>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B3B6DC24-3E32-4AD4-8535-3CCA80696962}"/>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Mở thầu: công khai theo Hệ thống/quy định.</a:t>
            </a:r>
          </a:p>
        </p:txBody>
      </p:sp>
      <p:sp>
        <p:nvSpPr>
          <p:cNvPr id="7" name="Rectangle 6">
            <a:extLst>
              <a:ext uri="{FF2B5EF4-FFF2-40B4-BE49-F238E27FC236}">
                <a16:creationId xmlns:a16="http://schemas.microsoft.com/office/drawing/2014/main" id="{D89E1448-A80B-4925-90F8-00EA96EC9E4E}"/>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4C6E0281-929F-4D24-8954-6BF9839104C1}"/>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Làm rõ HSDT: trong quá trình đánh giá, có giới hạn nội dung.</a:t>
            </a:r>
          </a:p>
        </p:txBody>
      </p:sp>
      <p:sp>
        <p:nvSpPr>
          <p:cNvPr id="9" name="Rectangle 8">
            <a:extLst>
              <a:ext uri="{FF2B5EF4-FFF2-40B4-BE49-F238E27FC236}">
                <a16:creationId xmlns:a16="http://schemas.microsoft.com/office/drawing/2014/main" id="{4A4EA19B-88C9-4536-B967-96AAC24A91A3}"/>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2EB1D566-FE98-4900-83C0-06C30F5DE388}"/>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Đối chiếu tài liệu: với nhà thầu xếp hạng thứ nhất theo HSMT.</a:t>
            </a:r>
          </a:p>
        </p:txBody>
      </p:sp>
      <p:sp>
        <p:nvSpPr>
          <p:cNvPr id="11" name="Rectangle 10">
            <a:extLst>
              <a:ext uri="{FF2B5EF4-FFF2-40B4-BE49-F238E27FC236}">
                <a16:creationId xmlns:a16="http://schemas.microsoft.com/office/drawing/2014/main" id="{517BB0B8-3E61-47F3-8134-CB03C0E6AFC3}"/>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1EF5F781-0618-4DE6-9E38-F9253A80EF2D}"/>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4770E328-BE9C-40EA-8056-DFB3A425501C}"/>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23</a:t>
            </a:r>
          </a:p>
        </p:txBody>
      </p:sp>
      <p:sp>
        <p:nvSpPr>
          <p:cNvPr id="14" name="Rectangle 13">
            <a:extLst>
              <a:ext uri="{FF2B5EF4-FFF2-40B4-BE49-F238E27FC236}">
                <a16:creationId xmlns:a16="http://schemas.microsoft.com/office/drawing/2014/main" id="{6794B054-0D5D-4A10-9C54-D454318CFC85}"/>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CDBA7625-8297-4AC7-ADAB-890CB78E7128}"/>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III. TIMELINE</a:t>
            </a:r>
          </a:p>
        </p:txBody>
      </p:sp>
      <p:sp>
        <p:nvSpPr>
          <p:cNvPr id="16" name="Rectangle 15">
            <a:extLst>
              <a:ext uri="{FF2B5EF4-FFF2-40B4-BE49-F238E27FC236}">
                <a16:creationId xmlns:a16="http://schemas.microsoft.com/office/drawing/2014/main" id="{0BC65AD9-DD60-49A4-B0ED-7880C7733578}"/>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21, 27, 30 E-CDNT HSMT Cần Thơ; Mục 27.4-29 A-CDNT HSMT 101.</a:t>
            </a:r>
          </a:p>
        </p:txBody>
      </p:sp>
    </p:spTree>
    <p:extLst>
      <p:ext uri="{BB962C8B-B14F-4D97-AF65-F5344CB8AC3E}">
        <p14:creationId xmlns:p14="http://schemas.microsoft.com/office/powerpoint/2010/main" val="670791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6" name="Straight Arrow Connector 15"/>
          <p:cNvCxnSpPr>
            <a:stCxn id="5" idx="3"/>
            <a:endCxn id="6" idx="1"/>
          </p:cNvCxnSpPr>
          <p:nvPr/>
        </p:nvCxnSpPr>
        <p:spPr>
          <a:xfrm>
            <a:off x="8758238" y="3119438"/>
            <a:ext cx="209550" cy="0"/>
          </a:xfrm>
          <a:prstGeom prst="straightConnector1">
            <a:avLst/>
          </a:prstGeom>
          <a:ln w="19050">
            <a:solidFill>
              <a:srgbClr val="E6002D"/>
            </a:solidFill>
            <a:prstDash val="solid"/>
            <a:headEnd type="triangle" w="sm" len="sm"/>
          </a:ln>
        </p:spPr>
      </p:cxnSp>
      <p:cxnSp>
        <p:nvCxnSpPr>
          <p:cNvPr id="17" name="Straight Arrow Connector 16"/>
          <p:cNvCxnSpPr>
            <a:stCxn id="4" idx="3"/>
            <a:endCxn id="5" idx="1"/>
          </p:cNvCxnSpPr>
          <p:nvPr/>
        </p:nvCxnSpPr>
        <p:spPr>
          <a:xfrm>
            <a:off x="5991226" y="3119438"/>
            <a:ext cx="209549" cy="0"/>
          </a:xfrm>
          <a:prstGeom prst="straightConnector1">
            <a:avLst/>
          </a:prstGeom>
          <a:ln w="19050">
            <a:solidFill>
              <a:srgbClr val="E6002D"/>
            </a:solidFill>
            <a:prstDash val="solid"/>
            <a:headEnd type="triangle" w="sm" len="sm"/>
          </a:ln>
        </p:spPr>
      </p:cxnSp>
      <p:cxnSp>
        <p:nvCxnSpPr>
          <p:cNvPr id="18" name="Straight Arrow Connector 17"/>
          <p:cNvCxnSpPr>
            <a:stCxn id="3" idx="3"/>
            <a:endCxn id="4" idx="1"/>
          </p:cNvCxnSpPr>
          <p:nvPr/>
        </p:nvCxnSpPr>
        <p:spPr>
          <a:xfrm>
            <a:off x="3224213" y="3119438"/>
            <a:ext cx="209550" cy="0"/>
          </a:xfrm>
          <a:prstGeom prst="straightConnector1">
            <a:avLst/>
          </a:prstGeom>
          <a:ln w="19050">
            <a:solidFill>
              <a:srgbClr val="E6002D"/>
            </a:solidFill>
            <a:prstDash val="solid"/>
            <a:headEnd type="triangle" w="sm" len="sm"/>
          </a:ln>
        </p:spPr>
      </p:cxnSp>
      <p:sp>
        <p:nvSpPr>
          <p:cNvPr id="19" name="Rectangle 18">
            <a:extLst>
              <a:ext uri="{FF2B5EF4-FFF2-40B4-BE49-F238E27FC236}">
                <a16:creationId xmlns:a16="http://schemas.microsoft.com/office/drawing/2014/main" id="{BDE16D8A-FEB1-4CB9-8BF6-38F983BDBF28}"/>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MỘT BỘ E-HSMT ĐƯỢC CẤU TẠO NHƯ THẾ NÀO?</a:t>
            </a:r>
          </a:p>
        </p:txBody>
      </p:sp>
      <p:sp>
        <p:nvSpPr>
          <p:cNvPr id="2" name="Rectangle 1">
            <a:extLst>
              <a:ext uri="{FF2B5EF4-FFF2-40B4-BE49-F238E27FC236}">
                <a16:creationId xmlns:a16="http://schemas.microsoft.com/office/drawing/2014/main" id="{06FE7041-C57C-4D3F-8CDE-B7DDE7A8B76A}"/>
              </a:ext>
            </a:extLst>
          </p:cNvPr>
          <p:cNvSpPr>
            <a:spLocks noGrp="1"/>
          </p:cNvSpPr>
          <p:nvPr/>
        </p:nvSpPr>
        <p:spPr>
          <a:xfrm>
            <a:off x="666750" y="1000125"/>
            <a:ext cx="10763250" cy="523875"/>
          </a:xfrm>
          <a:prstGeom prst="rect">
            <a:avLst/>
          </a:prstGeom>
          <a:noFill/>
          <a:ln w="0">
            <a:noFill/>
          </a:ln>
        </p:spPr>
        <p:txBody>
          <a:bodyPr anchor="ctr">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Đọc đúng thứ tự tài liệu.</a:t>
            </a:r>
          </a:p>
        </p:txBody>
      </p:sp>
      <p:sp>
        <p:nvSpPr>
          <p:cNvPr id="3" name="Rectangle: Rounded Corners 2">
            <a:extLst>
              <a:ext uri="{FF2B5EF4-FFF2-40B4-BE49-F238E27FC236}">
                <a16:creationId xmlns:a16="http://schemas.microsoft.com/office/drawing/2014/main" id="{1C6EA92A-EEFD-4A3B-B014-B472BBB58516}"/>
              </a:ext>
            </a:extLst>
          </p:cNvPr>
          <p:cNvSpPr>
            <a:spLocks noGrp="1"/>
          </p:cNvSpPr>
          <p:nvPr/>
        </p:nvSpPr>
        <p:spPr>
          <a:xfrm>
            <a:off x="666750" y="2476500"/>
            <a:ext cx="2557463"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Phần 1: Chương I-IV, thủ tục và biểu mẫu.</a:t>
            </a:r>
          </a:p>
        </p:txBody>
      </p:sp>
      <p:sp>
        <p:nvSpPr>
          <p:cNvPr id="4" name="Rectangle: Rounded Corners 3">
            <a:extLst>
              <a:ext uri="{FF2B5EF4-FFF2-40B4-BE49-F238E27FC236}">
                <a16:creationId xmlns:a16="http://schemas.microsoft.com/office/drawing/2014/main" id="{4B47986E-C9E7-412D-A170-02EC801834EA}"/>
              </a:ext>
            </a:extLst>
          </p:cNvPr>
          <p:cNvSpPr>
            <a:spLocks noGrp="1"/>
          </p:cNvSpPr>
          <p:nvPr/>
        </p:nvSpPr>
        <p:spPr>
          <a:xfrm>
            <a:off x="3433763" y="2476500"/>
            <a:ext cx="2557463"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Phần 2: Chương V, yêu cầu kỹ thuật.</a:t>
            </a:r>
          </a:p>
        </p:txBody>
      </p:sp>
      <p:sp>
        <p:nvSpPr>
          <p:cNvPr id="5" name="Rectangle: Rounded Corners 4">
            <a:extLst>
              <a:ext uri="{FF2B5EF4-FFF2-40B4-BE49-F238E27FC236}">
                <a16:creationId xmlns:a16="http://schemas.microsoft.com/office/drawing/2014/main" id="{303363DE-6270-47AF-BF19-D8E4A153EA51}"/>
              </a:ext>
            </a:extLst>
          </p:cNvPr>
          <p:cNvSpPr>
            <a:spLocks noGrp="1"/>
          </p:cNvSpPr>
          <p:nvPr/>
        </p:nvSpPr>
        <p:spPr>
          <a:xfrm>
            <a:off x="6200775" y="2476500"/>
            <a:ext cx="2557463"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350" b="1">
                <a:solidFill>
                  <a:srgbClr val="1B1B1B"/>
                </a:solidFill>
                <a:latin typeface="Arial"/>
                <a:ea typeface="Arial"/>
                <a:cs typeface="Arial"/>
              </a:defRPr>
            </a:pPr>
            <a:r>
              <a:rPr sz="1350" b="1" dirty="0" err="1">
                <a:solidFill>
                  <a:srgbClr val="1B1B1B"/>
                </a:solidFill>
                <a:latin typeface="Arial"/>
                <a:ea typeface="Arial"/>
                <a:cs typeface="Arial"/>
              </a:rPr>
              <a:t>Phần</a:t>
            </a:r>
            <a:r>
              <a:rPr sz="1350" b="1" dirty="0">
                <a:solidFill>
                  <a:srgbClr val="1B1B1B"/>
                </a:solidFill>
                <a:latin typeface="Arial"/>
                <a:ea typeface="Arial"/>
                <a:cs typeface="Arial"/>
              </a:rPr>
              <a:t> 3A: </a:t>
            </a:r>
            <a:r>
              <a:rPr sz="1350" b="1" dirty="0" err="1">
                <a:solidFill>
                  <a:srgbClr val="1B1B1B"/>
                </a:solidFill>
                <a:latin typeface="Arial"/>
                <a:ea typeface="Arial"/>
                <a:cs typeface="Arial"/>
              </a:rPr>
              <a:t>Chương</a:t>
            </a:r>
            <a:r>
              <a:rPr sz="1350" b="1" dirty="0">
                <a:solidFill>
                  <a:srgbClr val="1B1B1B"/>
                </a:solidFill>
                <a:latin typeface="Arial"/>
                <a:ea typeface="Arial"/>
                <a:cs typeface="Arial"/>
              </a:rPr>
              <a:t> VI-VII, </a:t>
            </a:r>
            <a:r>
              <a:rPr sz="1350" b="1" dirty="0" err="1">
                <a:solidFill>
                  <a:srgbClr val="1B1B1B"/>
                </a:solidFill>
                <a:latin typeface="Arial"/>
                <a:ea typeface="Arial"/>
                <a:cs typeface="Arial"/>
              </a:rPr>
              <a:t>điều</a:t>
            </a:r>
            <a:r>
              <a:rPr sz="1350" b="1" dirty="0">
                <a:solidFill>
                  <a:srgbClr val="1B1B1B"/>
                </a:solidFill>
                <a:latin typeface="Arial"/>
                <a:ea typeface="Arial"/>
                <a:cs typeface="Arial"/>
              </a:rPr>
              <a:t> </a:t>
            </a:r>
            <a:r>
              <a:rPr sz="1350" b="1" dirty="0" err="1">
                <a:solidFill>
                  <a:srgbClr val="1B1B1B"/>
                </a:solidFill>
                <a:latin typeface="Arial"/>
                <a:ea typeface="Arial"/>
                <a:cs typeface="Arial"/>
              </a:rPr>
              <a:t>kiện</a:t>
            </a:r>
            <a:r>
              <a:rPr sz="1350" b="1" dirty="0">
                <a:solidFill>
                  <a:srgbClr val="1B1B1B"/>
                </a:solidFill>
                <a:latin typeface="Arial"/>
                <a:ea typeface="Arial"/>
                <a:cs typeface="Arial"/>
              </a:rPr>
              <a:t> </a:t>
            </a:r>
            <a:r>
              <a:rPr sz="1350" b="1" dirty="0" err="1">
                <a:solidFill>
                  <a:srgbClr val="1B1B1B"/>
                </a:solidFill>
                <a:latin typeface="Arial"/>
                <a:ea typeface="Arial"/>
                <a:cs typeface="Arial"/>
              </a:rPr>
              <a:t>hợp</a:t>
            </a:r>
            <a:r>
              <a:rPr sz="1350" b="1" dirty="0">
                <a:solidFill>
                  <a:srgbClr val="1B1B1B"/>
                </a:solidFill>
                <a:latin typeface="Arial"/>
                <a:ea typeface="Arial"/>
                <a:cs typeface="Arial"/>
              </a:rPr>
              <a:t> </a:t>
            </a:r>
            <a:r>
              <a:rPr sz="1350" b="1" dirty="0" err="1">
                <a:solidFill>
                  <a:srgbClr val="1B1B1B"/>
                </a:solidFill>
                <a:latin typeface="Arial"/>
                <a:ea typeface="Arial"/>
                <a:cs typeface="Arial"/>
              </a:rPr>
              <a:t>đồng</a:t>
            </a:r>
            <a:r>
              <a:rPr sz="1350" b="1" dirty="0">
                <a:solidFill>
                  <a:srgbClr val="1B1B1B"/>
                </a:solidFill>
                <a:latin typeface="Arial"/>
                <a:ea typeface="Arial"/>
                <a:cs typeface="Arial"/>
              </a:rPr>
              <a:t>.</a:t>
            </a:r>
          </a:p>
        </p:txBody>
      </p:sp>
      <p:sp>
        <p:nvSpPr>
          <p:cNvPr id="6" name="Rectangle: Rounded Corners 5">
            <a:extLst>
              <a:ext uri="{FF2B5EF4-FFF2-40B4-BE49-F238E27FC236}">
                <a16:creationId xmlns:a16="http://schemas.microsoft.com/office/drawing/2014/main" id="{901C4211-635C-4834-A600-F22A444C3936}"/>
              </a:ext>
            </a:extLst>
          </p:cNvPr>
          <p:cNvSpPr>
            <a:spLocks noGrp="1"/>
          </p:cNvSpPr>
          <p:nvPr/>
        </p:nvSpPr>
        <p:spPr>
          <a:xfrm>
            <a:off x="8967788" y="2476500"/>
            <a:ext cx="2557463"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Phần 4: biểu mẫu hợp đồng.</a:t>
            </a:r>
          </a:p>
        </p:txBody>
      </p:sp>
      <p:sp>
        <p:nvSpPr>
          <p:cNvPr id="10" name="Rectangle 9">
            <a:extLst>
              <a:ext uri="{FF2B5EF4-FFF2-40B4-BE49-F238E27FC236}">
                <a16:creationId xmlns:a16="http://schemas.microsoft.com/office/drawing/2014/main" id="{D3E80425-BD3C-40DD-A00B-8B550EDB2A4F}"/>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1" name="Rectangle: Rounded Corners 10">
            <a:extLst>
              <a:ext uri="{FF2B5EF4-FFF2-40B4-BE49-F238E27FC236}">
                <a16:creationId xmlns:a16="http://schemas.microsoft.com/office/drawing/2014/main" id="{1E2964D9-CA4C-4CFD-9582-A9541C522F44}"/>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2" name="Rectangle 11">
            <a:extLst>
              <a:ext uri="{FF2B5EF4-FFF2-40B4-BE49-F238E27FC236}">
                <a16:creationId xmlns:a16="http://schemas.microsoft.com/office/drawing/2014/main" id="{83A34A2B-21EC-43D0-BD59-4C7B28C79BDB}"/>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24</a:t>
            </a:r>
          </a:p>
        </p:txBody>
      </p:sp>
      <p:sp>
        <p:nvSpPr>
          <p:cNvPr id="13" name="Rectangle 12">
            <a:extLst>
              <a:ext uri="{FF2B5EF4-FFF2-40B4-BE49-F238E27FC236}">
                <a16:creationId xmlns:a16="http://schemas.microsoft.com/office/drawing/2014/main" id="{B297CB0A-740A-47DF-B08E-A1048001309A}"/>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Rectangle 13">
            <a:extLst>
              <a:ext uri="{FF2B5EF4-FFF2-40B4-BE49-F238E27FC236}">
                <a16:creationId xmlns:a16="http://schemas.microsoft.com/office/drawing/2014/main" id="{8AB13D59-AD33-40A4-81C9-9484AB18D569}"/>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5" name="Rectangle 14">
            <a:extLst>
              <a:ext uri="{FF2B5EF4-FFF2-40B4-BE49-F238E27FC236}">
                <a16:creationId xmlns:a16="http://schemas.microsoft.com/office/drawing/2014/main" id="{E6FDE0A3-BC0B-4133-B0FD-C16054CE4D69}"/>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6.1 E-CDNT HSMT Cần Thơ, tr. 4.</a:t>
            </a:r>
          </a:p>
        </p:txBody>
      </p:sp>
    </p:spTree>
    <p:extLst>
      <p:ext uri="{BB962C8B-B14F-4D97-AF65-F5344CB8AC3E}">
        <p14:creationId xmlns:p14="http://schemas.microsoft.com/office/powerpoint/2010/main" val="8051724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381422C6-34D2-4E7E-9A91-4FC8BD541360}"/>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E-BDL: DỮ KIỆN KHÔNG ĐƯỢC BỎ QUA</a:t>
            </a:r>
          </a:p>
        </p:txBody>
      </p:sp>
      <p:sp>
        <p:nvSpPr>
          <p:cNvPr id="2" name="Rectangle 1">
            <a:extLst>
              <a:ext uri="{FF2B5EF4-FFF2-40B4-BE49-F238E27FC236}">
                <a16:creationId xmlns:a16="http://schemas.microsoft.com/office/drawing/2014/main" id="{911A8C6C-0601-4C48-80B1-B19EBB3DC604}"/>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Thực hành lấy dữ kiện từ E-BDL.</a:t>
            </a:r>
          </a:p>
        </p:txBody>
      </p:sp>
      <p:sp>
        <p:nvSpPr>
          <p:cNvPr id="3" name="Rectangle 2">
            <a:extLst>
              <a:ext uri="{FF2B5EF4-FFF2-40B4-BE49-F238E27FC236}">
                <a16:creationId xmlns:a16="http://schemas.microsoft.com/office/drawing/2014/main" id="{C087C8DD-A00E-48CC-BD37-0B320D948E34}"/>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ngân sách nhà nước, Quyết định 869/QĐ-SNNMT.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Hiệu lực E-HSDT: ít nhất 90 ngày.</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Bảo đảm dự thầu: 12 triệu VND, hiệu lực ít nhất 120 ngày.</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Phương pháp: năng lực/kinh nghiệm đạt-không đạt, kỹ thuật đạt-không đạt, tài chính giá thấp nhất.</a:t>
            </a:r>
          </a:p>
        </p:txBody>
      </p:sp>
      <p:sp>
        <p:nvSpPr>
          <p:cNvPr id="4" name="Rectangle 3">
            <a:extLst>
              <a:ext uri="{FF2B5EF4-FFF2-40B4-BE49-F238E27FC236}">
                <a16:creationId xmlns:a16="http://schemas.microsoft.com/office/drawing/2014/main" id="{8447960B-FBF9-4550-AFFA-7C6B18FDEA1A}"/>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5E2AA832-3DDA-4B95-BE76-0161C47FF421}"/>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3AF5A9DD-9DD1-47EE-9591-07057CE1575D}"/>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Nguồn vốn: ngân sách nhà nước, Quyết định 869/QĐ-SNNMT.</a:t>
            </a:r>
          </a:p>
        </p:txBody>
      </p:sp>
      <p:sp>
        <p:nvSpPr>
          <p:cNvPr id="7" name="Rectangle 6">
            <a:extLst>
              <a:ext uri="{FF2B5EF4-FFF2-40B4-BE49-F238E27FC236}">
                <a16:creationId xmlns:a16="http://schemas.microsoft.com/office/drawing/2014/main" id="{6A5DEDAD-AA22-439B-8F3F-0E564F507595}"/>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B1B6A408-980C-4401-9C39-883571166BFD}"/>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Hiệu lực E-HSDT: ít nhất 90 ngày.</a:t>
            </a:r>
          </a:p>
        </p:txBody>
      </p:sp>
      <p:sp>
        <p:nvSpPr>
          <p:cNvPr id="9" name="Rectangle 8">
            <a:extLst>
              <a:ext uri="{FF2B5EF4-FFF2-40B4-BE49-F238E27FC236}">
                <a16:creationId xmlns:a16="http://schemas.microsoft.com/office/drawing/2014/main" id="{789B8CD4-7A5C-461F-B5EA-EBC5CD394377}"/>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0B4A27F5-B016-4DA1-8CEC-5CFD72824799}"/>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Bảo đảm dự thầu: 12 triệu VND, hiệu lực ít nhất 120 ngày.</a:t>
            </a:r>
          </a:p>
        </p:txBody>
      </p:sp>
      <p:sp>
        <p:nvSpPr>
          <p:cNvPr id="11" name="Rectangle 10">
            <a:extLst>
              <a:ext uri="{FF2B5EF4-FFF2-40B4-BE49-F238E27FC236}">
                <a16:creationId xmlns:a16="http://schemas.microsoft.com/office/drawing/2014/main" id="{D7AE47EF-5943-4C6C-A968-5F839BBBD4CF}"/>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0FF45832-BFE4-47B6-A995-1F10F0A6FCBA}"/>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Phương pháp: năng lực/kinh nghiệm đạt-không đạt, kỹ thuật đạt-khôn…</a:t>
            </a:r>
          </a:p>
        </p:txBody>
      </p:sp>
      <p:sp>
        <p:nvSpPr>
          <p:cNvPr id="13" name="Rectangle 12">
            <a:extLst>
              <a:ext uri="{FF2B5EF4-FFF2-40B4-BE49-F238E27FC236}">
                <a16:creationId xmlns:a16="http://schemas.microsoft.com/office/drawing/2014/main" id="{0630B1F0-3511-4F9F-AED9-C2155D2352BD}"/>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C7482B07-DAAF-4F31-A23F-4646C7F78539}"/>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93EAE7A9-4585-449E-A8F4-C7B1EDA94909}"/>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26</a:t>
            </a:r>
          </a:p>
        </p:txBody>
      </p:sp>
      <p:sp>
        <p:nvSpPr>
          <p:cNvPr id="16" name="Rectangle 15">
            <a:extLst>
              <a:ext uri="{FF2B5EF4-FFF2-40B4-BE49-F238E27FC236}">
                <a16:creationId xmlns:a16="http://schemas.microsoft.com/office/drawing/2014/main" id="{16EB4B87-953A-4F29-811F-2FD8D79B4151}"/>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AA678D24-CDAF-48AB-B298-F264ACCC074A}"/>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Rectangle 17">
            <a:extLst>
              <a:ext uri="{FF2B5EF4-FFF2-40B4-BE49-F238E27FC236}">
                <a16:creationId xmlns:a16="http://schemas.microsoft.com/office/drawing/2014/main" id="{507FD22F-B94A-4684-8874-BBEBC2D31898}"/>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E-CDNT 3, 17.1, 18.2, 29.1-29.3 HSMT Cần Thơ, tr. 23-27.</a:t>
            </a:r>
          </a:p>
        </p:txBody>
      </p:sp>
    </p:spTree>
    <p:extLst>
      <p:ext uri="{BB962C8B-B14F-4D97-AF65-F5344CB8AC3E}">
        <p14:creationId xmlns:p14="http://schemas.microsoft.com/office/powerpoint/2010/main" val="15052425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6E397D1E-6435-4222-8403-563CD5BEA003}"/>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THÀNH PHẦN E-HSDT VÀ THỨ TỰ KIỂM TRA</a:t>
            </a:r>
          </a:p>
        </p:txBody>
      </p:sp>
      <p:sp>
        <p:nvSpPr>
          <p:cNvPr id="2" name="Rectangle 1">
            <a:extLst>
              <a:ext uri="{FF2B5EF4-FFF2-40B4-BE49-F238E27FC236}">
                <a16:creationId xmlns:a16="http://schemas.microsoft.com/office/drawing/2014/main" id="{613934D4-5441-42DC-B10A-B381045B161F}"/>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Lập checklist hồ sơ theo HSMT.</a:t>
            </a:r>
          </a:p>
        </p:txBody>
      </p:sp>
      <p:sp>
        <p:nvSpPr>
          <p:cNvPr id="3" name="Rectangle 2">
            <a:extLst>
              <a:ext uri="{FF2B5EF4-FFF2-40B4-BE49-F238E27FC236}">
                <a16:creationId xmlns:a16="http://schemas.microsoft.com/office/drawing/2014/main" id="{9F395F1F-7D56-405B-825E-6F3437643006}"/>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Đơn dự thầu trích xuất từ Hệ thống.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Liên danh, bảo đảm dự thầu, kê khai năng lực/kinh nghiệm.</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Đề xuất kỹ thuật, tài chính và tài liệu khác tại E-BDL.</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Tài liệu sửa đổi/làm rõ phải được cập nhật.</a:t>
            </a:r>
          </a:p>
        </p:txBody>
      </p:sp>
      <p:sp>
        <p:nvSpPr>
          <p:cNvPr id="4" name="Rectangle 3">
            <a:extLst>
              <a:ext uri="{FF2B5EF4-FFF2-40B4-BE49-F238E27FC236}">
                <a16:creationId xmlns:a16="http://schemas.microsoft.com/office/drawing/2014/main" id="{EF507304-A2AE-4443-9BC7-824AEDB95717}"/>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D6A57328-9E1F-462B-AB39-6D3C539931FD}"/>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C7549CD1-3F0D-427E-97ED-F680CC9EDE91}"/>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Đơn dự thầu trích xuất từ Hệ thống.</a:t>
            </a:r>
          </a:p>
        </p:txBody>
      </p:sp>
      <p:sp>
        <p:nvSpPr>
          <p:cNvPr id="7" name="Rectangle 6">
            <a:extLst>
              <a:ext uri="{FF2B5EF4-FFF2-40B4-BE49-F238E27FC236}">
                <a16:creationId xmlns:a16="http://schemas.microsoft.com/office/drawing/2014/main" id="{447DDCF5-FD1F-43E2-ADF2-02D309D5868F}"/>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4F3C31AA-372C-425E-916C-CA2680AA9C06}"/>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Liên danh, bảo đảm dự thầu, kê khai năng lực/kinh nghiệm.</a:t>
            </a:r>
          </a:p>
        </p:txBody>
      </p:sp>
      <p:sp>
        <p:nvSpPr>
          <p:cNvPr id="9" name="Rectangle 8">
            <a:extLst>
              <a:ext uri="{FF2B5EF4-FFF2-40B4-BE49-F238E27FC236}">
                <a16:creationId xmlns:a16="http://schemas.microsoft.com/office/drawing/2014/main" id="{8DADBD83-C4EF-4D5F-83D2-9C770BE58B1C}"/>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89E743B7-C0D7-48FB-AE18-27D7868C1BBE}"/>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Đề xuất kỹ thuật, tài chính và tài liệu khác tại E-BDL.</a:t>
            </a:r>
          </a:p>
        </p:txBody>
      </p:sp>
      <p:sp>
        <p:nvSpPr>
          <p:cNvPr id="11" name="Rectangle 10">
            <a:extLst>
              <a:ext uri="{FF2B5EF4-FFF2-40B4-BE49-F238E27FC236}">
                <a16:creationId xmlns:a16="http://schemas.microsoft.com/office/drawing/2014/main" id="{7474F02C-C5D3-4A0A-A53E-4593B9A03EC1}"/>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AFE44E88-857E-4AB7-BB8A-84F6E17E8D55}"/>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Tài liệu sửa đổi/làm rõ phải được cập nhật.</a:t>
            </a:r>
          </a:p>
        </p:txBody>
      </p:sp>
      <p:sp>
        <p:nvSpPr>
          <p:cNvPr id="13" name="Rectangle 12">
            <a:extLst>
              <a:ext uri="{FF2B5EF4-FFF2-40B4-BE49-F238E27FC236}">
                <a16:creationId xmlns:a16="http://schemas.microsoft.com/office/drawing/2014/main" id="{8093DE5D-A035-4BA4-9402-EF5155A2AE7F}"/>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AA1E5632-9ADD-49FC-8B10-2EB229B053E7}"/>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31A7826A-F8BE-41C1-912D-B2489C95038F}"/>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27</a:t>
            </a:r>
          </a:p>
        </p:txBody>
      </p:sp>
      <p:sp>
        <p:nvSpPr>
          <p:cNvPr id="16" name="Rectangle 15">
            <a:extLst>
              <a:ext uri="{FF2B5EF4-FFF2-40B4-BE49-F238E27FC236}">
                <a16:creationId xmlns:a16="http://schemas.microsoft.com/office/drawing/2014/main" id="{DF51B172-2EEF-45D2-B7C6-BDB032756EFC}"/>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A50A106E-65EB-4985-9EE1-26928E54665D}"/>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Rectangle 17">
            <a:extLst>
              <a:ext uri="{FF2B5EF4-FFF2-40B4-BE49-F238E27FC236}">
                <a16:creationId xmlns:a16="http://schemas.microsoft.com/office/drawing/2014/main" id="{34050E72-94F5-48E3-B79B-3ADCB7478E2F}"/>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10-11 E-CDNT HSMT Cần Thơ.</a:t>
            </a:r>
          </a:p>
        </p:txBody>
      </p:sp>
    </p:spTree>
    <p:extLst>
      <p:ext uri="{BB962C8B-B14F-4D97-AF65-F5344CB8AC3E}">
        <p14:creationId xmlns:p14="http://schemas.microsoft.com/office/powerpoint/2010/main" val="6580287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35B814B-0E32-4D0D-9DA9-32223C553458}"/>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CÁCH PHÂN LOẠI GÓI: DỊCH VỤ PHI TƯ VẤN CÓ ĐỦ CƠ SỞ CHƯA?</a:t>
            </a:r>
          </a:p>
        </p:txBody>
      </p:sp>
      <p:sp>
        <p:nvSpPr>
          <p:cNvPr id="2" name="Rectangle 1">
            <a:extLst>
              <a:ext uri="{FF2B5EF4-FFF2-40B4-BE49-F238E27FC236}">
                <a16:creationId xmlns:a16="http://schemas.microsoft.com/office/drawing/2014/main" id="{E9C9A2D3-9DC1-4A1C-AFAF-6D5F8813E57D}"/>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Đọc bản chất scope trước khi chấp nhận nhãn phân loại.</a:t>
            </a:r>
          </a:p>
        </p:txBody>
      </p:sp>
      <p:sp>
        <p:nvSpPr>
          <p:cNvPr id="3" name="Rectangle 2">
            <a:extLst>
              <a:ext uri="{FF2B5EF4-FFF2-40B4-BE49-F238E27FC236}">
                <a16:creationId xmlns:a16="http://schemas.microsoft.com/office/drawing/2014/main" id="{6208B073-21FD-4389-8ABC-00954ED2E4CB}"/>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Scope có tư vấn/đào tạo, kiểm nghiệm, đánh giá chứng nhận và giám sát.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gọi gói là dịch vụ phi tư vấn.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Câu hỏi rà soát: phần công việc chính và đầu ra có phù hợp với phân loại không?</a:t>
            </a:r>
          </a:p>
        </p:txBody>
      </p:sp>
      <p:sp>
        <p:nvSpPr>
          <p:cNvPr id="4" name="Rectangle 3">
            <a:extLst>
              <a:ext uri="{FF2B5EF4-FFF2-40B4-BE49-F238E27FC236}">
                <a16:creationId xmlns:a16="http://schemas.microsoft.com/office/drawing/2014/main" id="{4184C649-0B05-4C90-9A3D-08A4D14BFE48}"/>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D8E21C8A-1184-41D2-856E-6BF027D7A41A}"/>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4D29B03B-04C3-46E0-B259-48983C839B33}"/>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Scope có tư vấn/đào tạo, kiểm nghiệm, đánh giá chứng nhận và giám …</a:t>
            </a:r>
          </a:p>
        </p:txBody>
      </p:sp>
      <p:sp>
        <p:nvSpPr>
          <p:cNvPr id="7" name="Rectangle 6">
            <a:extLst>
              <a:ext uri="{FF2B5EF4-FFF2-40B4-BE49-F238E27FC236}">
                <a16:creationId xmlns:a16="http://schemas.microsoft.com/office/drawing/2014/main" id="{CAE7730A-03DC-44D0-9C81-26FDD00CEFD7}"/>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4AA857BB-4E05-4CDD-8CE2-47EACD928870}"/>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HSMT gọi gói là dịch vụ phi tư vấn.</a:t>
            </a:r>
          </a:p>
        </p:txBody>
      </p:sp>
      <p:sp>
        <p:nvSpPr>
          <p:cNvPr id="9" name="Rectangle 8">
            <a:extLst>
              <a:ext uri="{FF2B5EF4-FFF2-40B4-BE49-F238E27FC236}">
                <a16:creationId xmlns:a16="http://schemas.microsoft.com/office/drawing/2014/main" id="{5BD87A56-4E0D-4D44-9FFE-13C9E495DF9D}"/>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CF693079-C516-483A-A748-40EEBF921DF4}"/>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Câu hỏi rà soát: phần công việc chính và đầu ra có phù hợp với phâ…</a:t>
            </a:r>
          </a:p>
        </p:txBody>
      </p:sp>
      <p:sp>
        <p:nvSpPr>
          <p:cNvPr id="11" name="Rectangle 10">
            <a:extLst>
              <a:ext uri="{FF2B5EF4-FFF2-40B4-BE49-F238E27FC236}">
                <a16:creationId xmlns:a16="http://schemas.microsoft.com/office/drawing/2014/main" id="{2EAA58FB-CC97-4C51-9A61-A503F7A92660}"/>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CF0D1E18-4F65-4B80-8919-19B510FCDB9D}"/>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093FA1C0-CCFA-42B8-8D72-CD62C7A83FB0}"/>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28</a:t>
            </a:r>
          </a:p>
        </p:txBody>
      </p:sp>
      <p:sp>
        <p:nvSpPr>
          <p:cNvPr id="14" name="Rectangle 13">
            <a:extLst>
              <a:ext uri="{FF2B5EF4-FFF2-40B4-BE49-F238E27FC236}">
                <a16:creationId xmlns:a16="http://schemas.microsoft.com/office/drawing/2014/main" id="{C86840F7-5E21-48F3-9256-B2B88EEAC0A8}"/>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56FA3D49-DBAD-41EC-8709-2901027B11F9}"/>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6" name="Rectangle 15">
            <a:extLst>
              <a:ext uri="{FF2B5EF4-FFF2-40B4-BE49-F238E27FC236}">
                <a16:creationId xmlns:a16="http://schemas.microsoft.com/office/drawing/2014/main" id="{6888FB46-67F4-480C-81CD-0DC66E34737E}"/>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Trang 1-2 HSMT; Chương V HSMT Cần Thơ; Điều 4 Luật về giải thích từ ngữ.</a:t>
            </a:r>
          </a:p>
        </p:txBody>
      </p:sp>
    </p:spTree>
    <p:extLst>
      <p:ext uri="{BB962C8B-B14F-4D97-AF65-F5344CB8AC3E}">
        <p14:creationId xmlns:p14="http://schemas.microsoft.com/office/powerpoint/2010/main" val="10623706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8A77BD1-8F24-48B9-80DC-255C615FCC19}"/>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ĐỌC E-CDNT 5.1: BẢO ĐẢM CẠNH TRANH</a:t>
            </a:r>
          </a:p>
        </p:txBody>
      </p:sp>
      <p:sp>
        <p:nvSpPr>
          <p:cNvPr id="2" name="Rectangle 1">
            <a:extLst>
              <a:ext uri="{FF2B5EF4-FFF2-40B4-BE49-F238E27FC236}">
                <a16:creationId xmlns:a16="http://schemas.microsoft.com/office/drawing/2014/main" id="{D526A2FF-74A1-4B54-B3D2-EF6B4ABC5661}"/>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Nhận diện yêu cầu liên quan quan hệ sở hữu và tư vấn.</a:t>
            </a:r>
          </a:p>
        </p:txBody>
      </p:sp>
      <p:sp>
        <p:nvSpPr>
          <p:cNvPr id="3" name="Rectangle 2">
            <a:extLst>
              <a:ext uri="{FF2B5EF4-FFF2-40B4-BE49-F238E27FC236}">
                <a16:creationId xmlns:a16="http://schemas.microsoft.com/office/drawing/2014/main" id="{302FC9C4-814A-4E19-A5C8-B182906ED748}"/>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có cổ phần/vốn góp với chủ đầu tư theo ngưỡng E-BDL.</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có cổ phần/vốn góp với nhà thầu tư vấn theo điều kiện nêu trong HSMT.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danh sách tư vấn lập, thẩm định, đánh giá và thẩm định kết quả.</a:t>
            </a:r>
          </a:p>
        </p:txBody>
      </p:sp>
      <p:sp>
        <p:nvSpPr>
          <p:cNvPr id="4" name="Rectangle 3">
            <a:extLst>
              <a:ext uri="{FF2B5EF4-FFF2-40B4-BE49-F238E27FC236}">
                <a16:creationId xmlns:a16="http://schemas.microsoft.com/office/drawing/2014/main" id="{F02CDF8B-59F5-45B4-82E3-F3A282ABE4F5}"/>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45835CE4-F444-4024-ADF1-36E36150EE72}"/>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D5329F0F-DDA2-4C16-BE86-9B70D6A0AB6F}"/>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Không có cổ phần/vốn góp với chủ đầu tư theo ngưỡng E-BDL.</a:t>
            </a:r>
          </a:p>
        </p:txBody>
      </p:sp>
      <p:sp>
        <p:nvSpPr>
          <p:cNvPr id="7" name="Rectangle 6">
            <a:extLst>
              <a:ext uri="{FF2B5EF4-FFF2-40B4-BE49-F238E27FC236}">
                <a16:creationId xmlns:a16="http://schemas.microsoft.com/office/drawing/2014/main" id="{B64B9A7F-D4E4-4076-BCA5-8C18AD242287}"/>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C7AC844B-4DA0-4D32-A730-788071452E2E}"/>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Không có cổ phần/vốn góp với nhà thầu tư vấn theo điều kiện nêu tr…</a:t>
            </a:r>
          </a:p>
        </p:txBody>
      </p:sp>
      <p:sp>
        <p:nvSpPr>
          <p:cNvPr id="9" name="Rectangle 8">
            <a:extLst>
              <a:ext uri="{FF2B5EF4-FFF2-40B4-BE49-F238E27FC236}">
                <a16:creationId xmlns:a16="http://schemas.microsoft.com/office/drawing/2014/main" id="{8CF1756C-ED0C-458F-A8A4-DFDCA9D4E5A3}"/>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4EA5A168-7ABA-46A0-A0F2-4695A2EDF34D}"/>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Có danh sách tư vấn lập, thẩm định, đánh giá và thẩm định kết quả.</a:t>
            </a:r>
          </a:p>
        </p:txBody>
      </p:sp>
      <p:sp>
        <p:nvSpPr>
          <p:cNvPr id="11" name="Rectangle 10">
            <a:extLst>
              <a:ext uri="{FF2B5EF4-FFF2-40B4-BE49-F238E27FC236}">
                <a16:creationId xmlns:a16="http://schemas.microsoft.com/office/drawing/2014/main" id="{90D8291C-851E-4147-B688-105F02D38161}"/>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B03C6F98-2238-4569-BDA9-D9EEABBB7C09}"/>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71B7AB7B-F638-4D77-96B4-34D0FA1DB19B}"/>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29</a:t>
            </a:r>
          </a:p>
        </p:txBody>
      </p:sp>
      <p:sp>
        <p:nvSpPr>
          <p:cNvPr id="14" name="Rectangle 13">
            <a:extLst>
              <a:ext uri="{FF2B5EF4-FFF2-40B4-BE49-F238E27FC236}">
                <a16:creationId xmlns:a16="http://schemas.microsoft.com/office/drawing/2014/main" id="{C5A23A60-FED4-443E-B097-CA2ECAE3FA5A}"/>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3F8F49A6-939B-4E37-9C6B-52D70132D277}"/>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6" name="Rectangle 15">
            <a:extLst>
              <a:ext uri="{FF2B5EF4-FFF2-40B4-BE49-F238E27FC236}">
                <a16:creationId xmlns:a16="http://schemas.microsoft.com/office/drawing/2014/main" id="{5C3E3453-75A5-4D85-B904-885ECA3C6A46}"/>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E-CDNT 5.1(c), tr. 23-25; Điều 6 Luật.</a:t>
            </a:r>
          </a:p>
        </p:txBody>
      </p:sp>
    </p:spTree>
    <p:extLst>
      <p:ext uri="{BB962C8B-B14F-4D97-AF65-F5344CB8AC3E}">
        <p14:creationId xmlns:p14="http://schemas.microsoft.com/office/powerpoint/2010/main" val="17600849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0B49531-3B6A-47DC-BA41-8027762A43C0}"/>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BẢO ĐẢM DỰ THẦU: GIÁ TRỊ, HIỆU LỰC VÀ TÊN THỤ HƯỞNG</a:t>
            </a:r>
          </a:p>
        </p:txBody>
      </p:sp>
      <p:sp>
        <p:nvSpPr>
          <p:cNvPr id="2" name="Rectangle 1">
            <a:extLst>
              <a:ext uri="{FF2B5EF4-FFF2-40B4-BE49-F238E27FC236}">
                <a16:creationId xmlns:a16="http://schemas.microsoft.com/office/drawing/2014/main" id="{E9176B98-748E-41CF-916D-6E2DA946E66A}"/>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Biến yêu cầu bảo đảm thành kiểm tra fatal.</a:t>
            </a:r>
          </a:p>
        </p:txBody>
      </p:sp>
      <p:sp>
        <p:nvSpPr>
          <p:cNvPr id="3" name="Rectangle 2">
            <a:extLst>
              <a:ext uri="{FF2B5EF4-FFF2-40B4-BE49-F238E27FC236}">
                <a16:creationId xmlns:a16="http://schemas.microsoft.com/office/drawing/2014/main" id="{01A2ABEB-7A53-4446-91FC-471BFD043082}"/>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dirty="0" err="1">
                <a:solidFill>
                  <a:srgbClr val="1B1B1B"/>
                </a:solidFill>
                <a:latin typeface="Arial"/>
                <a:ea typeface="Arial"/>
                <a:cs typeface="Arial"/>
              </a:rPr>
              <a:t>Giá</a:t>
            </a:r>
            <a:r>
              <a:rPr sz="1725" dirty="0">
                <a:solidFill>
                  <a:srgbClr val="1B1B1B"/>
                </a:solidFill>
                <a:latin typeface="Arial"/>
                <a:ea typeface="Arial"/>
                <a:cs typeface="Arial"/>
              </a:rPr>
              <a:t> </a:t>
            </a:r>
            <a:r>
              <a:rPr sz="1725" dirty="0" err="1">
                <a:solidFill>
                  <a:srgbClr val="1B1B1B"/>
                </a:solidFill>
                <a:latin typeface="Arial"/>
                <a:ea typeface="Arial"/>
                <a:cs typeface="Arial"/>
              </a:rPr>
              <a:t>trị</a:t>
            </a:r>
            <a:r>
              <a:rPr sz="1725" dirty="0">
                <a:solidFill>
                  <a:srgbClr val="1B1B1B"/>
                </a:solidFill>
                <a:latin typeface="Arial"/>
                <a:ea typeface="Arial"/>
                <a:cs typeface="Arial"/>
              </a:rPr>
              <a:t>: 12.000.000 VND.</a:t>
            </a:r>
          </a:p>
          <a:p>
            <a:pPr marL="279400" indent="-127000">
              <a:spcAft>
                <a:spcPts val="1200"/>
              </a:spcAft>
              <a:buChar char="•"/>
              <a:defRPr sz="1725">
                <a:solidFill>
                  <a:srgbClr val="1B1B1B"/>
                </a:solidFill>
                <a:latin typeface="Arial"/>
                <a:ea typeface="Arial"/>
                <a:cs typeface="Arial"/>
              </a:defRPr>
            </a:pPr>
            <a:r>
              <a:rPr sz="1725" dirty="0">
                <a:solidFill>
                  <a:srgbClr val="1B1B1B"/>
                </a:solidFill>
                <a:latin typeface="Arial"/>
                <a:ea typeface="Arial"/>
                <a:cs typeface="Arial"/>
              </a:rPr>
              <a:t>Hiệu </a:t>
            </a:r>
            <a:r>
              <a:rPr sz="1725" dirty="0" err="1">
                <a:solidFill>
                  <a:srgbClr val="1B1B1B"/>
                </a:solidFill>
                <a:latin typeface="Arial"/>
                <a:ea typeface="Arial"/>
                <a:cs typeface="Arial"/>
              </a:rPr>
              <a:t>lực</a:t>
            </a:r>
            <a:r>
              <a:rPr sz="1725" dirty="0">
                <a:solidFill>
                  <a:srgbClr val="1B1B1B"/>
                </a:solidFill>
                <a:latin typeface="Arial"/>
                <a:ea typeface="Arial"/>
                <a:cs typeface="Arial"/>
              </a:rPr>
              <a:t>: </a:t>
            </a:r>
            <a:r>
              <a:rPr sz="1725" dirty="0" err="1">
                <a:solidFill>
                  <a:srgbClr val="1B1B1B"/>
                </a:solidFill>
                <a:latin typeface="Arial"/>
                <a:ea typeface="Arial"/>
                <a:cs typeface="Arial"/>
              </a:rPr>
              <a:t>ít</a:t>
            </a:r>
            <a:r>
              <a:rPr sz="1725" dirty="0">
                <a:solidFill>
                  <a:srgbClr val="1B1B1B"/>
                </a:solidFill>
                <a:latin typeface="Arial"/>
                <a:ea typeface="Arial"/>
                <a:cs typeface="Arial"/>
              </a:rPr>
              <a:t> </a:t>
            </a:r>
            <a:r>
              <a:rPr sz="1725" dirty="0" err="1">
                <a:solidFill>
                  <a:srgbClr val="1B1B1B"/>
                </a:solidFill>
                <a:latin typeface="Arial"/>
                <a:ea typeface="Arial"/>
                <a:cs typeface="Arial"/>
              </a:rPr>
              <a:t>nhất</a:t>
            </a:r>
            <a:r>
              <a:rPr sz="1725" dirty="0">
                <a:solidFill>
                  <a:srgbClr val="1B1B1B"/>
                </a:solidFill>
                <a:latin typeface="Arial"/>
                <a:ea typeface="Arial"/>
                <a:cs typeface="Arial"/>
              </a:rPr>
              <a:t> 120 </a:t>
            </a:r>
            <a:r>
              <a:rPr sz="1725" dirty="0" err="1">
                <a:solidFill>
                  <a:srgbClr val="1B1B1B"/>
                </a:solidFill>
                <a:latin typeface="Arial"/>
                <a:ea typeface="Arial"/>
                <a:cs typeface="Arial"/>
              </a:rPr>
              <a:t>ngày</a:t>
            </a:r>
            <a:r>
              <a:rPr sz="1725" dirty="0">
                <a:solidFill>
                  <a:srgbClr val="1B1B1B"/>
                </a:solidFill>
                <a:latin typeface="Arial"/>
                <a:ea typeface="Arial"/>
                <a:cs typeface="Arial"/>
              </a:rPr>
              <a:t>, </a:t>
            </a:r>
            <a:r>
              <a:rPr sz="1725" dirty="0" err="1">
                <a:solidFill>
                  <a:srgbClr val="1B1B1B"/>
                </a:solidFill>
                <a:latin typeface="Arial"/>
                <a:ea typeface="Arial"/>
                <a:cs typeface="Arial"/>
              </a:rPr>
              <a:t>tính</a:t>
            </a:r>
            <a:r>
              <a:rPr sz="1725" dirty="0">
                <a:solidFill>
                  <a:srgbClr val="1B1B1B"/>
                </a:solidFill>
                <a:latin typeface="Arial"/>
                <a:ea typeface="Arial"/>
                <a:cs typeface="Arial"/>
              </a:rPr>
              <a:t> </a:t>
            </a:r>
            <a:r>
              <a:rPr sz="1725" dirty="0" err="1">
                <a:solidFill>
                  <a:srgbClr val="1B1B1B"/>
                </a:solidFill>
                <a:latin typeface="Arial"/>
                <a:ea typeface="Arial"/>
                <a:cs typeface="Arial"/>
              </a:rPr>
              <a:t>từ</a:t>
            </a:r>
            <a:r>
              <a:rPr sz="1725" dirty="0">
                <a:solidFill>
                  <a:srgbClr val="1B1B1B"/>
                </a:solidFill>
                <a:latin typeface="Arial"/>
                <a:ea typeface="Arial"/>
                <a:cs typeface="Arial"/>
              </a:rPr>
              <a:t> </a:t>
            </a:r>
            <a:r>
              <a:rPr sz="1725" dirty="0" err="1">
                <a:solidFill>
                  <a:srgbClr val="1B1B1B"/>
                </a:solidFill>
                <a:latin typeface="Arial"/>
                <a:ea typeface="Arial"/>
                <a:cs typeface="Arial"/>
              </a:rPr>
              <a:t>ngày</a:t>
            </a:r>
            <a:r>
              <a:rPr sz="1725" dirty="0">
                <a:solidFill>
                  <a:srgbClr val="1B1B1B"/>
                </a:solidFill>
                <a:latin typeface="Arial"/>
                <a:ea typeface="Arial"/>
                <a:cs typeface="Arial"/>
              </a:rPr>
              <a:t> </a:t>
            </a:r>
            <a:r>
              <a:rPr sz="1725" dirty="0" err="1">
                <a:solidFill>
                  <a:srgbClr val="1B1B1B"/>
                </a:solidFill>
                <a:latin typeface="Arial"/>
                <a:ea typeface="Arial"/>
                <a:cs typeface="Arial"/>
              </a:rPr>
              <a:t>đóng</a:t>
            </a:r>
            <a:r>
              <a:rPr sz="1725" dirty="0">
                <a:solidFill>
                  <a:srgbClr val="1B1B1B"/>
                </a:solidFill>
                <a:latin typeface="Arial"/>
                <a:ea typeface="Arial"/>
                <a:cs typeface="Arial"/>
              </a:rPr>
              <a:t> </a:t>
            </a:r>
            <a:r>
              <a:rPr sz="1725" dirty="0" err="1">
                <a:solidFill>
                  <a:srgbClr val="1B1B1B"/>
                </a:solidFill>
                <a:latin typeface="Arial"/>
                <a:ea typeface="Arial"/>
                <a:cs typeface="Arial"/>
              </a:rPr>
              <a:t>thầu</a:t>
            </a:r>
            <a:r>
              <a:rPr sz="1725" dirty="0">
                <a:solidFill>
                  <a:srgbClr val="1B1B1B"/>
                </a:solidFill>
                <a:latin typeface="Arial"/>
                <a:ea typeface="Arial"/>
                <a:cs typeface="Arial"/>
              </a:rPr>
              <a:t>.</a:t>
            </a:r>
          </a:p>
          <a:p>
            <a:pPr marL="279400" indent="-127000">
              <a:spcAft>
                <a:spcPts val="1200"/>
              </a:spcAft>
              <a:buChar char="•"/>
              <a:defRPr sz="1725">
                <a:solidFill>
                  <a:srgbClr val="1B1B1B"/>
                </a:solidFill>
                <a:latin typeface="Arial"/>
                <a:ea typeface="Arial"/>
                <a:cs typeface="Arial"/>
              </a:defRPr>
            </a:pPr>
            <a:r>
              <a:rPr sz="1725" dirty="0" err="1">
                <a:solidFill>
                  <a:srgbClr val="1B1B1B"/>
                </a:solidFill>
                <a:latin typeface="Arial"/>
                <a:ea typeface="Arial"/>
                <a:cs typeface="Arial"/>
              </a:rPr>
              <a:t>Tên</a:t>
            </a:r>
            <a:r>
              <a:rPr sz="1725" dirty="0">
                <a:solidFill>
                  <a:srgbClr val="1B1B1B"/>
                </a:solidFill>
                <a:latin typeface="Arial"/>
                <a:ea typeface="Arial"/>
                <a:cs typeface="Arial"/>
              </a:rPr>
              <a:t> </a:t>
            </a:r>
            <a:r>
              <a:rPr sz="1725" dirty="0" err="1">
                <a:solidFill>
                  <a:srgbClr val="1B1B1B"/>
                </a:solidFill>
                <a:latin typeface="Arial"/>
                <a:ea typeface="Arial"/>
                <a:cs typeface="Arial"/>
              </a:rPr>
              <a:t>đơn</a:t>
            </a:r>
            <a:r>
              <a:rPr sz="1725" dirty="0">
                <a:solidFill>
                  <a:srgbClr val="1B1B1B"/>
                </a:solidFill>
                <a:latin typeface="Arial"/>
                <a:ea typeface="Arial"/>
                <a:cs typeface="Arial"/>
              </a:rPr>
              <a:t> </a:t>
            </a:r>
            <a:r>
              <a:rPr sz="1725" dirty="0" err="1">
                <a:solidFill>
                  <a:srgbClr val="1B1B1B"/>
                </a:solidFill>
                <a:latin typeface="Arial"/>
                <a:ea typeface="Arial"/>
                <a:cs typeface="Arial"/>
              </a:rPr>
              <a:t>vị</a:t>
            </a:r>
            <a:r>
              <a:rPr sz="1725" dirty="0">
                <a:solidFill>
                  <a:srgbClr val="1B1B1B"/>
                </a:solidFill>
                <a:latin typeface="Arial"/>
                <a:ea typeface="Arial"/>
                <a:cs typeface="Arial"/>
              </a:rPr>
              <a:t> </a:t>
            </a:r>
            <a:r>
              <a:rPr sz="1725" dirty="0" err="1">
                <a:solidFill>
                  <a:srgbClr val="1B1B1B"/>
                </a:solidFill>
                <a:latin typeface="Arial"/>
                <a:ea typeface="Arial"/>
                <a:cs typeface="Arial"/>
              </a:rPr>
              <a:t>thụ</a:t>
            </a:r>
            <a:r>
              <a:rPr sz="1725" dirty="0">
                <a:solidFill>
                  <a:srgbClr val="1B1B1B"/>
                </a:solidFill>
                <a:latin typeface="Arial"/>
                <a:ea typeface="Arial"/>
                <a:cs typeface="Arial"/>
              </a:rPr>
              <a:t> </a:t>
            </a:r>
            <a:r>
              <a:rPr sz="1725" dirty="0" err="1">
                <a:solidFill>
                  <a:srgbClr val="1B1B1B"/>
                </a:solidFill>
                <a:latin typeface="Arial"/>
                <a:ea typeface="Arial"/>
                <a:cs typeface="Arial"/>
              </a:rPr>
              <a:t>hưởng</a:t>
            </a:r>
            <a:r>
              <a:rPr sz="1725" dirty="0">
                <a:solidFill>
                  <a:srgbClr val="1B1B1B"/>
                </a:solidFill>
                <a:latin typeface="Arial"/>
                <a:ea typeface="Arial"/>
                <a:cs typeface="Arial"/>
              </a:rPr>
              <a:t>, </a:t>
            </a:r>
            <a:r>
              <a:rPr sz="1725" dirty="0" err="1">
                <a:solidFill>
                  <a:srgbClr val="1B1B1B"/>
                </a:solidFill>
                <a:latin typeface="Arial"/>
                <a:ea typeface="Arial"/>
                <a:cs typeface="Arial"/>
              </a:rPr>
              <a:t>chữ</a:t>
            </a:r>
            <a:r>
              <a:rPr sz="1725" dirty="0">
                <a:solidFill>
                  <a:srgbClr val="1B1B1B"/>
                </a:solidFill>
                <a:latin typeface="Arial"/>
                <a:ea typeface="Arial"/>
                <a:cs typeface="Arial"/>
              </a:rPr>
              <a:t> </a:t>
            </a:r>
            <a:r>
              <a:rPr sz="1725" dirty="0" err="1">
                <a:solidFill>
                  <a:srgbClr val="1B1B1B"/>
                </a:solidFill>
                <a:latin typeface="Arial"/>
                <a:ea typeface="Arial"/>
                <a:cs typeface="Arial"/>
              </a:rPr>
              <a:t>ký</a:t>
            </a:r>
            <a:r>
              <a:rPr sz="1725" dirty="0">
                <a:solidFill>
                  <a:srgbClr val="1B1B1B"/>
                </a:solidFill>
                <a:latin typeface="Arial"/>
                <a:ea typeface="Arial"/>
                <a:cs typeface="Arial"/>
              </a:rPr>
              <a:t>, </a:t>
            </a:r>
            <a:r>
              <a:rPr sz="1725" dirty="0" err="1">
                <a:solidFill>
                  <a:srgbClr val="1B1B1B"/>
                </a:solidFill>
                <a:latin typeface="Arial"/>
                <a:ea typeface="Arial"/>
                <a:cs typeface="Arial"/>
              </a:rPr>
              <a:t>điều</a:t>
            </a:r>
            <a:r>
              <a:rPr sz="1725" dirty="0">
                <a:solidFill>
                  <a:srgbClr val="1B1B1B"/>
                </a:solidFill>
                <a:latin typeface="Arial"/>
                <a:ea typeface="Arial"/>
                <a:cs typeface="Arial"/>
              </a:rPr>
              <a:t> </a:t>
            </a:r>
            <a:r>
              <a:rPr sz="1725" dirty="0" err="1">
                <a:solidFill>
                  <a:srgbClr val="1B1B1B"/>
                </a:solidFill>
                <a:latin typeface="Arial"/>
                <a:ea typeface="Arial"/>
                <a:cs typeface="Arial"/>
              </a:rPr>
              <a:t>kiện</a:t>
            </a:r>
            <a:r>
              <a:rPr sz="1725" dirty="0">
                <a:solidFill>
                  <a:srgbClr val="1B1B1B"/>
                </a:solidFill>
                <a:latin typeface="Arial"/>
                <a:ea typeface="Arial"/>
                <a:cs typeface="Arial"/>
              </a:rPr>
              <a:t> </a:t>
            </a:r>
            <a:r>
              <a:rPr sz="1725" dirty="0" err="1">
                <a:solidFill>
                  <a:srgbClr val="1B1B1B"/>
                </a:solidFill>
                <a:latin typeface="Arial"/>
                <a:ea typeface="Arial"/>
                <a:cs typeface="Arial"/>
              </a:rPr>
              <a:t>bảo</a:t>
            </a:r>
            <a:r>
              <a:rPr sz="1725" dirty="0">
                <a:solidFill>
                  <a:srgbClr val="1B1B1B"/>
                </a:solidFill>
                <a:latin typeface="Arial"/>
                <a:ea typeface="Arial"/>
                <a:cs typeface="Arial"/>
              </a:rPr>
              <a:t> </a:t>
            </a:r>
            <a:r>
              <a:rPr sz="1725" dirty="0" err="1">
                <a:solidFill>
                  <a:srgbClr val="1B1B1B"/>
                </a:solidFill>
                <a:latin typeface="Arial"/>
                <a:ea typeface="Arial"/>
                <a:cs typeface="Arial"/>
              </a:rPr>
              <a:t>lãnh</a:t>
            </a:r>
            <a:r>
              <a:rPr sz="1725" dirty="0">
                <a:solidFill>
                  <a:srgbClr val="1B1B1B"/>
                </a:solidFill>
                <a:latin typeface="Arial"/>
                <a:ea typeface="Arial"/>
                <a:cs typeface="Arial"/>
              </a:rPr>
              <a:t> </a:t>
            </a:r>
            <a:r>
              <a:rPr sz="1725" dirty="0" err="1">
                <a:solidFill>
                  <a:srgbClr val="1B1B1B"/>
                </a:solidFill>
                <a:latin typeface="Arial"/>
                <a:ea typeface="Arial"/>
                <a:cs typeface="Arial"/>
              </a:rPr>
              <a:t>và</a:t>
            </a:r>
            <a:r>
              <a:rPr sz="1725" dirty="0">
                <a:solidFill>
                  <a:srgbClr val="1B1B1B"/>
                </a:solidFill>
                <a:latin typeface="Arial"/>
                <a:ea typeface="Arial"/>
                <a:cs typeface="Arial"/>
              </a:rPr>
              <a:t> </a:t>
            </a:r>
            <a:r>
              <a:rPr sz="1725" dirty="0" err="1">
                <a:solidFill>
                  <a:srgbClr val="1B1B1B"/>
                </a:solidFill>
                <a:latin typeface="Arial"/>
                <a:ea typeface="Arial"/>
                <a:cs typeface="Arial"/>
              </a:rPr>
              <a:t>hình</a:t>
            </a:r>
            <a:r>
              <a:rPr sz="1725" dirty="0">
                <a:solidFill>
                  <a:srgbClr val="1B1B1B"/>
                </a:solidFill>
                <a:latin typeface="Arial"/>
                <a:ea typeface="Arial"/>
                <a:cs typeface="Arial"/>
              </a:rPr>
              <a:t> </a:t>
            </a:r>
            <a:r>
              <a:rPr sz="1725" dirty="0" err="1">
                <a:solidFill>
                  <a:srgbClr val="1B1B1B"/>
                </a:solidFill>
                <a:latin typeface="Arial"/>
                <a:ea typeface="Arial"/>
                <a:cs typeface="Arial"/>
              </a:rPr>
              <a:t>thức</a:t>
            </a:r>
            <a:r>
              <a:rPr sz="1725" dirty="0">
                <a:solidFill>
                  <a:srgbClr val="1B1B1B"/>
                </a:solidFill>
                <a:latin typeface="Arial"/>
                <a:ea typeface="Arial"/>
                <a:cs typeface="Arial"/>
              </a:rPr>
              <a:t> </a:t>
            </a:r>
            <a:r>
              <a:rPr sz="1725" dirty="0" err="1">
                <a:solidFill>
                  <a:srgbClr val="1B1B1B"/>
                </a:solidFill>
                <a:latin typeface="Arial"/>
                <a:ea typeface="Arial"/>
                <a:cs typeface="Arial"/>
              </a:rPr>
              <a:t>điện</a:t>
            </a:r>
            <a:r>
              <a:rPr sz="1725" dirty="0">
                <a:solidFill>
                  <a:srgbClr val="1B1B1B"/>
                </a:solidFill>
                <a:latin typeface="Arial"/>
                <a:ea typeface="Arial"/>
                <a:cs typeface="Arial"/>
              </a:rPr>
              <a:t> </a:t>
            </a:r>
            <a:r>
              <a:rPr sz="1725" dirty="0" err="1">
                <a:solidFill>
                  <a:srgbClr val="1B1B1B"/>
                </a:solidFill>
                <a:latin typeface="Arial"/>
                <a:ea typeface="Arial"/>
                <a:cs typeface="Arial"/>
              </a:rPr>
              <a:t>tử</a:t>
            </a:r>
            <a:r>
              <a:rPr sz="1725" dirty="0">
                <a:solidFill>
                  <a:srgbClr val="1B1B1B"/>
                </a:solidFill>
                <a:latin typeface="Arial"/>
                <a:ea typeface="Arial"/>
                <a:cs typeface="Arial"/>
              </a:rPr>
              <a:t>/</a:t>
            </a:r>
            <a:r>
              <a:rPr sz="1725" dirty="0" err="1">
                <a:solidFill>
                  <a:srgbClr val="1B1B1B"/>
                </a:solidFill>
                <a:latin typeface="Arial"/>
                <a:ea typeface="Arial"/>
                <a:cs typeface="Arial"/>
              </a:rPr>
              <a:t>giấy</a:t>
            </a:r>
            <a:r>
              <a:rPr sz="1725" dirty="0">
                <a:solidFill>
                  <a:srgbClr val="1B1B1B"/>
                </a:solidFill>
                <a:latin typeface="Arial"/>
                <a:ea typeface="Arial"/>
                <a:cs typeface="Arial"/>
              </a:rPr>
              <a:t>.</a:t>
            </a:r>
          </a:p>
          <a:p>
            <a:pPr marL="279400" indent="-127000">
              <a:spcAft>
                <a:spcPts val="1200"/>
              </a:spcAft>
              <a:buChar char="•"/>
              <a:defRPr sz="1725">
                <a:solidFill>
                  <a:srgbClr val="1B1B1B"/>
                </a:solidFill>
                <a:latin typeface="Arial"/>
                <a:ea typeface="Arial"/>
                <a:cs typeface="Arial"/>
              </a:defRPr>
            </a:pPr>
            <a:r>
              <a:rPr sz="1725" dirty="0">
                <a:solidFill>
                  <a:srgbClr val="1B1B1B"/>
                </a:solidFill>
                <a:latin typeface="Arial"/>
                <a:ea typeface="Arial"/>
                <a:cs typeface="Arial"/>
              </a:rPr>
              <a:t>Liên </a:t>
            </a:r>
            <a:r>
              <a:rPr sz="1725" dirty="0" err="1">
                <a:solidFill>
                  <a:srgbClr val="1B1B1B"/>
                </a:solidFill>
                <a:latin typeface="Arial"/>
                <a:ea typeface="Arial"/>
                <a:cs typeface="Arial"/>
              </a:rPr>
              <a:t>danh</a:t>
            </a:r>
            <a:r>
              <a:rPr sz="1725" dirty="0">
                <a:solidFill>
                  <a:srgbClr val="1B1B1B"/>
                </a:solidFill>
                <a:latin typeface="Arial"/>
                <a:ea typeface="Arial"/>
                <a:cs typeface="Arial"/>
              </a:rPr>
              <a:t>: </a:t>
            </a:r>
            <a:r>
              <a:rPr sz="1725" dirty="0" err="1">
                <a:solidFill>
                  <a:srgbClr val="1B1B1B"/>
                </a:solidFill>
                <a:latin typeface="Arial"/>
                <a:ea typeface="Arial"/>
                <a:cs typeface="Arial"/>
              </a:rPr>
              <a:t>hai</a:t>
            </a:r>
            <a:r>
              <a:rPr sz="1725" dirty="0">
                <a:solidFill>
                  <a:srgbClr val="1B1B1B"/>
                </a:solidFill>
                <a:latin typeface="Arial"/>
                <a:ea typeface="Arial"/>
                <a:cs typeface="Arial"/>
              </a:rPr>
              <a:t> </a:t>
            </a:r>
            <a:r>
              <a:rPr sz="1725" dirty="0" err="1">
                <a:solidFill>
                  <a:srgbClr val="1B1B1B"/>
                </a:solidFill>
                <a:latin typeface="Arial"/>
                <a:ea typeface="Arial"/>
                <a:cs typeface="Arial"/>
              </a:rPr>
              <a:t>cách</a:t>
            </a:r>
            <a:r>
              <a:rPr sz="1725" dirty="0">
                <a:solidFill>
                  <a:srgbClr val="1B1B1B"/>
                </a:solidFill>
                <a:latin typeface="Arial"/>
                <a:ea typeface="Arial"/>
                <a:cs typeface="Arial"/>
              </a:rPr>
              <a:t> </a:t>
            </a:r>
            <a:r>
              <a:rPr sz="1725" dirty="0" err="1">
                <a:solidFill>
                  <a:srgbClr val="1B1B1B"/>
                </a:solidFill>
                <a:latin typeface="Arial"/>
                <a:ea typeface="Arial"/>
                <a:cs typeface="Arial"/>
              </a:rPr>
              <a:t>thực</a:t>
            </a:r>
            <a:r>
              <a:rPr sz="1725" dirty="0">
                <a:solidFill>
                  <a:srgbClr val="1B1B1B"/>
                </a:solidFill>
                <a:latin typeface="Arial"/>
                <a:ea typeface="Arial"/>
                <a:cs typeface="Arial"/>
              </a:rPr>
              <a:t> </a:t>
            </a:r>
            <a:r>
              <a:rPr sz="1725" dirty="0" err="1">
                <a:solidFill>
                  <a:srgbClr val="1B1B1B"/>
                </a:solidFill>
                <a:latin typeface="Arial"/>
                <a:ea typeface="Arial"/>
                <a:cs typeface="Arial"/>
              </a:rPr>
              <a:t>hiện</a:t>
            </a:r>
            <a:r>
              <a:rPr sz="1725" dirty="0">
                <a:solidFill>
                  <a:srgbClr val="1B1B1B"/>
                </a:solidFill>
                <a:latin typeface="Arial"/>
                <a:ea typeface="Arial"/>
                <a:cs typeface="Arial"/>
              </a:rPr>
              <a:t>, </a:t>
            </a:r>
            <a:r>
              <a:rPr sz="1725" dirty="0" err="1">
                <a:solidFill>
                  <a:srgbClr val="1B1B1B"/>
                </a:solidFill>
                <a:latin typeface="Arial"/>
                <a:ea typeface="Arial"/>
                <a:cs typeface="Arial"/>
              </a:rPr>
              <a:t>tổng</a:t>
            </a:r>
            <a:r>
              <a:rPr sz="1725" dirty="0">
                <a:solidFill>
                  <a:srgbClr val="1B1B1B"/>
                </a:solidFill>
                <a:latin typeface="Arial"/>
                <a:ea typeface="Arial"/>
                <a:cs typeface="Arial"/>
              </a:rPr>
              <a:t> </a:t>
            </a:r>
            <a:r>
              <a:rPr sz="1725" dirty="0" err="1">
                <a:solidFill>
                  <a:srgbClr val="1B1B1B"/>
                </a:solidFill>
                <a:latin typeface="Arial"/>
                <a:ea typeface="Arial"/>
                <a:cs typeface="Arial"/>
              </a:rPr>
              <a:t>giá</a:t>
            </a:r>
            <a:r>
              <a:rPr sz="1725" dirty="0">
                <a:solidFill>
                  <a:srgbClr val="1B1B1B"/>
                </a:solidFill>
                <a:latin typeface="Arial"/>
                <a:ea typeface="Arial"/>
                <a:cs typeface="Arial"/>
              </a:rPr>
              <a:t> </a:t>
            </a:r>
            <a:r>
              <a:rPr sz="1725" dirty="0" err="1">
                <a:solidFill>
                  <a:srgbClr val="1B1B1B"/>
                </a:solidFill>
                <a:latin typeface="Arial"/>
                <a:ea typeface="Arial"/>
                <a:cs typeface="Arial"/>
              </a:rPr>
              <a:t>trị</a:t>
            </a:r>
            <a:r>
              <a:rPr sz="1725" dirty="0">
                <a:solidFill>
                  <a:srgbClr val="1B1B1B"/>
                </a:solidFill>
                <a:latin typeface="Arial"/>
                <a:ea typeface="Arial"/>
                <a:cs typeface="Arial"/>
              </a:rPr>
              <a:t> </a:t>
            </a:r>
            <a:r>
              <a:rPr sz="1725" dirty="0" err="1">
                <a:solidFill>
                  <a:srgbClr val="1B1B1B"/>
                </a:solidFill>
                <a:latin typeface="Arial"/>
                <a:ea typeface="Arial"/>
                <a:cs typeface="Arial"/>
              </a:rPr>
              <a:t>không</a:t>
            </a:r>
            <a:r>
              <a:rPr sz="1725" dirty="0">
                <a:solidFill>
                  <a:srgbClr val="1B1B1B"/>
                </a:solidFill>
                <a:latin typeface="Arial"/>
                <a:ea typeface="Arial"/>
                <a:cs typeface="Arial"/>
              </a:rPr>
              <a:t> </a:t>
            </a:r>
            <a:r>
              <a:rPr sz="1725" dirty="0" err="1">
                <a:solidFill>
                  <a:srgbClr val="1B1B1B"/>
                </a:solidFill>
                <a:latin typeface="Arial"/>
                <a:ea typeface="Arial"/>
                <a:cs typeface="Arial"/>
              </a:rPr>
              <a:t>thấp</a:t>
            </a:r>
            <a:r>
              <a:rPr sz="1725" dirty="0">
                <a:solidFill>
                  <a:srgbClr val="1B1B1B"/>
                </a:solidFill>
                <a:latin typeface="Arial"/>
                <a:ea typeface="Arial"/>
                <a:cs typeface="Arial"/>
              </a:rPr>
              <a:t> </a:t>
            </a:r>
            <a:r>
              <a:rPr sz="1725" dirty="0" err="1">
                <a:solidFill>
                  <a:srgbClr val="1B1B1B"/>
                </a:solidFill>
                <a:latin typeface="Arial"/>
                <a:ea typeface="Arial"/>
                <a:cs typeface="Arial"/>
              </a:rPr>
              <a:t>hơn</a:t>
            </a:r>
            <a:r>
              <a:rPr sz="1725" dirty="0">
                <a:solidFill>
                  <a:srgbClr val="1B1B1B"/>
                </a:solidFill>
                <a:latin typeface="Arial"/>
                <a:ea typeface="Arial"/>
                <a:cs typeface="Arial"/>
              </a:rPr>
              <a:t> </a:t>
            </a:r>
            <a:r>
              <a:rPr sz="1725" dirty="0" err="1">
                <a:solidFill>
                  <a:srgbClr val="1B1B1B"/>
                </a:solidFill>
                <a:latin typeface="Arial"/>
                <a:ea typeface="Arial"/>
                <a:cs typeface="Arial"/>
              </a:rPr>
              <a:t>yêu</a:t>
            </a:r>
            <a:r>
              <a:rPr sz="1725" dirty="0">
                <a:solidFill>
                  <a:srgbClr val="1B1B1B"/>
                </a:solidFill>
                <a:latin typeface="Arial"/>
                <a:ea typeface="Arial"/>
                <a:cs typeface="Arial"/>
              </a:rPr>
              <a:t> </a:t>
            </a:r>
            <a:r>
              <a:rPr sz="1725" dirty="0" err="1">
                <a:solidFill>
                  <a:srgbClr val="1B1B1B"/>
                </a:solidFill>
                <a:latin typeface="Arial"/>
                <a:ea typeface="Arial"/>
                <a:cs typeface="Arial"/>
              </a:rPr>
              <a:t>cầu</a:t>
            </a:r>
            <a:r>
              <a:rPr sz="1725" dirty="0">
                <a:solidFill>
                  <a:srgbClr val="1B1B1B"/>
                </a:solidFill>
                <a:latin typeface="Arial"/>
                <a:ea typeface="Arial"/>
                <a:cs typeface="Arial"/>
              </a:rPr>
              <a:t>.</a:t>
            </a:r>
          </a:p>
        </p:txBody>
      </p:sp>
      <p:sp>
        <p:nvSpPr>
          <p:cNvPr id="4" name="Rectangle 3">
            <a:extLst>
              <a:ext uri="{FF2B5EF4-FFF2-40B4-BE49-F238E27FC236}">
                <a16:creationId xmlns:a16="http://schemas.microsoft.com/office/drawing/2014/main" id="{7A05E689-3890-46E7-BDDE-2EA40C8E20A5}"/>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A26E52F7-4743-4E82-B532-8696AA295632}"/>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00155317-F92B-41F9-9065-C0FFE90F3ABF}"/>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Giá trị: 12.000.000 VND.</a:t>
            </a:r>
          </a:p>
        </p:txBody>
      </p:sp>
      <p:sp>
        <p:nvSpPr>
          <p:cNvPr id="7" name="Rectangle 6">
            <a:extLst>
              <a:ext uri="{FF2B5EF4-FFF2-40B4-BE49-F238E27FC236}">
                <a16:creationId xmlns:a16="http://schemas.microsoft.com/office/drawing/2014/main" id="{F1EAA452-C060-47AC-929D-9BBB1A1BAC28}"/>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3680F958-D89B-46CD-A8F1-098678EAEEF8}"/>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Hiệu lực: ít nhất 120 ngày, tính từ ngày đóng thầu.</a:t>
            </a:r>
          </a:p>
        </p:txBody>
      </p:sp>
      <p:sp>
        <p:nvSpPr>
          <p:cNvPr id="9" name="Rectangle 8">
            <a:extLst>
              <a:ext uri="{FF2B5EF4-FFF2-40B4-BE49-F238E27FC236}">
                <a16:creationId xmlns:a16="http://schemas.microsoft.com/office/drawing/2014/main" id="{4B6EADCF-885E-456B-8BB9-8007A5794603}"/>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065A9B60-3347-469D-861C-9148953A167E}"/>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Tên đơn vị thụ hưởng, chữ ký, điều kiện bảo lãnh và hình thức điện…</a:t>
            </a:r>
          </a:p>
        </p:txBody>
      </p:sp>
      <p:sp>
        <p:nvSpPr>
          <p:cNvPr id="11" name="Rectangle 10">
            <a:extLst>
              <a:ext uri="{FF2B5EF4-FFF2-40B4-BE49-F238E27FC236}">
                <a16:creationId xmlns:a16="http://schemas.microsoft.com/office/drawing/2014/main" id="{28F83553-BEBF-45BD-8964-78144B7CC256}"/>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3154C0F0-0BA4-4CBF-9448-4095BC66DB94}"/>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Liên danh: hai cách thực hiện, tổng giá trị không thấp hơn yêu cầu.</a:t>
            </a:r>
          </a:p>
        </p:txBody>
      </p:sp>
      <p:sp>
        <p:nvSpPr>
          <p:cNvPr id="13" name="Rectangle 12">
            <a:extLst>
              <a:ext uri="{FF2B5EF4-FFF2-40B4-BE49-F238E27FC236}">
                <a16:creationId xmlns:a16="http://schemas.microsoft.com/office/drawing/2014/main" id="{1367AE7F-160C-4EB9-A1A4-2C6828517121}"/>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2AD37583-59CB-495C-8E5B-768203F5BAB8}"/>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C15E4ABC-A673-4719-9646-55E780044313}"/>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30</a:t>
            </a:r>
          </a:p>
        </p:txBody>
      </p:sp>
      <p:sp>
        <p:nvSpPr>
          <p:cNvPr id="16" name="Rectangle 15">
            <a:extLst>
              <a:ext uri="{FF2B5EF4-FFF2-40B4-BE49-F238E27FC236}">
                <a16:creationId xmlns:a16="http://schemas.microsoft.com/office/drawing/2014/main" id="{273BCEEF-C409-4A0A-A4D4-7377A2B9D43B}"/>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4B230F90-7322-4C0A-9294-70CE0429E6C1}"/>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Rectangle 17">
            <a:extLst>
              <a:ext uri="{FF2B5EF4-FFF2-40B4-BE49-F238E27FC236}">
                <a16:creationId xmlns:a16="http://schemas.microsoft.com/office/drawing/2014/main" id="{B5578CCC-47FA-48A3-B2FC-899D4D974C09}"/>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Luật; Mục 18.1-18.8 E-CDNT HSMT Cần Thơ.</a:t>
            </a:r>
          </a:p>
        </p:txBody>
      </p:sp>
    </p:spTree>
    <p:extLst>
      <p:ext uri="{BB962C8B-B14F-4D97-AF65-F5344CB8AC3E}">
        <p14:creationId xmlns:p14="http://schemas.microsoft.com/office/powerpoint/2010/main" val="9786229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185A9FBD-E2F2-48EA-866D-8D0454750825}"/>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TÀI LIỆU TÀI CHÍNH, THUẾ, BHXH VÀ GIẤY ĐĂNG KÝ</a:t>
            </a:r>
          </a:p>
        </p:txBody>
      </p:sp>
      <p:sp>
        <p:nvSpPr>
          <p:cNvPr id="2" name="Rectangle 1">
            <a:extLst>
              <a:ext uri="{FF2B5EF4-FFF2-40B4-BE49-F238E27FC236}">
                <a16:creationId xmlns:a16="http://schemas.microsoft.com/office/drawing/2014/main" id="{A3DAF7F9-C07B-48B0-929E-AF7DEEEB21B9}"/>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Kiểm tra yêu cầu tài liệu và nguy cơ trùng lặp.</a:t>
            </a:r>
          </a:p>
        </p:txBody>
      </p:sp>
      <p:sp>
        <p:nvSpPr>
          <p:cNvPr id="3" name="Rectangle 2">
            <a:extLst>
              <a:ext uri="{FF2B5EF4-FFF2-40B4-BE49-F238E27FC236}">
                <a16:creationId xmlns:a16="http://schemas.microsoft.com/office/drawing/2014/main" id="{0E3EA591-2DE2-40C2-B47D-18A870687093}"/>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Báo cáo tài chính 2023-2025.</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Xác nhận nghĩa vụ thuế hết 2025.</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đăng ký kinh doanh/quyết định thành lập.</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Xác nhận không nợ BHXH, BHYT đến hết Quý II/2026.</a:t>
            </a:r>
          </a:p>
        </p:txBody>
      </p:sp>
      <p:sp>
        <p:nvSpPr>
          <p:cNvPr id="4" name="Rectangle 3">
            <a:extLst>
              <a:ext uri="{FF2B5EF4-FFF2-40B4-BE49-F238E27FC236}">
                <a16:creationId xmlns:a16="http://schemas.microsoft.com/office/drawing/2014/main" id="{D4B74E7C-478F-483D-B392-7D4793E5B6B3}"/>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8614481C-0E5F-476C-A4F8-AC14B8FABD03}"/>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AAF770B6-FA78-49F6-B90E-498DE83DA394}"/>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Báo cáo tài chính 2023-2025.</a:t>
            </a:r>
          </a:p>
        </p:txBody>
      </p:sp>
      <p:sp>
        <p:nvSpPr>
          <p:cNvPr id="7" name="Rectangle 6">
            <a:extLst>
              <a:ext uri="{FF2B5EF4-FFF2-40B4-BE49-F238E27FC236}">
                <a16:creationId xmlns:a16="http://schemas.microsoft.com/office/drawing/2014/main" id="{26F1BF2D-54FA-425C-A2A3-39B2CF208AA1}"/>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8F16C783-D992-4F44-8B90-5CCC9A1438C3}"/>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Xác nhận nghĩa vụ thuế hết 2025.</a:t>
            </a:r>
          </a:p>
        </p:txBody>
      </p:sp>
      <p:sp>
        <p:nvSpPr>
          <p:cNvPr id="9" name="Rectangle 8">
            <a:extLst>
              <a:ext uri="{FF2B5EF4-FFF2-40B4-BE49-F238E27FC236}">
                <a16:creationId xmlns:a16="http://schemas.microsoft.com/office/drawing/2014/main" id="{0C2523C3-0505-4437-AB30-30D6DEB25949}"/>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087006AC-EFF2-4F7F-9CDE-07DB33381E2A}"/>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Giấy đăng ký kinh doanh/quyết định thành lập.</a:t>
            </a:r>
          </a:p>
        </p:txBody>
      </p:sp>
      <p:sp>
        <p:nvSpPr>
          <p:cNvPr id="11" name="Rectangle 10">
            <a:extLst>
              <a:ext uri="{FF2B5EF4-FFF2-40B4-BE49-F238E27FC236}">
                <a16:creationId xmlns:a16="http://schemas.microsoft.com/office/drawing/2014/main" id="{151EF9B7-23EA-408E-8655-A35BF5D9AFC8}"/>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E257CC3A-1B73-49CB-BB8F-615DE2F665C6}"/>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Xác nhận không nợ BHXH, BHYT đến hết Quý II/2026.</a:t>
            </a:r>
          </a:p>
        </p:txBody>
      </p:sp>
      <p:sp>
        <p:nvSpPr>
          <p:cNvPr id="13" name="Rectangle 12">
            <a:extLst>
              <a:ext uri="{FF2B5EF4-FFF2-40B4-BE49-F238E27FC236}">
                <a16:creationId xmlns:a16="http://schemas.microsoft.com/office/drawing/2014/main" id="{1719FAC5-2C03-4D22-AF9C-CC6A1F153F91}"/>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E1691C45-E6F9-4557-8BEE-3CD063DC391F}"/>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26193DF9-4B70-4332-94BB-BB2872DEC427}"/>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31</a:t>
            </a:r>
          </a:p>
        </p:txBody>
      </p:sp>
      <p:sp>
        <p:nvSpPr>
          <p:cNvPr id="16" name="Rectangle 15">
            <a:extLst>
              <a:ext uri="{FF2B5EF4-FFF2-40B4-BE49-F238E27FC236}">
                <a16:creationId xmlns:a16="http://schemas.microsoft.com/office/drawing/2014/main" id="{F25ED691-3349-4C6C-AF76-D37523844214}"/>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2135D122-CA87-41DD-B13C-B4E6CD7C9BBB}"/>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8" name="Rectangle 17">
            <a:extLst>
              <a:ext uri="{FF2B5EF4-FFF2-40B4-BE49-F238E27FC236}">
                <a16:creationId xmlns:a16="http://schemas.microsoft.com/office/drawing/2014/main" id="{9F0FAE8E-6033-4A96-B0E9-2081DE301FB8}"/>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E-CDNT 10.8 HSMT Cần Thơ; Mục 16, 30 E-CDNT; Điều 5, 61 Luật.</a:t>
            </a:r>
          </a:p>
        </p:txBody>
      </p:sp>
    </p:spTree>
    <p:extLst>
      <p:ext uri="{BB962C8B-B14F-4D97-AF65-F5344CB8AC3E}">
        <p14:creationId xmlns:p14="http://schemas.microsoft.com/office/powerpoint/2010/main" val="15650887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2114C7F-A9C6-4315-B816-DDAAACF5502A}"/>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NHÀ THẦU PHỤ VÀ GIỚI HẠN 0%</a:t>
            </a:r>
          </a:p>
        </p:txBody>
      </p:sp>
      <p:sp>
        <p:nvSpPr>
          <p:cNvPr id="2" name="Rectangle 1">
            <a:extLst>
              <a:ext uri="{FF2B5EF4-FFF2-40B4-BE49-F238E27FC236}">
                <a16:creationId xmlns:a16="http://schemas.microsoft.com/office/drawing/2014/main" id="{A92A775A-046A-4F07-ADE0-24C0F8DAF21C}"/>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Hiểu tác động của việc không cho phép nhà thầu phụ.</a:t>
            </a:r>
          </a:p>
        </p:txBody>
      </p:sp>
      <p:sp>
        <p:nvSpPr>
          <p:cNvPr id="3" name="Rectangle 2">
            <a:extLst>
              <a:ext uri="{FF2B5EF4-FFF2-40B4-BE49-F238E27FC236}">
                <a16:creationId xmlns:a16="http://schemas.microsoft.com/office/drawing/2014/main" id="{A69BFA3B-2D46-469A-A5D1-72F113C8FBEE}"/>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E-CDNT 27.2: giá trị tối đa dành cho nhà thầu phụ là 0% giá dự thầu.</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Chương V lại có nhiều công việc chuyên môn: tư vấn, kiểm nghiệm, chứng nhận, giám sát.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Điểm cần rà soát: 0% có phù hợp với cách tổ chức thực hiện scope không?</a:t>
            </a:r>
          </a:p>
        </p:txBody>
      </p:sp>
      <p:sp>
        <p:nvSpPr>
          <p:cNvPr id="4" name="Rectangle 3">
            <a:extLst>
              <a:ext uri="{FF2B5EF4-FFF2-40B4-BE49-F238E27FC236}">
                <a16:creationId xmlns:a16="http://schemas.microsoft.com/office/drawing/2014/main" id="{A300390E-CC1C-4508-ABF1-63CD8B45B520}"/>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0E4D2546-E9FA-4FC0-983A-9901E06CA150}"/>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5571A31B-BBC5-4247-B51C-FC87DE33B49C}"/>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E-CDNT 27.2: giá trị tối đa dành cho nhà thầu phụ là 0% giá dự thầu.</a:t>
            </a:r>
          </a:p>
        </p:txBody>
      </p:sp>
      <p:sp>
        <p:nvSpPr>
          <p:cNvPr id="7" name="Rectangle 6">
            <a:extLst>
              <a:ext uri="{FF2B5EF4-FFF2-40B4-BE49-F238E27FC236}">
                <a16:creationId xmlns:a16="http://schemas.microsoft.com/office/drawing/2014/main" id="{86275999-9535-4F14-AD41-DC2FE60DD2D3}"/>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82B91996-B04F-48DC-9AE2-9F75B982263A}"/>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Chương V lại có nhiều công việc chuyên môn: tư vấn, kiểm nghiệm, c…</a:t>
            </a:r>
          </a:p>
        </p:txBody>
      </p:sp>
      <p:sp>
        <p:nvSpPr>
          <p:cNvPr id="9" name="Rectangle 8">
            <a:extLst>
              <a:ext uri="{FF2B5EF4-FFF2-40B4-BE49-F238E27FC236}">
                <a16:creationId xmlns:a16="http://schemas.microsoft.com/office/drawing/2014/main" id="{3849BE21-C673-4383-AD3B-77D51C185A9C}"/>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0B224737-1300-4D6B-8556-710D1C5FD084}"/>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Điểm cần rà soát: 0% có phù hợp với cách tổ chức thực hiện scope k…</a:t>
            </a:r>
          </a:p>
        </p:txBody>
      </p:sp>
      <p:sp>
        <p:nvSpPr>
          <p:cNvPr id="11" name="Rectangle 10">
            <a:extLst>
              <a:ext uri="{FF2B5EF4-FFF2-40B4-BE49-F238E27FC236}">
                <a16:creationId xmlns:a16="http://schemas.microsoft.com/office/drawing/2014/main" id="{A67E3998-79BD-4C0C-BD63-23C3E90DBAB8}"/>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0BBFC221-5075-46B2-82EB-EAB9509CB906}"/>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5EDBF59C-E33E-4145-946C-12CC793F260A}"/>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32</a:t>
            </a:r>
          </a:p>
        </p:txBody>
      </p:sp>
      <p:sp>
        <p:nvSpPr>
          <p:cNvPr id="14" name="Rectangle 13">
            <a:extLst>
              <a:ext uri="{FF2B5EF4-FFF2-40B4-BE49-F238E27FC236}">
                <a16:creationId xmlns:a16="http://schemas.microsoft.com/office/drawing/2014/main" id="{4EC5A759-1DCF-466F-B90D-926E975CB892}"/>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03F41FC8-9DB4-4A6C-8245-401348FAF624}"/>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IV. HSMT THEO LUẬT</a:t>
            </a:r>
          </a:p>
        </p:txBody>
      </p:sp>
      <p:sp>
        <p:nvSpPr>
          <p:cNvPr id="16" name="Rectangle 15">
            <a:extLst>
              <a:ext uri="{FF2B5EF4-FFF2-40B4-BE49-F238E27FC236}">
                <a16:creationId xmlns:a16="http://schemas.microsoft.com/office/drawing/2014/main" id="{8F76E2C2-98BC-4972-864E-5D9A4745E6E3}"/>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E-CDNT 27.2, Chương V HSMT Cần Thơ.</a:t>
            </a:r>
          </a:p>
        </p:txBody>
      </p:sp>
    </p:spTree>
    <p:extLst>
      <p:ext uri="{BB962C8B-B14F-4D97-AF65-F5344CB8AC3E}">
        <p14:creationId xmlns:p14="http://schemas.microsoft.com/office/powerpoint/2010/main" val="10403782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6" name="Straight Arrow Connector 15"/>
          <p:cNvCxnSpPr>
            <a:stCxn id="5" idx="3"/>
            <a:endCxn id="6" idx="1"/>
          </p:cNvCxnSpPr>
          <p:nvPr/>
        </p:nvCxnSpPr>
        <p:spPr>
          <a:xfrm>
            <a:off x="8758238" y="3119438"/>
            <a:ext cx="209550" cy="0"/>
          </a:xfrm>
          <a:prstGeom prst="straightConnector1">
            <a:avLst/>
          </a:prstGeom>
          <a:ln w="19050">
            <a:solidFill>
              <a:srgbClr val="E6002D"/>
            </a:solidFill>
            <a:prstDash val="solid"/>
            <a:headEnd type="triangle" w="sm" len="sm"/>
          </a:ln>
        </p:spPr>
      </p:cxnSp>
      <p:cxnSp>
        <p:nvCxnSpPr>
          <p:cNvPr id="17" name="Straight Arrow Connector 16"/>
          <p:cNvCxnSpPr>
            <a:stCxn id="4" idx="3"/>
            <a:endCxn id="5" idx="1"/>
          </p:cNvCxnSpPr>
          <p:nvPr/>
        </p:nvCxnSpPr>
        <p:spPr>
          <a:xfrm>
            <a:off x="5991226" y="3119438"/>
            <a:ext cx="209549" cy="0"/>
          </a:xfrm>
          <a:prstGeom prst="straightConnector1">
            <a:avLst/>
          </a:prstGeom>
          <a:ln w="19050">
            <a:solidFill>
              <a:srgbClr val="E6002D"/>
            </a:solidFill>
            <a:prstDash val="solid"/>
            <a:headEnd type="triangle" w="sm" len="sm"/>
          </a:ln>
        </p:spPr>
      </p:cxnSp>
      <p:cxnSp>
        <p:nvCxnSpPr>
          <p:cNvPr id="18" name="Straight Arrow Connector 17"/>
          <p:cNvCxnSpPr>
            <a:stCxn id="3" idx="3"/>
            <a:endCxn id="4" idx="1"/>
          </p:cNvCxnSpPr>
          <p:nvPr/>
        </p:nvCxnSpPr>
        <p:spPr>
          <a:xfrm>
            <a:off x="3224213" y="3119438"/>
            <a:ext cx="209550" cy="0"/>
          </a:xfrm>
          <a:prstGeom prst="straightConnector1">
            <a:avLst/>
          </a:prstGeom>
          <a:ln w="19050">
            <a:solidFill>
              <a:srgbClr val="E6002D"/>
            </a:solidFill>
            <a:prstDash val="solid"/>
            <a:headEnd type="triangle" w="sm" len="sm"/>
          </a:ln>
        </p:spPr>
      </p:cxnSp>
      <p:sp>
        <p:nvSpPr>
          <p:cNvPr id="19" name="Rectangle 18">
            <a:extLst>
              <a:ext uri="{FF2B5EF4-FFF2-40B4-BE49-F238E27FC236}">
                <a16:creationId xmlns:a16="http://schemas.microsoft.com/office/drawing/2014/main" id="{502E04FD-8445-4957-96C8-53147AA3C291}"/>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BỐN CỔNG ĐÁNH GIÁ HSDT</a:t>
            </a:r>
          </a:p>
        </p:txBody>
      </p:sp>
      <p:sp>
        <p:nvSpPr>
          <p:cNvPr id="2" name="Rectangle 1">
            <a:extLst>
              <a:ext uri="{FF2B5EF4-FFF2-40B4-BE49-F238E27FC236}">
                <a16:creationId xmlns:a16="http://schemas.microsoft.com/office/drawing/2014/main" id="{4A44A3A0-5165-4767-9054-09F700DC6ED2}"/>
              </a:ext>
            </a:extLst>
          </p:cNvPr>
          <p:cNvSpPr>
            <a:spLocks noGrp="1"/>
          </p:cNvSpPr>
          <p:nvPr/>
        </p:nvSpPr>
        <p:spPr>
          <a:xfrm>
            <a:off x="666750" y="1000125"/>
            <a:ext cx="10763250" cy="523875"/>
          </a:xfrm>
          <a:prstGeom prst="rect">
            <a:avLst/>
          </a:prstGeom>
          <a:noFill/>
          <a:ln w="0">
            <a:noFill/>
          </a:ln>
        </p:spPr>
        <p:txBody>
          <a:bodyPr anchor="ctr">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Xây dựng mô hình đánh giá dễ nhớ.</a:t>
            </a:r>
          </a:p>
        </p:txBody>
      </p:sp>
      <p:sp>
        <p:nvSpPr>
          <p:cNvPr id="3" name="Rectangle: Rounded Corners 2">
            <a:extLst>
              <a:ext uri="{FF2B5EF4-FFF2-40B4-BE49-F238E27FC236}">
                <a16:creationId xmlns:a16="http://schemas.microsoft.com/office/drawing/2014/main" id="{B2E47D95-894C-4208-9047-8C35BD9119A3}"/>
              </a:ext>
            </a:extLst>
          </p:cNvPr>
          <p:cNvSpPr>
            <a:spLocks noGrp="1"/>
          </p:cNvSpPr>
          <p:nvPr/>
        </p:nvSpPr>
        <p:spPr>
          <a:xfrm>
            <a:off x="666750" y="2476500"/>
            <a:ext cx="2557463"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Cổng 1: tính hợp lệ.</a:t>
            </a:r>
          </a:p>
        </p:txBody>
      </p:sp>
      <p:sp>
        <p:nvSpPr>
          <p:cNvPr id="4" name="Rectangle: Rounded Corners 3">
            <a:extLst>
              <a:ext uri="{FF2B5EF4-FFF2-40B4-BE49-F238E27FC236}">
                <a16:creationId xmlns:a16="http://schemas.microsoft.com/office/drawing/2014/main" id="{E754051E-2598-478F-AD86-78A93CFE0DEB}"/>
              </a:ext>
            </a:extLst>
          </p:cNvPr>
          <p:cNvSpPr>
            <a:spLocks noGrp="1"/>
          </p:cNvSpPr>
          <p:nvPr/>
        </p:nvSpPr>
        <p:spPr>
          <a:xfrm>
            <a:off x="3433763" y="2476500"/>
            <a:ext cx="2557463"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Cổng 2: năng lực và kinh nghiệm.</a:t>
            </a:r>
          </a:p>
        </p:txBody>
      </p:sp>
      <p:sp>
        <p:nvSpPr>
          <p:cNvPr id="5" name="Rectangle: Rounded Corners 4">
            <a:extLst>
              <a:ext uri="{FF2B5EF4-FFF2-40B4-BE49-F238E27FC236}">
                <a16:creationId xmlns:a16="http://schemas.microsoft.com/office/drawing/2014/main" id="{F77CD0EB-8800-4544-98CA-E18287F01FF3}"/>
              </a:ext>
            </a:extLst>
          </p:cNvPr>
          <p:cNvSpPr>
            <a:spLocks noGrp="1"/>
          </p:cNvSpPr>
          <p:nvPr/>
        </p:nvSpPr>
        <p:spPr>
          <a:xfrm>
            <a:off x="6200775" y="2476500"/>
            <a:ext cx="2557463"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Cổng 3: kỹ thuật.</a:t>
            </a:r>
          </a:p>
        </p:txBody>
      </p:sp>
      <p:sp>
        <p:nvSpPr>
          <p:cNvPr id="6" name="Rectangle: Rounded Corners 5">
            <a:extLst>
              <a:ext uri="{FF2B5EF4-FFF2-40B4-BE49-F238E27FC236}">
                <a16:creationId xmlns:a16="http://schemas.microsoft.com/office/drawing/2014/main" id="{8A296EC8-6272-483F-A589-8CEC51F0BB78}"/>
              </a:ext>
            </a:extLst>
          </p:cNvPr>
          <p:cNvSpPr>
            <a:spLocks noGrp="1"/>
          </p:cNvSpPr>
          <p:nvPr/>
        </p:nvSpPr>
        <p:spPr>
          <a:xfrm>
            <a:off x="8967788" y="2476500"/>
            <a:ext cx="2557463"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Cổng 4: tài chính và xếp hạng.</a:t>
            </a:r>
          </a:p>
        </p:txBody>
      </p:sp>
      <p:sp>
        <p:nvSpPr>
          <p:cNvPr id="10" name="Rectangle 9">
            <a:extLst>
              <a:ext uri="{FF2B5EF4-FFF2-40B4-BE49-F238E27FC236}">
                <a16:creationId xmlns:a16="http://schemas.microsoft.com/office/drawing/2014/main" id="{0BC7D534-BFA1-46B3-91B6-C2DCB21146A9}"/>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1" name="Rectangle: Rounded Corners 10">
            <a:extLst>
              <a:ext uri="{FF2B5EF4-FFF2-40B4-BE49-F238E27FC236}">
                <a16:creationId xmlns:a16="http://schemas.microsoft.com/office/drawing/2014/main" id="{912113CA-9E05-47A8-BB2D-19222DD62DDE}"/>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2" name="Rectangle 11">
            <a:extLst>
              <a:ext uri="{FF2B5EF4-FFF2-40B4-BE49-F238E27FC236}">
                <a16:creationId xmlns:a16="http://schemas.microsoft.com/office/drawing/2014/main" id="{89F80FA7-9B7B-48AF-989E-8234A8D6B94C}"/>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33</a:t>
            </a:r>
          </a:p>
        </p:txBody>
      </p:sp>
      <p:sp>
        <p:nvSpPr>
          <p:cNvPr id="13" name="Rectangle 12">
            <a:extLst>
              <a:ext uri="{FF2B5EF4-FFF2-40B4-BE49-F238E27FC236}">
                <a16:creationId xmlns:a16="http://schemas.microsoft.com/office/drawing/2014/main" id="{2907204E-2C0D-44B1-ABC4-BBBA265C9CA0}"/>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Rectangle 13">
            <a:extLst>
              <a:ext uri="{FF2B5EF4-FFF2-40B4-BE49-F238E27FC236}">
                <a16:creationId xmlns:a16="http://schemas.microsoft.com/office/drawing/2014/main" id="{8CB5A2A0-645C-4ADB-BADC-D7F39640862F}"/>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5" name="Rectangle 14">
            <a:extLst>
              <a:ext uri="{FF2B5EF4-FFF2-40B4-BE49-F238E27FC236}">
                <a16:creationId xmlns:a16="http://schemas.microsoft.com/office/drawing/2014/main" id="{9CCA851C-4BDB-4F75-A81F-598DA4E6BF7C}"/>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Chương III HSMT Cần Thơ; Mục 28 A-CDNT HSMT 101; Điều 58-61 Luật.</a:t>
            </a:r>
          </a:p>
        </p:txBody>
      </p:sp>
    </p:spTree>
    <p:extLst>
      <p:ext uri="{BB962C8B-B14F-4D97-AF65-F5344CB8AC3E}">
        <p14:creationId xmlns:p14="http://schemas.microsoft.com/office/powerpoint/2010/main" val="114766036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A69A4A73-0193-4D73-8191-48DC70D91B17}"/>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MỤC 3 KỸ THUẬT: PHƯƠNG PHÁP ĐẠT/KHÔNG ĐẠT</a:t>
            </a:r>
          </a:p>
        </p:txBody>
      </p:sp>
      <p:sp>
        <p:nvSpPr>
          <p:cNvPr id="2" name="Rectangle 1">
            <a:extLst>
              <a:ext uri="{FF2B5EF4-FFF2-40B4-BE49-F238E27FC236}">
                <a16:creationId xmlns:a16="http://schemas.microsoft.com/office/drawing/2014/main" id="{004D81F7-C483-4C3E-BFF7-7E943602EFC6}"/>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Hiểu logic tổng quát và tiêu chí chi tiết.</a:t>
            </a:r>
          </a:p>
        </p:txBody>
      </p:sp>
      <p:sp>
        <p:nvSpPr>
          <p:cNvPr id="3" name="Rectangle 2">
            <a:extLst>
              <a:ext uri="{FF2B5EF4-FFF2-40B4-BE49-F238E27FC236}">
                <a16:creationId xmlns:a16="http://schemas.microsoft.com/office/drawing/2014/main" id="{529C194F-4C84-471C-87B5-84B5BF5809D0}"/>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Tiêu chí tổng quát đạt khi tất cả tiêu chí chi tiết cơ bản đạt.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E-HSDT đạt kỹ thuật khi tất cả tiêu chí tổng quát đạt.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được tự thay đổi mức đạt nếu HSMT không quy định.</a:t>
            </a:r>
          </a:p>
        </p:txBody>
      </p:sp>
      <p:sp>
        <p:nvSpPr>
          <p:cNvPr id="4" name="Rectangle 3">
            <a:extLst>
              <a:ext uri="{FF2B5EF4-FFF2-40B4-BE49-F238E27FC236}">
                <a16:creationId xmlns:a16="http://schemas.microsoft.com/office/drawing/2014/main" id="{F12E7367-E6FC-48FA-9819-8BAD23ACC75D}"/>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AD463E49-6EA8-43BF-9D97-AE7E7D81FF88}"/>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C56926AD-A2BB-4AB7-A069-59880B182509}"/>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Tiêu chí tổng quát đạt khi tất cả tiêu chí chi tiết cơ bản đạt.</a:t>
            </a:r>
          </a:p>
        </p:txBody>
      </p:sp>
      <p:sp>
        <p:nvSpPr>
          <p:cNvPr id="7" name="Rectangle 6">
            <a:extLst>
              <a:ext uri="{FF2B5EF4-FFF2-40B4-BE49-F238E27FC236}">
                <a16:creationId xmlns:a16="http://schemas.microsoft.com/office/drawing/2014/main" id="{43353F1F-EDAE-4458-8149-99F5B1E0BC14}"/>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98822CA4-A005-44EB-A721-269211C22C8F}"/>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E-HSDT đạt kỹ thuật khi tất cả tiêu chí tổng quát đạt.</a:t>
            </a:r>
          </a:p>
        </p:txBody>
      </p:sp>
      <p:sp>
        <p:nvSpPr>
          <p:cNvPr id="9" name="Rectangle 8">
            <a:extLst>
              <a:ext uri="{FF2B5EF4-FFF2-40B4-BE49-F238E27FC236}">
                <a16:creationId xmlns:a16="http://schemas.microsoft.com/office/drawing/2014/main" id="{28558D00-982D-4FB4-8B9E-E16CAB3325AA}"/>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7D793823-7A22-4492-A5CB-D5B9943B0AFE}"/>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Không được tự thay đổi mức đạt nếu HSMT không quy định.</a:t>
            </a:r>
          </a:p>
        </p:txBody>
      </p:sp>
      <p:sp>
        <p:nvSpPr>
          <p:cNvPr id="11" name="Rectangle 10">
            <a:extLst>
              <a:ext uri="{FF2B5EF4-FFF2-40B4-BE49-F238E27FC236}">
                <a16:creationId xmlns:a16="http://schemas.microsoft.com/office/drawing/2014/main" id="{36BDC5E0-5736-434D-A8C3-1D9141987B68}"/>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1A244389-BA11-4971-88D8-F6B425BD2F78}"/>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DEF38FCC-8A31-471A-B794-07CAB21CD9B3}"/>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34</a:t>
            </a:r>
          </a:p>
        </p:txBody>
      </p:sp>
      <p:sp>
        <p:nvSpPr>
          <p:cNvPr id="14" name="Rectangle 13">
            <a:extLst>
              <a:ext uri="{FF2B5EF4-FFF2-40B4-BE49-F238E27FC236}">
                <a16:creationId xmlns:a16="http://schemas.microsoft.com/office/drawing/2014/main" id="{C9EAC2C0-DE7F-44A6-99B6-950E9C224DEA}"/>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7ECC5C30-4535-47D6-A744-685494706823}"/>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Rectangle 15">
            <a:extLst>
              <a:ext uri="{FF2B5EF4-FFF2-40B4-BE49-F238E27FC236}">
                <a16:creationId xmlns:a16="http://schemas.microsoft.com/office/drawing/2014/main" id="{EFC96827-164B-4C42-9EA7-933B85044694}"/>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3. Tiêu chuẩn đánh giá về kỹ thuật.docx.</a:t>
            </a:r>
          </a:p>
        </p:txBody>
      </p:sp>
    </p:spTree>
    <p:extLst>
      <p:ext uri="{BB962C8B-B14F-4D97-AF65-F5344CB8AC3E}">
        <p14:creationId xmlns:p14="http://schemas.microsoft.com/office/powerpoint/2010/main" val="10471192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05F1FFF-B54D-488F-B4B4-8862D7B0FF1B}"/>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TÁM TIÊU CHÍ KỸ THUẬT CỦA HSMT CẦN THƠ</a:t>
            </a:r>
          </a:p>
        </p:txBody>
      </p:sp>
      <p:sp>
        <p:nvSpPr>
          <p:cNvPr id="2" name="Rectangle 1">
            <a:extLst>
              <a:ext uri="{FF2B5EF4-FFF2-40B4-BE49-F238E27FC236}">
                <a16:creationId xmlns:a16="http://schemas.microsoft.com/office/drawing/2014/main" id="{D096BE35-D1CB-473F-A49C-787E686CB08F}"/>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Đặt toàn bộ tiêu chí thực tế lên một bản đồ.</a:t>
            </a:r>
          </a:p>
        </p:txBody>
      </p:sp>
      <p:sp>
        <p:nvSpPr>
          <p:cNvPr id="3" name="Rectangle 2">
            <a:extLst>
              <a:ext uri="{FF2B5EF4-FFF2-40B4-BE49-F238E27FC236}">
                <a16:creationId xmlns:a16="http://schemas.microsoft.com/office/drawing/2014/main" id="{DBBA18E2-C433-41AD-B421-5A69C71A4DD6}"/>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Hiệu quả cung cấp dịch vụ.</a:t>
            </a:r>
          </a:p>
          <a:p>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Mức độ hiểu biết.</a:t>
            </a:r>
          </a:p>
          <a:p>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Kế hoạch/giải pháp/biện pháp tổ chức.</a:t>
            </a:r>
          </a:p>
          <a:p>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Hệ thống bảo đảm chất lượng và phương pháp thực hiện.</a:t>
            </a:r>
          </a:p>
          <a:p>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Tiến độ.</a:t>
            </a:r>
          </a:p>
          <a:p>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Huy động nhân sự.</a:t>
            </a:r>
          </a:p>
          <a:p>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Vệ sinh môi trường/an toàn/PCCC.</a:t>
            </a:r>
          </a:p>
          <a:p>
            <a:pPr marL="279400" indent="-127000">
              <a:spcAft>
                <a:spcPts val="600"/>
              </a:spcAft>
              <a:buChar char="•"/>
              <a:defRPr sz="1425">
                <a:solidFill>
                  <a:srgbClr val="1B1B1B"/>
                </a:solidFill>
                <a:latin typeface="Arial"/>
                <a:ea typeface="Arial"/>
                <a:cs typeface="Arial"/>
              </a:defRPr>
            </a:pPr>
            <a:r>
              <a:rPr sz="1425">
                <a:solidFill>
                  <a:srgbClr val="1B1B1B"/>
                </a:solidFill>
                <a:latin typeface="Arial"/>
                <a:ea typeface="Arial"/>
                <a:cs typeface="Arial"/>
              </a:rPr>
              <a:t>Uy tín nhà thầu.</a:t>
            </a:r>
          </a:p>
        </p:txBody>
      </p:sp>
      <p:sp>
        <p:nvSpPr>
          <p:cNvPr id="4" name="Rectangle 3">
            <a:extLst>
              <a:ext uri="{FF2B5EF4-FFF2-40B4-BE49-F238E27FC236}">
                <a16:creationId xmlns:a16="http://schemas.microsoft.com/office/drawing/2014/main" id="{C253DA02-FFA5-4314-9BEF-9A5FB69C5012}"/>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843AD0CA-D84F-48CB-8611-1E9F7E3C837A}"/>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F20008CB-B8FE-4B18-8B0F-66915213F9C9}"/>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Hiệu quả cung cấp dịch vụ.</a:t>
            </a:r>
          </a:p>
        </p:txBody>
      </p:sp>
      <p:sp>
        <p:nvSpPr>
          <p:cNvPr id="7" name="Rectangle 6">
            <a:extLst>
              <a:ext uri="{FF2B5EF4-FFF2-40B4-BE49-F238E27FC236}">
                <a16:creationId xmlns:a16="http://schemas.microsoft.com/office/drawing/2014/main" id="{C737F327-660C-48D7-850D-16BE56609F05}"/>
              </a:ext>
            </a:extLst>
          </p:cNvPr>
          <p:cNvSpPr>
            <a:spLocks noGrp="1"/>
          </p:cNvSpPr>
          <p:nvPr/>
        </p:nvSpPr>
        <p:spPr>
          <a:xfrm>
            <a:off x="7734300" y="23336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0130288E-0866-493D-8E49-89C50F5D74DA}"/>
              </a:ext>
            </a:extLst>
          </p:cNvPr>
          <p:cNvSpPr>
            <a:spLocks noGrp="1"/>
          </p:cNvSpPr>
          <p:nvPr/>
        </p:nvSpPr>
        <p:spPr>
          <a:xfrm>
            <a:off x="8343900" y="22955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Mức độ hiểu biết.</a:t>
            </a:r>
          </a:p>
        </p:txBody>
      </p:sp>
      <p:sp>
        <p:nvSpPr>
          <p:cNvPr id="9" name="Rectangle 8">
            <a:extLst>
              <a:ext uri="{FF2B5EF4-FFF2-40B4-BE49-F238E27FC236}">
                <a16:creationId xmlns:a16="http://schemas.microsoft.com/office/drawing/2014/main" id="{181E0C1E-E080-449A-842D-11D4F0FA7D21}"/>
              </a:ext>
            </a:extLst>
          </p:cNvPr>
          <p:cNvSpPr>
            <a:spLocks noGrp="1"/>
          </p:cNvSpPr>
          <p:nvPr/>
        </p:nvSpPr>
        <p:spPr>
          <a:xfrm>
            <a:off x="7734300" y="31146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F9D60B0E-1626-486A-B9BA-83727EC6A934}"/>
              </a:ext>
            </a:extLst>
          </p:cNvPr>
          <p:cNvSpPr>
            <a:spLocks noGrp="1"/>
          </p:cNvSpPr>
          <p:nvPr/>
        </p:nvSpPr>
        <p:spPr>
          <a:xfrm>
            <a:off x="8343900" y="30765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Kế hoạch/giải pháp/biện pháp tổ chức.</a:t>
            </a:r>
          </a:p>
        </p:txBody>
      </p:sp>
      <p:sp>
        <p:nvSpPr>
          <p:cNvPr id="11" name="Rectangle 10">
            <a:extLst>
              <a:ext uri="{FF2B5EF4-FFF2-40B4-BE49-F238E27FC236}">
                <a16:creationId xmlns:a16="http://schemas.microsoft.com/office/drawing/2014/main" id="{99C61571-63C3-47EB-B3AF-744975BA7153}"/>
              </a:ext>
            </a:extLst>
          </p:cNvPr>
          <p:cNvSpPr>
            <a:spLocks noGrp="1"/>
          </p:cNvSpPr>
          <p:nvPr/>
        </p:nvSpPr>
        <p:spPr>
          <a:xfrm>
            <a:off x="7734300" y="38957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C31E297D-E466-4EF7-A48D-BC7AEFE30246}"/>
              </a:ext>
            </a:extLst>
          </p:cNvPr>
          <p:cNvSpPr>
            <a:spLocks noGrp="1"/>
          </p:cNvSpPr>
          <p:nvPr/>
        </p:nvSpPr>
        <p:spPr>
          <a:xfrm>
            <a:off x="8343900" y="38576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Hệ thống bảo đảm chất lượng và phương pháp thực hiện.</a:t>
            </a:r>
          </a:p>
        </p:txBody>
      </p:sp>
      <p:sp>
        <p:nvSpPr>
          <p:cNvPr id="13" name="Rectangle 12">
            <a:extLst>
              <a:ext uri="{FF2B5EF4-FFF2-40B4-BE49-F238E27FC236}">
                <a16:creationId xmlns:a16="http://schemas.microsoft.com/office/drawing/2014/main" id="{E1CB037C-3B18-4615-9088-79B88D092799}"/>
              </a:ext>
            </a:extLst>
          </p:cNvPr>
          <p:cNvSpPr>
            <a:spLocks noGrp="1"/>
          </p:cNvSpPr>
          <p:nvPr/>
        </p:nvSpPr>
        <p:spPr>
          <a:xfrm>
            <a:off x="7734300" y="46767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05</a:t>
            </a:r>
          </a:p>
        </p:txBody>
      </p:sp>
      <p:sp>
        <p:nvSpPr>
          <p:cNvPr id="14" name="Rectangle 13">
            <a:extLst>
              <a:ext uri="{FF2B5EF4-FFF2-40B4-BE49-F238E27FC236}">
                <a16:creationId xmlns:a16="http://schemas.microsoft.com/office/drawing/2014/main" id="{133E4A27-3661-48FD-89F1-D47FB89A095D}"/>
              </a:ext>
            </a:extLst>
          </p:cNvPr>
          <p:cNvSpPr>
            <a:spLocks noGrp="1"/>
          </p:cNvSpPr>
          <p:nvPr/>
        </p:nvSpPr>
        <p:spPr>
          <a:xfrm>
            <a:off x="8343900" y="46386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Tiến độ.</a:t>
            </a:r>
          </a:p>
        </p:txBody>
      </p:sp>
      <p:sp>
        <p:nvSpPr>
          <p:cNvPr id="15" name="Rectangle 14">
            <a:extLst>
              <a:ext uri="{FF2B5EF4-FFF2-40B4-BE49-F238E27FC236}">
                <a16:creationId xmlns:a16="http://schemas.microsoft.com/office/drawing/2014/main" id="{8861DD25-0BA3-4070-9DE2-6F8E19F952F5}"/>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6" name="Rectangle: Rounded Corners 15">
            <a:extLst>
              <a:ext uri="{FF2B5EF4-FFF2-40B4-BE49-F238E27FC236}">
                <a16:creationId xmlns:a16="http://schemas.microsoft.com/office/drawing/2014/main" id="{CDC1E7EC-8FE0-4C2E-80FA-484C9C9E1A92}"/>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7" name="Rectangle 16">
            <a:extLst>
              <a:ext uri="{FF2B5EF4-FFF2-40B4-BE49-F238E27FC236}">
                <a16:creationId xmlns:a16="http://schemas.microsoft.com/office/drawing/2014/main" id="{F4DDF805-531D-4B12-B2B3-D9069BCE97E5}"/>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35</a:t>
            </a:r>
          </a:p>
        </p:txBody>
      </p:sp>
      <p:sp>
        <p:nvSpPr>
          <p:cNvPr id="18" name="Rectangle 17">
            <a:extLst>
              <a:ext uri="{FF2B5EF4-FFF2-40B4-BE49-F238E27FC236}">
                <a16:creationId xmlns:a16="http://schemas.microsoft.com/office/drawing/2014/main" id="{D87CAB8E-9BD6-4649-B817-498ECF1596CF}"/>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9" name="Rectangle 18">
            <a:extLst>
              <a:ext uri="{FF2B5EF4-FFF2-40B4-BE49-F238E27FC236}">
                <a16:creationId xmlns:a16="http://schemas.microsoft.com/office/drawing/2014/main" id="{5E35B837-FF8D-49D2-BA9A-5D03C5C0BDFD}"/>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20" name="Rectangle 19">
            <a:extLst>
              <a:ext uri="{FF2B5EF4-FFF2-40B4-BE49-F238E27FC236}">
                <a16:creationId xmlns:a16="http://schemas.microsoft.com/office/drawing/2014/main" id="{BB7E86AE-1ECB-4D38-80FF-2F9289505591}"/>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3. Tiêu chuẩn đánh giá về kỹ thuật.docx.</a:t>
            </a:r>
          </a:p>
        </p:txBody>
      </p:sp>
    </p:spTree>
    <p:extLst>
      <p:ext uri="{BB962C8B-B14F-4D97-AF65-F5344CB8AC3E}">
        <p14:creationId xmlns:p14="http://schemas.microsoft.com/office/powerpoint/2010/main" val="2785809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625A73E-13ED-45E5-A3DC-E05BD47004A9}"/>
              </a:ext>
            </a:extLst>
          </p:cNvPr>
          <p:cNvSpPr>
            <a:spLocks noGrp="1"/>
          </p:cNvSpPr>
          <p:nvPr/>
        </p:nvSpPr>
        <p:spPr>
          <a:xfrm>
            <a:off x="590550" y="266700"/>
            <a:ext cx="7096125" cy="742950"/>
          </a:xfrm>
          <a:prstGeom prst="rect">
            <a:avLst/>
          </a:prstGeom>
          <a:noFill/>
          <a:ln w="0">
            <a:noFill/>
          </a:ln>
        </p:spPr>
        <p:txBody>
          <a:bodyPr anchor="t">
            <a:noAutofit/>
          </a:bodyPr>
          <a:lstStyle/>
          <a:p>
            <a:pPr>
              <a:defRPr sz="1800" b="1" i="0">
                <a:solidFill>
                  <a:srgbClr val="E6002D"/>
                </a:solidFill>
                <a:latin typeface="Arial"/>
                <a:ea typeface="Arial"/>
                <a:cs typeface="Arial"/>
              </a:defRPr>
            </a:pPr>
            <a:r>
              <a:rPr sz="1800" b="1" i="0">
                <a:solidFill>
                  <a:srgbClr val="E6002D"/>
                </a:solidFill>
                <a:latin typeface="Arial"/>
                <a:ea typeface="Arial"/>
                <a:cs typeface="Arial"/>
              </a:rPr>
              <a:t>GIẤY CHỨNG NHẬN/CHỨNG CHỈ: CẦN THIẾT HAY THU HẸP CẠNH TRANH?</a:t>
            </a:r>
          </a:p>
        </p:txBody>
      </p:sp>
      <p:sp>
        <p:nvSpPr>
          <p:cNvPr id="2" name="Rectangle 1">
            <a:extLst>
              <a:ext uri="{FF2B5EF4-FFF2-40B4-BE49-F238E27FC236}">
                <a16:creationId xmlns:a16="http://schemas.microsoft.com/office/drawing/2014/main" id="{8B25544F-21DA-40E1-B83B-2189C76A9DD2}"/>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Dạy cách đánh giá red flag mà không kết luận vội.</a:t>
            </a:r>
          </a:p>
        </p:txBody>
      </p:sp>
      <p:sp>
        <p:nvSpPr>
          <p:cNvPr id="3" name="Rectangle 2">
            <a:extLst>
              <a:ext uri="{FF2B5EF4-FFF2-40B4-BE49-F238E27FC236}">
                <a16:creationId xmlns:a16="http://schemas.microsoft.com/office/drawing/2014/main" id="{9DDC2873-2E32-40FB-AD29-DAE6937E4E56}"/>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chứng nhận đăng ký hoạt động chứng nhận.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chứng nhận đăng ký lĩnh vực hoạt động thử nghiệm.</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Phòng kiểm nghiệm được công nhận ISO/IEC 17025:2017.</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Câu hỏi: mỗi tài liệu gắn với đầu ra nào trong Chương V?</a:t>
            </a:r>
          </a:p>
        </p:txBody>
      </p:sp>
      <p:sp>
        <p:nvSpPr>
          <p:cNvPr id="4" name="Rectangle 3">
            <a:extLst>
              <a:ext uri="{FF2B5EF4-FFF2-40B4-BE49-F238E27FC236}">
                <a16:creationId xmlns:a16="http://schemas.microsoft.com/office/drawing/2014/main" id="{B5723220-F6FE-4458-81C3-459DBAB9C435}"/>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4E25F79E-932E-4597-9B71-88249EAD39CB}"/>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7B8802A0-F332-488E-B4D9-C873FDCAF143}"/>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Giấy chứng nhận đăng ký hoạt động chứng nhận.</a:t>
            </a:r>
          </a:p>
        </p:txBody>
      </p:sp>
      <p:sp>
        <p:nvSpPr>
          <p:cNvPr id="7" name="Rectangle 6">
            <a:extLst>
              <a:ext uri="{FF2B5EF4-FFF2-40B4-BE49-F238E27FC236}">
                <a16:creationId xmlns:a16="http://schemas.microsoft.com/office/drawing/2014/main" id="{D87A554E-0EDB-4BAB-B737-8E39428A88A2}"/>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6CE75857-BF18-4B69-B512-49680323E926}"/>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Giấy chứng nhận đăng ký lĩnh vực hoạt động thử nghiệm.</a:t>
            </a:r>
          </a:p>
        </p:txBody>
      </p:sp>
      <p:sp>
        <p:nvSpPr>
          <p:cNvPr id="9" name="Rectangle 8">
            <a:extLst>
              <a:ext uri="{FF2B5EF4-FFF2-40B4-BE49-F238E27FC236}">
                <a16:creationId xmlns:a16="http://schemas.microsoft.com/office/drawing/2014/main" id="{82D36960-BACC-4350-81DA-F520401A0C4C}"/>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7790B4B0-A80A-4D8F-9BA5-789C1218CB95}"/>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Phòng kiểm nghiệm được công nhận ISO/IEC 17025:2017.</a:t>
            </a:r>
          </a:p>
        </p:txBody>
      </p:sp>
      <p:sp>
        <p:nvSpPr>
          <p:cNvPr id="11" name="Rectangle 10">
            <a:extLst>
              <a:ext uri="{FF2B5EF4-FFF2-40B4-BE49-F238E27FC236}">
                <a16:creationId xmlns:a16="http://schemas.microsoft.com/office/drawing/2014/main" id="{9E231256-9463-48AC-A063-66061361CE35}"/>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51AE49D4-1C2F-45A9-8534-B2AC5F895FB8}"/>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Câu hỏi: mỗi tài liệu gắn với đầu ra nào trong Chương V?</a:t>
            </a:r>
          </a:p>
        </p:txBody>
      </p:sp>
      <p:sp>
        <p:nvSpPr>
          <p:cNvPr id="13" name="Rectangle 12">
            <a:extLst>
              <a:ext uri="{FF2B5EF4-FFF2-40B4-BE49-F238E27FC236}">
                <a16:creationId xmlns:a16="http://schemas.microsoft.com/office/drawing/2014/main" id="{CAEE52B6-A087-423B-A975-F58345F59918}"/>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ECF61C0C-C56E-4772-81D3-28F47376A84E}"/>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79568A5A-2EF9-4746-8896-F5F6EC4B422C}"/>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36</a:t>
            </a:r>
          </a:p>
        </p:txBody>
      </p:sp>
      <p:sp>
        <p:nvSpPr>
          <p:cNvPr id="16" name="Rectangle 15">
            <a:extLst>
              <a:ext uri="{FF2B5EF4-FFF2-40B4-BE49-F238E27FC236}">
                <a16:creationId xmlns:a16="http://schemas.microsoft.com/office/drawing/2014/main" id="{FF9B1EDE-98AC-436E-9E68-364759884940}"/>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16E135EF-D1C7-4B6D-9036-5E5FB0A85739}"/>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8" name="Rectangle 17">
            <a:extLst>
              <a:ext uri="{FF2B5EF4-FFF2-40B4-BE49-F238E27FC236}">
                <a16:creationId xmlns:a16="http://schemas.microsoft.com/office/drawing/2014/main" id="{19A75320-7B4C-4481-9737-6F3BE99636F1}"/>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3 kỹ thuật và Chương V HSMT Cần Thơ; Nghị định 22/2026 được HSMT dẫn chiếu.</a:t>
            </a:r>
          </a:p>
        </p:txBody>
      </p:sp>
    </p:spTree>
    <p:extLst>
      <p:ext uri="{BB962C8B-B14F-4D97-AF65-F5344CB8AC3E}">
        <p14:creationId xmlns:p14="http://schemas.microsoft.com/office/powerpoint/2010/main" val="17270892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4ACE330-3EEE-4436-BA3F-B86EB6D0A3C5}"/>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CHƯƠNG V: SCOPE VÀ ĐẦU RA HALAL</a:t>
            </a:r>
          </a:p>
        </p:txBody>
      </p:sp>
      <p:sp>
        <p:nvSpPr>
          <p:cNvPr id="2" name="Rectangle 1">
            <a:extLst>
              <a:ext uri="{FF2B5EF4-FFF2-40B4-BE49-F238E27FC236}">
                <a16:creationId xmlns:a16="http://schemas.microsoft.com/office/drawing/2014/main" id="{3CC5B79F-4AC8-4755-B38C-83044F1DB3FF}"/>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Nối yêu cầu kỹ thuật với công việc phải thực hiện.</a:t>
            </a:r>
          </a:p>
        </p:txBody>
      </p:sp>
      <p:sp>
        <p:nvSpPr>
          <p:cNvPr id="3" name="Rectangle 2">
            <a:extLst>
              <a:ext uri="{FF2B5EF4-FFF2-40B4-BE49-F238E27FC236}">
                <a16:creationId xmlns:a16="http://schemas.microsoft.com/office/drawing/2014/main" id="{D2353A20-5C60-41FB-8158-E9438E87EDBB}"/>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Tư vấn/đào tạo theo HALAL.</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Thu thập thông tin, xây dựng tài liệu, đào tạo, hướng dẫn nguyên liệu, quá trình, bao gói, nhãn.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Lấy mẫu, kiểm nghiệm, đánh giá chứng nhận.</a:t>
            </a:r>
          </a:p>
        </p:txBody>
      </p:sp>
      <p:sp>
        <p:nvSpPr>
          <p:cNvPr id="4" name="Rectangle 3">
            <a:extLst>
              <a:ext uri="{FF2B5EF4-FFF2-40B4-BE49-F238E27FC236}">
                <a16:creationId xmlns:a16="http://schemas.microsoft.com/office/drawing/2014/main" id="{42D7CAEA-27B2-4202-888F-6A3C31C20B93}"/>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D0539FC0-E9D9-4064-87B7-3FA149EDEA6E}"/>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606D41B7-6F64-4E73-8A4B-9822F46DE2C4}"/>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Tư vấn/đào tạo theo HALAL.</a:t>
            </a:r>
          </a:p>
        </p:txBody>
      </p:sp>
      <p:sp>
        <p:nvSpPr>
          <p:cNvPr id="7" name="Rectangle 6">
            <a:extLst>
              <a:ext uri="{FF2B5EF4-FFF2-40B4-BE49-F238E27FC236}">
                <a16:creationId xmlns:a16="http://schemas.microsoft.com/office/drawing/2014/main" id="{279C515F-63EE-4628-81DE-8730F7137948}"/>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05D70C70-9BA4-4FF0-9E5A-F944831E19B1}"/>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Thu thập thông tin, xây dựng tài liệu, đào tạo, hướng dẫn nguyên l…</a:t>
            </a:r>
          </a:p>
        </p:txBody>
      </p:sp>
      <p:sp>
        <p:nvSpPr>
          <p:cNvPr id="9" name="Rectangle 8">
            <a:extLst>
              <a:ext uri="{FF2B5EF4-FFF2-40B4-BE49-F238E27FC236}">
                <a16:creationId xmlns:a16="http://schemas.microsoft.com/office/drawing/2014/main" id="{7DD0E8DD-9632-4EC8-9D79-320180C214EB}"/>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4592A10E-45BD-4A22-9938-DFFD56DCF271}"/>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Lấy mẫu, kiểm nghiệm, đánh giá chứng nhận.</a:t>
            </a:r>
          </a:p>
        </p:txBody>
      </p:sp>
      <p:sp>
        <p:nvSpPr>
          <p:cNvPr id="11" name="Rectangle 10">
            <a:extLst>
              <a:ext uri="{FF2B5EF4-FFF2-40B4-BE49-F238E27FC236}">
                <a16:creationId xmlns:a16="http://schemas.microsoft.com/office/drawing/2014/main" id="{1C236F9D-96C3-483C-A596-E1C59FFD5553}"/>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0CFAE92B-C255-4BA3-90A4-9D8AB8CB20B3}"/>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A425B39F-F000-47AB-BA9B-8923C09BAA95}"/>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37</a:t>
            </a:r>
          </a:p>
        </p:txBody>
      </p:sp>
      <p:sp>
        <p:nvSpPr>
          <p:cNvPr id="14" name="Rectangle 13">
            <a:extLst>
              <a:ext uri="{FF2B5EF4-FFF2-40B4-BE49-F238E27FC236}">
                <a16:creationId xmlns:a16="http://schemas.microsoft.com/office/drawing/2014/main" id="{CF292270-CF21-488C-966C-606C5B1E8E23}"/>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775C086D-3B12-493F-8F24-6563B59BDBE5}"/>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Rectangle 15">
            <a:extLst>
              <a:ext uri="{FF2B5EF4-FFF2-40B4-BE49-F238E27FC236}">
                <a16:creationId xmlns:a16="http://schemas.microsoft.com/office/drawing/2014/main" id="{E824FF04-C055-4A46-8A2F-1068E9060131}"/>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Chương V HSMT Cần Thơ, Bảng 2.</a:t>
            </a:r>
          </a:p>
        </p:txBody>
      </p:sp>
    </p:spTree>
    <p:extLst>
      <p:ext uri="{BB962C8B-B14F-4D97-AF65-F5344CB8AC3E}">
        <p14:creationId xmlns:p14="http://schemas.microsoft.com/office/powerpoint/2010/main" val="3964284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BA21651-A68A-4A67-A675-50B8545C3B1E}"/>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CHƯƠNG V: ISO 22000 VÀ FSSC 22000</a:t>
            </a:r>
          </a:p>
        </p:txBody>
      </p:sp>
      <p:sp>
        <p:nvSpPr>
          <p:cNvPr id="2" name="Rectangle 1">
            <a:extLst>
              <a:ext uri="{FF2B5EF4-FFF2-40B4-BE49-F238E27FC236}">
                <a16:creationId xmlns:a16="http://schemas.microsoft.com/office/drawing/2014/main" id="{945E3343-98EA-49B0-850D-36D20BCED4D4}"/>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Phân tích scope lớn thay vì chỉ đọc tên tiêu chuẩn.</a:t>
            </a:r>
          </a:p>
        </p:txBody>
      </p:sp>
      <p:sp>
        <p:nvSpPr>
          <p:cNvPr id="3" name="Rectangle 2">
            <a:extLst>
              <a:ext uri="{FF2B5EF4-FFF2-40B4-BE49-F238E27FC236}">
                <a16:creationId xmlns:a16="http://schemas.microsoft.com/office/drawing/2014/main" id="{6C71368A-BF32-47A6-B562-AF5B954222E9}"/>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Khảo sát, bối cảnh tổ chức, lãnh đạo, chính sách, hồ sơ, trao đổi thông tin.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Đánh giá nội bộ, khắc phục, xem xét lãnh đạo, cải tiến.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Kiểm nghiệm, đánh giá chứng nhận, báo cáo, quyết định chứng nhận.</a:t>
            </a:r>
          </a:p>
        </p:txBody>
      </p:sp>
      <p:sp>
        <p:nvSpPr>
          <p:cNvPr id="4" name="Rectangle 3">
            <a:extLst>
              <a:ext uri="{FF2B5EF4-FFF2-40B4-BE49-F238E27FC236}">
                <a16:creationId xmlns:a16="http://schemas.microsoft.com/office/drawing/2014/main" id="{C0FEEA58-B5BB-47E8-94DC-8905B04CDB1D}"/>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B2DF9A31-E4F3-4840-A003-4118C9290494}"/>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C90B3234-8278-4EC2-80BE-76B2CC0BA729}"/>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Khảo sát, bối cảnh tổ chức, lãnh đạo, chính sách, hồ sơ, trao đổi …</a:t>
            </a:r>
          </a:p>
        </p:txBody>
      </p:sp>
      <p:sp>
        <p:nvSpPr>
          <p:cNvPr id="7" name="Rectangle 6">
            <a:extLst>
              <a:ext uri="{FF2B5EF4-FFF2-40B4-BE49-F238E27FC236}">
                <a16:creationId xmlns:a16="http://schemas.microsoft.com/office/drawing/2014/main" id="{0F13B2F8-A049-4801-85CE-0FB94687FDE7}"/>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2CC077E3-0A9A-4CA5-86C4-CEB5C556406F}"/>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Đánh giá nội bộ, khắc phục, xem xét lãnh đạo, cải tiến.</a:t>
            </a:r>
          </a:p>
        </p:txBody>
      </p:sp>
      <p:sp>
        <p:nvSpPr>
          <p:cNvPr id="9" name="Rectangle 8">
            <a:extLst>
              <a:ext uri="{FF2B5EF4-FFF2-40B4-BE49-F238E27FC236}">
                <a16:creationId xmlns:a16="http://schemas.microsoft.com/office/drawing/2014/main" id="{DE50177F-B82C-455D-8F80-C7628528DC87}"/>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F839CAD8-723D-44C0-A25C-20C6C0B9DEC1}"/>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Kiểm nghiệm, đánh giá chứng nhận, báo cáo, quyết định chứng nhận.</a:t>
            </a:r>
          </a:p>
        </p:txBody>
      </p:sp>
      <p:sp>
        <p:nvSpPr>
          <p:cNvPr id="11" name="Rectangle 10">
            <a:extLst>
              <a:ext uri="{FF2B5EF4-FFF2-40B4-BE49-F238E27FC236}">
                <a16:creationId xmlns:a16="http://schemas.microsoft.com/office/drawing/2014/main" id="{EC5D8B3E-3950-4AC2-A7E6-3E1A46F9D64A}"/>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C24954E4-210B-44D4-ADB8-1189E48BE38F}"/>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C264587D-21DB-498D-A855-A8D70471DD7E}"/>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38</a:t>
            </a:r>
          </a:p>
        </p:txBody>
      </p:sp>
      <p:sp>
        <p:nvSpPr>
          <p:cNvPr id="14" name="Rectangle 13">
            <a:extLst>
              <a:ext uri="{FF2B5EF4-FFF2-40B4-BE49-F238E27FC236}">
                <a16:creationId xmlns:a16="http://schemas.microsoft.com/office/drawing/2014/main" id="{CCFD0D1F-9938-486E-82AA-9FC3AA73D5C8}"/>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2EAA5BC6-AEA2-470E-A417-D8B75E79069A}"/>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Rectangle 15">
            <a:extLst>
              <a:ext uri="{FF2B5EF4-FFF2-40B4-BE49-F238E27FC236}">
                <a16:creationId xmlns:a16="http://schemas.microsoft.com/office/drawing/2014/main" id="{8E05153D-7C8E-4EAC-8CBF-57DE26EA703B}"/>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Chương V HSMT Cần Thơ, Bảng 1, 3, 4.</a:t>
            </a:r>
          </a:p>
        </p:txBody>
      </p:sp>
    </p:spTree>
    <p:extLst>
      <p:ext uri="{BB962C8B-B14F-4D97-AF65-F5344CB8AC3E}">
        <p14:creationId xmlns:p14="http://schemas.microsoft.com/office/powerpoint/2010/main" val="1210544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C1A21A72-8123-4DC9-8FD3-72276A80DFE5}"/>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MA TRẬN SCOPE - TIÊU CHÍ - TÀI LIỆU PHẢI NỘP</a:t>
            </a:r>
          </a:p>
        </p:txBody>
      </p:sp>
      <p:graphicFrame>
        <p:nvGraphicFramePr>
          <p:cNvPr id="10" name="Table 9"/>
          <p:cNvGraphicFramePr/>
          <p:nvPr/>
        </p:nvGraphicFramePr>
        <p:xfrm>
          <a:off x="523875" y="1190625"/>
          <a:ext cx="11144250" cy="2438400"/>
        </p:xfrm>
        <a:graphic>
          <a:graphicData uri="http://schemas.openxmlformats.org/drawingml/2006/table">
            <a:tbl>
              <a:tblPr firstRow="1"/>
              <a:tblGrid>
                <a:gridCol w="2476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tblGrid>
              <a:tr h="487680">
                <a:tc>
                  <a:txBody>
                    <a:bodyPr/>
                    <a:lstStyle/>
                    <a:p>
                      <a:r>
                        <a:rPr sz="1200" b="1">
                          <a:solidFill>
                            <a:srgbClr val="FFFFFF"/>
                          </a:solidFill>
                          <a:latin typeface="Arial"/>
                          <a:ea typeface="Arial"/>
                          <a:cs typeface="Arial"/>
                        </a:rPr>
                        <a:t>Công việc</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Tiêu chí liên quan</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Bằng chứng nhà thầu</a:t>
                      </a:r>
                    </a:p>
                  </a:txBody>
                  <a:tcPr marL="76200" marR="76200" marT="47625" marB="47625" anchor="ctr">
                    <a:solidFill>
                      <a:srgbClr val="E6002D"/>
                    </a:solidFill>
                  </a:tcPr>
                </a:tc>
                <a:extLst>
                  <a:ext uri="{0D108BD9-81ED-4DB2-BD59-A6C34878D82A}">
                    <a16:rowId xmlns:a16="http://schemas.microsoft.com/office/drawing/2014/main" val="10000"/>
                  </a:ext>
                </a:extLst>
              </a:tr>
              <a:tr h="487680">
                <a:tc>
                  <a:txBody>
                    <a:bodyPr/>
                    <a:lstStyle/>
                    <a:p>
                      <a:r>
                        <a:rPr sz="1125">
                          <a:solidFill>
                            <a:srgbClr val="1B1B1B"/>
                          </a:solidFill>
                          <a:latin typeface="Arial"/>
                          <a:ea typeface="Arial"/>
                          <a:cs typeface="Arial"/>
                        </a:rPr>
                        <a:t>Tư vấn/đào tạo</a:t>
                      </a:r>
                    </a:p>
                  </a:txBody>
                  <a:tcPr marL="76200" marR="76200" marT="38100" marB="38100" anchor="ctr">
                    <a:solidFill>
                      <a:srgbClr val="FFFFFF"/>
                    </a:solidFill>
                  </a:tcPr>
                </a:tc>
                <a:tc>
                  <a:txBody>
                    <a:bodyPr/>
                    <a:lstStyle/>
                    <a:p>
                      <a:r>
                        <a:rPr sz="1125">
                          <a:solidFill>
                            <a:srgbClr val="1B1B1B"/>
                          </a:solidFill>
                          <a:latin typeface="Arial"/>
                          <a:ea typeface="Arial"/>
                          <a:cs typeface="Arial"/>
                        </a:rPr>
                        <a:t>1, 2, 3, 6</a:t>
                      </a:r>
                    </a:p>
                  </a:txBody>
                  <a:tcPr marL="76200" marR="76200" marT="38100" marB="38100" anchor="ctr">
                    <a:solidFill>
                      <a:srgbClr val="FFFFFF"/>
                    </a:solidFill>
                  </a:tcPr>
                </a:tc>
                <a:tc>
                  <a:txBody>
                    <a:bodyPr/>
                    <a:lstStyle/>
                    <a:p>
                      <a:r>
                        <a:rPr sz="1125">
                          <a:solidFill>
                            <a:srgbClr val="1B1B1B"/>
                          </a:solidFill>
                          <a:latin typeface="Arial"/>
                          <a:ea typeface="Arial"/>
                          <a:cs typeface="Arial"/>
                        </a:rPr>
                        <a:t>Thuyết minh, kế hoạch, nhân sự</a:t>
                      </a:r>
                    </a:p>
                  </a:txBody>
                  <a:tcPr marL="76200" marR="76200" marT="38100" marB="38100" anchor="ctr">
                    <a:solidFill>
                      <a:srgbClr val="FFFFFF"/>
                    </a:solidFill>
                  </a:tcPr>
                </a:tc>
                <a:extLst>
                  <a:ext uri="{0D108BD9-81ED-4DB2-BD59-A6C34878D82A}">
                    <a16:rowId xmlns:a16="http://schemas.microsoft.com/office/drawing/2014/main" val="10001"/>
                  </a:ext>
                </a:extLst>
              </a:tr>
              <a:tr h="487680">
                <a:tc>
                  <a:txBody>
                    <a:bodyPr/>
                    <a:lstStyle/>
                    <a:p>
                      <a:r>
                        <a:rPr sz="1125">
                          <a:solidFill>
                            <a:srgbClr val="1B1B1B"/>
                          </a:solidFill>
                          <a:latin typeface="Arial"/>
                          <a:ea typeface="Arial"/>
                          <a:cs typeface="Arial"/>
                        </a:rPr>
                        <a:t>Kiểm nghiệm</a:t>
                      </a:r>
                    </a:p>
                  </a:txBody>
                  <a:tcPr marL="76200" marR="76200" marT="38100" marB="38100" anchor="ctr">
                    <a:solidFill>
                      <a:srgbClr val="F5F5F5"/>
                    </a:solidFill>
                  </a:tcPr>
                </a:tc>
                <a:tc>
                  <a:txBody>
                    <a:bodyPr/>
                    <a:lstStyle/>
                    <a:p>
                      <a:r>
                        <a:rPr sz="1125">
                          <a:solidFill>
                            <a:srgbClr val="1B1B1B"/>
                          </a:solidFill>
                          <a:latin typeface="Arial"/>
                          <a:ea typeface="Arial"/>
                          <a:cs typeface="Arial"/>
                        </a:rPr>
                        <a:t>4</a:t>
                      </a:r>
                    </a:p>
                  </a:txBody>
                  <a:tcPr marL="76200" marR="76200" marT="38100" marB="38100" anchor="ctr">
                    <a:solidFill>
                      <a:srgbClr val="F5F5F5"/>
                    </a:solidFill>
                  </a:tcPr>
                </a:tc>
                <a:tc>
                  <a:txBody>
                    <a:bodyPr/>
                    <a:lstStyle/>
                    <a:p>
                      <a:r>
                        <a:rPr sz="1125">
                          <a:solidFill>
                            <a:srgbClr val="1B1B1B"/>
                          </a:solidFill>
                          <a:latin typeface="Arial"/>
                          <a:ea typeface="Arial"/>
                          <a:cs typeface="Arial"/>
                        </a:rPr>
                        <a:t>Giấy chứng nhận/phòng thử nghiệm</a:t>
                      </a:r>
                    </a:p>
                  </a:txBody>
                  <a:tcPr marL="76200" marR="76200" marT="38100" marB="38100" anchor="ctr">
                    <a:solidFill>
                      <a:srgbClr val="F5F5F5"/>
                    </a:solidFill>
                  </a:tcPr>
                </a:tc>
                <a:extLst>
                  <a:ext uri="{0D108BD9-81ED-4DB2-BD59-A6C34878D82A}">
                    <a16:rowId xmlns:a16="http://schemas.microsoft.com/office/drawing/2014/main" val="10002"/>
                  </a:ext>
                </a:extLst>
              </a:tr>
              <a:tr h="487680">
                <a:tc>
                  <a:txBody>
                    <a:bodyPr/>
                    <a:lstStyle/>
                    <a:p>
                      <a:r>
                        <a:rPr sz="1125">
                          <a:solidFill>
                            <a:srgbClr val="1B1B1B"/>
                          </a:solidFill>
                          <a:latin typeface="Arial"/>
                          <a:ea typeface="Arial"/>
                          <a:cs typeface="Arial"/>
                        </a:rPr>
                        <a:t>Chứng nhận</a:t>
                      </a:r>
                    </a:p>
                  </a:txBody>
                  <a:tcPr marL="76200" marR="76200" marT="38100" marB="38100" anchor="ctr">
                    <a:solidFill>
                      <a:srgbClr val="FFFFFF"/>
                    </a:solidFill>
                  </a:tcPr>
                </a:tc>
                <a:tc>
                  <a:txBody>
                    <a:bodyPr/>
                    <a:lstStyle/>
                    <a:p>
                      <a:r>
                        <a:rPr sz="1125">
                          <a:solidFill>
                            <a:srgbClr val="1B1B1B"/>
                          </a:solidFill>
                          <a:latin typeface="Arial"/>
                          <a:ea typeface="Arial"/>
                          <a:cs typeface="Arial"/>
                        </a:rPr>
                        <a:t>1, 4</a:t>
                      </a:r>
                    </a:p>
                  </a:txBody>
                  <a:tcPr marL="76200" marR="76200" marT="38100" marB="38100" anchor="ctr">
                    <a:solidFill>
                      <a:srgbClr val="FFFFFF"/>
                    </a:solidFill>
                  </a:tcPr>
                </a:tc>
                <a:tc>
                  <a:txBody>
                    <a:bodyPr/>
                    <a:lstStyle/>
                    <a:p>
                      <a:r>
                        <a:rPr sz="1125">
                          <a:solidFill>
                            <a:srgbClr val="1B1B1B"/>
                          </a:solidFill>
                          <a:latin typeface="Arial"/>
                          <a:ea typeface="Arial"/>
                          <a:cs typeface="Arial"/>
                        </a:rPr>
                        <a:t>Năng lực tổ chức chứng nhận</a:t>
                      </a:r>
                    </a:p>
                  </a:txBody>
                  <a:tcPr marL="76200" marR="76200" marT="38100" marB="38100" anchor="ctr">
                    <a:solidFill>
                      <a:srgbClr val="FFFFFF"/>
                    </a:solidFill>
                  </a:tcPr>
                </a:tc>
                <a:extLst>
                  <a:ext uri="{0D108BD9-81ED-4DB2-BD59-A6C34878D82A}">
                    <a16:rowId xmlns:a16="http://schemas.microsoft.com/office/drawing/2014/main" val="10003"/>
                  </a:ext>
                </a:extLst>
              </a:tr>
              <a:tr h="487680">
                <a:tc>
                  <a:txBody>
                    <a:bodyPr/>
                    <a:lstStyle/>
                    <a:p>
                      <a:r>
                        <a:rPr sz="1125">
                          <a:solidFill>
                            <a:srgbClr val="1B1B1B"/>
                          </a:solidFill>
                          <a:latin typeface="Arial"/>
                          <a:ea typeface="Arial"/>
                          <a:cs typeface="Arial"/>
                        </a:rPr>
                        <a:t>Giám sát</a:t>
                      </a:r>
                    </a:p>
                  </a:txBody>
                  <a:tcPr marL="76200" marR="76200" marT="38100" marB="38100" anchor="ctr">
                    <a:solidFill>
                      <a:srgbClr val="F5F5F5"/>
                    </a:solidFill>
                  </a:tcPr>
                </a:tc>
                <a:tc>
                  <a:txBody>
                    <a:bodyPr/>
                    <a:lstStyle/>
                    <a:p>
                      <a:r>
                        <a:rPr sz="1125">
                          <a:solidFill>
                            <a:srgbClr val="1B1B1B"/>
                          </a:solidFill>
                          <a:latin typeface="Arial"/>
                          <a:ea typeface="Arial"/>
                          <a:cs typeface="Arial"/>
                        </a:rPr>
                        <a:t>5, 7</a:t>
                      </a:r>
                    </a:p>
                  </a:txBody>
                  <a:tcPr marL="76200" marR="76200" marT="38100" marB="38100" anchor="ctr">
                    <a:solidFill>
                      <a:srgbClr val="F5F5F5"/>
                    </a:solidFill>
                  </a:tcPr>
                </a:tc>
                <a:tc>
                  <a:txBody>
                    <a:bodyPr/>
                    <a:lstStyle/>
                    <a:p>
                      <a:r>
                        <a:rPr sz="1125">
                          <a:solidFill>
                            <a:srgbClr val="1B1B1B"/>
                          </a:solidFill>
                          <a:latin typeface="Arial"/>
                          <a:ea typeface="Arial"/>
                          <a:cs typeface="Arial"/>
                        </a:rPr>
                        <a:t>Tiến độ, an toàn, phương pháp</a:t>
                      </a:r>
                    </a:p>
                  </a:txBody>
                  <a:tcPr marL="76200" marR="76200" marT="38100" marB="38100" anchor="ctr">
                    <a:solidFill>
                      <a:srgbClr val="F5F5F5"/>
                    </a:solidFill>
                  </a:tcPr>
                </a:tc>
                <a:extLst>
                  <a:ext uri="{0D108BD9-81ED-4DB2-BD59-A6C34878D82A}">
                    <a16:rowId xmlns:a16="http://schemas.microsoft.com/office/drawing/2014/main" val="10004"/>
                  </a:ext>
                </a:extLst>
              </a:tr>
            </a:tbl>
          </a:graphicData>
        </a:graphic>
      </p:graphicFrame>
      <p:sp>
        <p:nvSpPr>
          <p:cNvPr id="3" name="Rectangle 2">
            <a:extLst>
              <a:ext uri="{FF2B5EF4-FFF2-40B4-BE49-F238E27FC236}">
                <a16:creationId xmlns:a16="http://schemas.microsoft.com/office/drawing/2014/main" id="{326202AD-8E36-4633-BFC6-CAB2ECCA44CB}"/>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4" name="Rectangle: Rounded Corners 3">
            <a:extLst>
              <a:ext uri="{FF2B5EF4-FFF2-40B4-BE49-F238E27FC236}">
                <a16:creationId xmlns:a16="http://schemas.microsoft.com/office/drawing/2014/main" id="{66359F8C-2B54-43A5-B441-E2D260E45D6F}"/>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D0736E9C-AA5E-4D39-90EA-59EB16878F8A}"/>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39</a:t>
            </a:r>
          </a:p>
        </p:txBody>
      </p:sp>
      <p:sp>
        <p:nvSpPr>
          <p:cNvPr id="6" name="Rectangle 5">
            <a:extLst>
              <a:ext uri="{FF2B5EF4-FFF2-40B4-BE49-F238E27FC236}">
                <a16:creationId xmlns:a16="http://schemas.microsoft.com/office/drawing/2014/main" id="{89711930-0208-4793-A1D7-AD8ED6723A87}"/>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Rectangle 6">
            <a:extLst>
              <a:ext uri="{FF2B5EF4-FFF2-40B4-BE49-F238E27FC236}">
                <a16:creationId xmlns:a16="http://schemas.microsoft.com/office/drawing/2014/main" id="{92948F91-A8B0-44D3-9A9B-7E60CAC64D3A}"/>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8" name="Rectangle 7">
            <a:extLst>
              <a:ext uri="{FF2B5EF4-FFF2-40B4-BE49-F238E27FC236}">
                <a16:creationId xmlns:a16="http://schemas.microsoft.com/office/drawing/2014/main" id="{362F8352-EF2E-431B-8EBE-B0C6A772BB26}"/>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3 kỹ thuật và Chương V HSMT Cần Thơ.</a:t>
            </a:r>
          </a:p>
        </p:txBody>
      </p:sp>
    </p:spTree>
    <p:extLst>
      <p:ext uri="{BB962C8B-B14F-4D97-AF65-F5344CB8AC3E}">
        <p14:creationId xmlns:p14="http://schemas.microsoft.com/office/powerpoint/2010/main" val="1607171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59B750B-DB8E-402C-B5C5-7C6DCF8D047D}"/>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HỢP ĐỒNG TƯƠNG TỰ, NHÂN SỰ VÀ TÀI LIỆU KỸ THUẬT</a:t>
            </a:r>
          </a:p>
        </p:txBody>
      </p:sp>
      <p:sp>
        <p:nvSpPr>
          <p:cNvPr id="2" name="Rectangle 1">
            <a:extLst>
              <a:ext uri="{FF2B5EF4-FFF2-40B4-BE49-F238E27FC236}">
                <a16:creationId xmlns:a16="http://schemas.microsoft.com/office/drawing/2014/main" id="{AE3FA1B1-2C3D-4C7B-B1E9-D3DADA0E7A7E}"/>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Phân biệt kê khai, chứng minh và đối chiếu.</a:t>
            </a:r>
          </a:p>
        </p:txBody>
      </p:sp>
      <p:sp>
        <p:nvSpPr>
          <p:cNvPr id="3" name="Rectangle 2">
            <a:extLst>
              <a:ext uri="{FF2B5EF4-FFF2-40B4-BE49-F238E27FC236}">
                <a16:creationId xmlns:a16="http://schemas.microsoft.com/office/drawing/2014/main" id="{1B2A757D-EFB6-461C-B3F8-D3BD32A29B7F}"/>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kê khai theo Chương IV, chứng minh theo Chương III.</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chiếu tài liệu sau khi xếp hạng.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Cần Thơ yêu cầu kế hoạch huy động nhân sự nhưng không tách bảng nhân sự chủ chốt như HSMT 101.</a:t>
            </a:r>
          </a:p>
        </p:txBody>
      </p:sp>
      <p:sp>
        <p:nvSpPr>
          <p:cNvPr id="4" name="Rectangle 3">
            <a:extLst>
              <a:ext uri="{FF2B5EF4-FFF2-40B4-BE49-F238E27FC236}">
                <a16:creationId xmlns:a16="http://schemas.microsoft.com/office/drawing/2014/main" id="{235D485D-FCF4-4B5A-B5A2-26C4085FCED3}"/>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70A945AD-4D77-4E66-98DF-D92038A778A7}"/>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0FE66524-B5FF-4910-ADCA-859E4AA0640D}"/>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Nhà thầu kê khai theo Chương IV, chứng minh theo Chương III.</a:t>
            </a:r>
          </a:p>
        </p:txBody>
      </p:sp>
      <p:sp>
        <p:nvSpPr>
          <p:cNvPr id="7" name="Rectangle 6">
            <a:extLst>
              <a:ext uri="{FF2B5EF4-FFF2-40B4-BE49-F238E27FC236}">
                <a16:creationId xmlns:a16="http://schemas.microsoft.com/office/drawing/2014/main" id="{EF290FBA-E07E-4D18-B907-49FB13D4049F}"/>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2640A505-97B9-473E-ABB3-7A2CF38E56D2}"/>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Đối chiếu tài liệu sau khi xếp hạng.</a:t>
            </a:r>
          </a:p>
        </p:txBody>
      </p:sp>
      <p:sp>
        <p:nvSpPr>
          <p:cNvPr id="9" name="Rectangle 8">
            <a:extLst>
              <a:ext uri="{FF2B5EF4-FFF2-40B4-BE49-F238E27FC236}">
                <a16:creationId xmlns:a16="http://schemas.microsoft.com/office/drawing/2014/main" id="{B8D3B4C4-CDDC-48F9-8F3F-8A0A0A674984}"/>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7B7BF9D0-5350-403C-BE5B-FCE0C071C859}"/>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HSMT Cần Thơ yêu cầu kế hoạch huy động nhân sự nhưng không tách bả…</a:t>
            </a:r>
          </a:p>
        </p:txBody>
      </p:sp>
      <p:sp>
        <p:nvSpPr>
          <p:cNvPr id="11" name="Rectangle 10">
            <a:extLst>
              <a:ext uri="{FF2B5EF4-FFF2-40B4-BE49-F238E27FC236}">
                <a16:creationId xmlns:a16="http://schemas.microsoft.com/office/drawing/2014/main" id="{B20182BB-8C12-4F60-9AC3-DD412912CA62}"/>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4FB852FE-01DD-47E4-ADFD-4DC253D29835}"/>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50FEED71-5990-43B3-962E-8E61F19D1A89}"/>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40</a:t>
            </a:r>
          </a:p>
        </p:txBody>
      </p:sp>
      <p:sp>
        <p:nvSpPr>
          <p:cNvPr id="14" name="Rectangle 13">
            <a:extLst>
              <a:ext uri="{FF2B5EF4-FFF2-40B4-BE49-F238E27FC236}">
                <a16:creationId xmlns:a16="http://schemas.microsoft.com/office/drawing/2014/main" id="{EE1F5311-75E5-4B94-84FE-5679BAC20CCD}"/>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2D9BBB9F-2901-4B38-A468-70AE554525D5}"/>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 ĐÁNH GIÁ VÀ KỸ THUẬT</a:t>
            </a:r>
          </a:p>
        </p:txBody>
      </p:sp>
      <p:sp>
        <p:nvSpPr>
          <p:cNvPr id="16" name="Rectangle 15">
            <a:extLst>
              <a:ext uri="{FF2B5EF4-FFF2-40B4-BE49-F238E27FC236}">
                <a16:creationId xmlns:a16="http://schemas.microsoft.com/office/drawing/2014/main" id="{5E8E5506-8AB1-4DAC-8DBD-5A5AB3B812F7}"/>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16, 30 E-CDNT HSMT Cần Thơ; Mục 27.4-27.5 A-CDNT HSMT 101.</a:t>
            </a:r>
          </a:p>
        </p:txBody>
      </p:sp>
    </p:spTree>
    <p:extLst>
      <p:ext uri="{BB962C8B-B14F-4D97-AF65-F5344CB8AC3E}">
        <p14:creationId xmlns:p14="http://schemas.microsoft.com/office/powerpoint/2010/main" val="16062099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8" name="Straight Arrow Connector 17"/>
          <p:cNvCxnSpPr>
            <a:stCxn id="6" idx="3"/>
            <a:endCxn id="7" idx="1"/>
          </p:cNvCxnSpPr>
          <p:nvPr/>
        </p:nvCxnSpPr>
        <p:spPr>
          <a:xfrm>
            <a:off x="9311640" y="3119438"/>
            <a:ext cx="209550" cy="0"/>
          </a:xfrm>
          <a:prstGeom prst="straightConnector1">
            <a:avLst/>
          </a:prstGeom>
          <a:ln w="19050">
            <a:solidFill>
              <a:srgbClr val="E6002D"/>
            </a:solidFill>
            <a:prstDash val="solid"/>
            <a:headEnd type="triangle" w="sm" len="sm"/>
          </a:ln>
        </p:spPr>
      </p:cxnSp>
      <p:cxnSp>
        <p:nvCxnSpPr>
          <p:cNvPr id="19" name="Straight Arrow Connector 18"/>
          <p:cNvCxnSpPr>
            <a:stCxn id="5" idx="3"/>
            <a:endCxn id="6" idx="1"/>
          </p:cNvCxnSpPr>
          <p:nvPr/>
        </p:nvCxnSpPr>
        <p:spPr>
          <a:xfrm>
            <a:off x="7098030" y="3119438"/>
            <a:ext cx="209550" cy="0"/>
          </a:xfrm>
          <a:prstGeom prst="straightConnector1">
            <a:avLst/>
          </a:prstGeom>
          <a:ln w="19050">
            <a:solidFill>
              <a:srgbClr val="E6002D"/>
            </a:solidFill>
            <a:prstDash val="solid"/>
            <a:headEnd type="triangle" w="sm" len="sm"/>
          </a:ln>
        </p:spPr>
      </p:cxnSp>
      <p:cxnSp>
        <p:nvCxnSpPr>
          <p:cNvPr id="20" name="Straight Arrow Connector 19"/>
          <p:cNvCxnSpPr>
            <a:stCxn id="4" idx="3"/>
            <a:endCxn id="5" idx="1"/>
          </p:cNvCxnSpPr>
          <p:nvPr/>
        </p:nvCxnSpPr>
        <p:spPr>
          <a:xfrm>
            <a:off x="4884420" y="3119438"/>
            <a:ext cx="209550" cy="0"/>
          </a:xfrm>
          <a:prstGeom prst="straightConnector1">
            <a:avLst/>
          </a:prstGeom>
          <a:ln w="19050">
            <a:solidFill>
              <a:srgbClr val="E6002D"/>
            </a:solidFill>
            <a:prstDash val="solid"/>
            <a:headEnd type="triangle" w="sm" len="sm"/>
          </a:ln>
        </p:spPr>
      </p:cxnSp>
      <p:cxnSp>
        <p:nvCxnSpPr>
          <p:cNvPr id="21" name="Straight Arrow Connector 20"/>
          <p:cNvCxnSpPr>
            <a:stCxn id="3" idx="3"/>
            <a:endCxn id="4" idx="1"/>
          </p:cNvCxnSpPr>
          <p:nvPr/>
        </p:nvCxnSpPr>
        <p:spPr>
          <a:xfrm>
            <a:off x="2670810" y="3119438"/>
            <a:ext cx="209550" cy="0"/>
          </a:xfrm>
          <a:prstGeom prst="straightConnector1">
            <a:avLst/>
          </a:prstGeom>
          <a:ln w="19050">
            <a:solidFill>
              <a:srgbClr val="E6002D"/>
            </a:solidFill>
            <a:prstDash val="solid"/>
            <a:headEnd type="triangle" w="sm" len="sm"/>
          </a:ln>
        </p:spPr>
      </p:cxnSp>
      <p:sp>
        <p:nvSpPr>
          <p:cNvPr id="22" name="Rectangle 21">
            <a:extLst>
              <a:ext uri="{FF2B5EF4-FFF2-40B4-BE49-F238E27FC236}">
                <a16:creationId xmlns:a16="http://schemas.microsoft.com/office/drawing/2014/main" id="{DE63F766-9073-4A04-BCA7-D7450CAB4340}"/>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CẤU TRÚC HSMT VIETTEL 101</a:t>
            </a:r>
          </a:p>
        </p:txBody>
      </p:sp>
      <p:sp>
        <p:nvSpPr>
          <p:cNvPr id="2" name="Rectangle 1">
            <a:extLst>
              <a:ext uri="{FF2B5EF4-FFF2-40B4-BE49-F238E27FC236}">
                <a16:creationId xmlns:a16="http://schemas.microsoft.com/office/drawing/2014/main" id="{EF8F7865-E58F-4855-A202-4C5040A5F24A}"/>
              </a:ext>
            </a:extLst>
          </p:cNvPr>
          <p:cNvSpPr>
            <a:spLocks noGrp="1"/>
          </p:cNvSpPr>
          <p:nvPr/>
        </p:nvSpPr>
        <p:spPr>
          <a:xfrm>
            <a:off x="666750" y="1000125"/>
            <a:ext cx="10763250" cy="523875"/>
          </a:xfrm>
          <a:prstGeom prst="rect">
            <a:avLst/>
          </a:prstGeom>
          <a:noFill/>
          <a:ln w="0">
            <a:noFill/>
          </a:ln>
        </p:spPr>
        <p:txBody>
          <a:bodyPr anchor="ctr">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Nhận diện A-HSMT theo quy chế.</a:t>
            </a:r>
          </a:p>
        </p:txBody>
      </p:sp>
      <p:sp>
        <p:nvSpPr>
          <p:cNvPr id="3" name="Rectangle: Rounded Corners 2">
            <a:extLst>
              <a:ext uri="{FF2B5EF4-FFF2-40B4-BE49-F238E27FC236}">
                <a16:creationId xmlns:a16="http://schemas.microsoft.com/office/drawing/2014/main" id="{1F67A531-173B-4CC7-9C16-9B3CC6E8ECDD}"/>
              </a:ext>
            </a:extLst>
          </p:cNvPr>
          <p:cNvSpPr>
            <a:spLocks noGrp="1"/>
          </p:cNvSpPr>
          <p:nvPr/>
        </p:nvSpPr>
        <p:spPr>
          <a:xfrm>
            <a:off x="666750" y="2476500"/>
            <a:ext cx="2004060"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Chương I: Chỉ dẫn nhà thầu.</a:t>
            </a:r>
          </a:p>
        </p:txBody>
      </p:sp>
      <p:sp>
        <p:nvSpPr>
          <p:cNvPr id="4" name="Rectangle: Rounded Corners 3">
            <a:extLst>
              <a:ext uri="{FF2B5EF4-FFF2-40B4-BE49-F238E27FC236}">
                <a16:creationId xmlns:a16="http://schemas.microsoft.com/office/drawing/2014/main" id="{5CD80001-A6FA-44E5-9DBF-BF9A81888A2F}"/>
              </a:ext>
            </a:extLst>
          </p:cNvPr>
          <p:cNvSpPr>
            <a:spLocks noGrp="1"/>
          </p:cNvSpPr>
          <p:nvPr/>
        </p:nvSpPr>
        <p:spPr>
          <a:xfrm>
            <a:off x="2880360" y="2476500"/>
            <a:ext cx="2004060"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Chương II: Bảng dữ liệu đấu thầu.</a:t>
            </a:r>
          </a:p>
        </p:txBody>
      </p:sp>
      <p:sp>
        <p:nvSpPr>
          <p:cNvPr id="5" name="Rectangle: Rounded Corners 4">
            <a:extLst>
              <a:ext uri="{FF2B5EF4-FFF2-40B4-BE49-F238E27FC236}">
                <a16:creationId xmlns:a16="http://schemas.microsoft.com/office/drawing/2014/main" id="{56167EA8-568B-4D1D-9D8B-E8805876B91A}"/>
              </a:ext>
            </a:extLst>
          </p:cNvPr>
          <p:cNvSpPr>
            <a:spLocks noGrp="1"/>
          </p:cNvSpPr>
          <p:nvPr/>
        </p:nvSpPr>
        <p:spPr>
          <a:xfrm>
            <a:off x="5093970" y="2476500"/>
            <a:ext cx="2004060"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Chương III: Tiêu chuẩn đánh giá A-HSDT.</a:t>
            </a:r>
          </a:p>
        </p:txBody>
      </p:sp>
      <p:sp>
        <p:nvSpPr>
          <p:cNvPr id="6" name="Rectangle: Rounded Corners 5">
            <a:extLst>
              <a:ext uri="{FF2B5EF4-FFF2-40B4-BE49-F238E27FC236}">
                <a16:creationId xmlns:a16="http://schemas.microsoft.com/office/drawing/2014/main" id="{AACFFBDB-D8C9-48B5-9F68-98FA84AA2328}"/>
              </a:ext>
            </a:extLst>
          </p:cNvPr>
          <p:cNvSpPr>
            <a:spLocks noGrp="1"/>
          </p:cNvSpPr>
          <p:nvPr/>
        </p:nvSpPr>
        <p:spPr>
          <a:xfrm>
            <a:off x="7307580" y="2476500"/>
            <a:ext cx="2004060"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Chương IV: Phạm vi/yêu cầu kỹ thuật.</a:t>
            </a:r>
          </a:p>
        </p:txBody>
      </p:sp>
      <p:sp>
        <p:nvSpPr>
          <p:cNvPr id="7" name="Rectangle: Rounded Corners 6">
            <a:extLst>
              <a:ext uri="{FF2B5EF4-FFF2-40B4-BE49-F238E27FC236}">
                <a16:creationId xmlns:a16="http://schemas.microsoft.com/office/drawing/2014/main" id="{8E939337-99E4-4EB1-AF43-36E65EBB5127}"/>
              </a:ext>
            </a:extLst>
          </p:cNvPr>
          <p:cNvSpPr>
            <a:spLocks noGrp="1"/>
          </p:cNvSpPr>
          <p:nvPr/>
        </p:nvSpPr>
        <p:spPr>
          <a:xfrm>
            <a:off x="9521190" y="2476500"/>
            <a:ext cx="2004060"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350" b="1">
                <a:solidFill>
                  <a:srgbClr val="1B1B1B"/>
                </a:solidFill>
                <a:latin typeface="Arial"/>
                <a:ea typeface="Arial"/>
                <a:cs typeface="Arial"/>
              </a:defRPr>
            </a:pPr>
            <a:r>
              <a:rPr sz="1350" b="1">
                <a:solidFill>
                  <a:srgbClr val="1B1B1B"/>
                </a:solidFill>
                <a:latin typeface="Arial"/>
                <a:ea typeface="Arial"/>
                <a:cs typeface="Arial"/>
              </a:rPr>
              <a:t>Chương V: Biểu mẫu; Chương VI: điều kiện và biểu mẫu hợp đồng.</a:t>
            </a:r>
          </a:p>
        </p:txBody>
      </p:sp>
      <p:sp>
        <p:nvSpPr>
          <p:cNvPr id="12" name="Rectangle 11">
            <a:extLst>
              <a:ext uri="{FF2B5EF4-FFF2-40B4-BE49-F238E27FC236}">
                <a16:creationId xmlns:a16="http://schemas.microsoft.com/office/drawing/2014/main" id="{80445351-94BA-4CD7-9EB7-E22AF7EE42E9}"/>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3" name="Rectangle: Rounded Corners 12">
            <a:extLst>
              <a:ext uri="{FF2B5EF4-FFF2-40B4-BE49-F238E27FC236}">
                <a16:creationId xmlns:a16="http://schemas.microsoft.com/office/drawing/2014/main" id="{124D4419-FD36-4C6F-85E8-1031F3A17149}"/>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4" name="Rectangle 13">
            <a:extLst>
              <a:ext uri="{FF2B5EF4-FFF2-40B4-BE49-F238E27FC236}">
                <a16:creationId xmlns:a16="http://schemas.microsoft.com/office/drawing/2014/main" id="{546F36B7-3A77-4B98-92FA-81D491BF58CA}"/>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41</a:t>
            </a:r>
          </a:p>
        </p:txBody>
      </p:sp>
      <p:sp>
        <p:nvSpPr>
          <p:cNvPr id="15" name="Rectangle 14">
            <a:extLst>
              <a:ext uri="{FF2B5EF4-FFF2-40B4-BE49-F238E27FC236}">
                <a16:creationId xmlns:a16="http://schemas.microsoft.com/office/drawing/2014/main" id="{365E8127-3C6C-4EB0-816E-4E37CC4D9DB8}"/>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Rectangle 15">
            <a:extLst>
              <a:ext uri="{FF2B5EF4-FFF2-40B4-BE49-F238E27FC236}">
                <a16:creationId xmlns:a16="http://schemas.microsoft.com/office/drawing/2014/main" id="{FAA497A0-2BDD-495C-BE76-95E37F256F8C}"/>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7" name="Rectangle 16">
            <a:extLst>
              <a:ext uri="{FF2B5EF4-FFF2-40B4-BE49-F238E27FC236}">
                <a16:creationId xmlns:a16="http://schemas.microsoft.com/office/drawing/2014/main" id="{9CAE6D16-02DC-4306-9081-436FC1E25303}"/>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HSMT Theo quy chế Viettel.docx, mục lục và Chương IV.</a:t>
            </a:r>
          </a:p>
        </p:txBody>
      </p:sp>
    </p:spTree>
    <p:extLst>
      <p:ext uri="{BB962C8B-B14F-4D97-AF65-F5344CB8AC3E}">
        <p14:creationId xmlns:p14="http://schemas.microsoft.com/office/powerpoint/2010/main" val="159692748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27E4EF63-9836-45A5-8E86-380FC2F307AB}"/>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DỮ KIỆN GÓI 101 NETAGENT 2026</a:t>
            </a:r>
          </a:p>
        </p:txBody>
      </p:sp>
      <p:sp>
        <p:nvSpPr>
          <p:cNvPr id="2" name="Rectangle 1">
            <a:extLst>
              <a:ext uri="{FF2B5EF4-FFF2-40B4-BE49-F238E27FC236}">
                <a16:creationId xmlns:a16="http://schemas.microsoft.com/office/drawing/2014/main" id="{740BCD55-E000-4E2A-84D5-349808722527}"/>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Đặt case Viettel trên cùng mặt bằng so sánh.</a:t>
            </a:r>
          </a:p>
        </p:txBody>
      </p:sp>
      <p:sp>
        <p:nvSpPr>
          <p:cNvPr id="3" name="Rectangle 2">
            <a:extLst>
              <a:ext uri="{FF2B5EF4-FFF2-40B4-BE49-F238E27FC236}">
                <a16:creationId xmlns:a16="http://schemas.microsoft.com/office/drawing/2014/main" id="{8FD5B4E2-862A-4679-80D1-0C5E63E7F9C6}"/>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gói thầu: 2.632.500.000 VND.</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Nguồn vốn: chi phí sản xuất kinh doanh.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Gói: triển khai phát triển phần mềm NetAgent 2026.</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Rộng rãi trong nước qua mạng, 1G1T, đơn giá cố định, 695 ngày.</a:t>
            </a:r>
          </a:p>
        </p:txBody>
      </p:sp>
      <p:sp>
        <p:nvSpPr>
          <p:cNvPr id="4" name="Rectangle 3">
            <a:extLst>
              <a:ext uri="{FF2B5EF4-FFF2-40B4-BE49-F238E27FC236}">
                <a16:creationId xmlns:a16="http://schemas.microsoft.com/office/drawing/2014/main" id="{F49F7E84-4E0D-46FA-8901-94AAB7D818C3}"/>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36866731-C9D0-4DCF-A1CC-EE66AEB17DC2}"/>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BC462EA5-77D2-430A-876A-166925416234}"/>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Giá gói thầu: 2.632.500.000 VND.</a:t>
            </a:r>
          </a:p>
        </p:txBody>
      </p:sp>
      <p:sp>
        <p:nvSpPr>
          <p:cNvPr id="7" name="Rectangle 6">
            <a:extLst>
              <a:ext uri="{FF2B5EF4-FFF2-40B4-BE49-F238E27FC236}">
                <a16:creationId xmlns:a16="http://schemas.microsoft.com/office/drawing/2014/main" id="{7E98A886-C58A-47A4-8729-11C8D0117226}"/>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61CA004B-A0F2-4DAA-B591-E902A4753511}"/>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Nguồn vốn: chi phí sản xuất kinh doanh.</a:t>
            </a:r>
          </a:p>
        </p:txBody>
      </p:sp>
      <p:sp>
        <p:nvSpPr>
          <p:cNvPr id="9" name="Rectangle 8">
            <a:extLst>
              <a:ext uri="{FF2B5EF4-FFF2-40B4-BE49-F238E27FC236}">
                <a16:creationId xmlns:a16="http://schemas.microsoft.com/office/drawing/2014/main" id="{71D94708-70D9-4923-96E6-F6309348BD24}"/>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044F6E61-A206-45EB-89F5-C1AE723C7025}"/>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Gói: triển khai phát triển phần mềm NetAgent 2026.</a:t>
            </a:r>
          </a:p>
        </p:txBody>
      </p:sp>
      <p:sp>
        <p:nvSpPr>
          <p:cNvPr id="11" name="Rectangle 10">
            <a:extLst>
              <a:ext uri="{FF2B5EF4-FFF2-40B4-BE49-F238E27FC236}">
                <a16:creationId xmlns:a16="http://schemas.microsoft.com/office/drawing/2014/main" id="{93A8CEA9-1057-448E-9FB4-4F527D33C122}"/>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C40E0F4D-4231-488E-86A8-87E19F319813}"/>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Rộng rãi trong nước qua mạng, 1G1T, đơn giá cố định, 695 ngày.</a:t>
            </a:r>
          </a:p>
        </p:txBody>
      </p:sp>
      <p:sp>
        <p:nvSpPr>
          <p:cNvPr id="13" name="Rectangle 12">
            <a:extLst>
              <a:ext uri="{FF2B5EF4-FFF2-40B4-BE49-F238E27FC236}">
                <a16:creationId xmlns:a16="http://schemas.microsoft.com/office/drawing/2014/main" id="{89F766C4-1BE8-4B78-B08E-C93186651261}"/>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455E0403-C80E-46C3-81CC-DFDB0A7D8BA5}"/>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D4B8E7D1-C093-4BD4-BF6D-DB1EEF890147}"/>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42</a:t>
            </a:r>
          </a:p>
        </p:txBody>
      </p:sp>
      <p:sp>
        <p:nvSpPr>
          <p:cNvPr id="16" name="Rectangle 15">
            <a:extLst>
              <a:ext uri="{FF2B5EF4-FFF2-40B4-BE49-F238E27FC236}">
                <a16:creationId xmlns:a16="http://schemas.microsoft.com/office/drawing/2014/main" id="{1408E079-0EDE-4996-8A28-ABD5BDB7B88B}"/>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44718BD6-BFFE-4881-9F76-B68CE5084187}"/>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8" name="Rectangle 17">
            <a:extLst>
              <a:ext uri="{FF2B5EF4-FFF2-40B4-BE49-F238E27FC236}">
                <a16:creationId xmlns:a16="http://schemas.microsoft.com/office/drawing/2014/main" id="{0136697E-4170-471C-B7BB-2787D7C2CC30}"/>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HSMT 101, Chương IV, mục 2.1.</a:t>
            </a:r>
          </a:p>
        </p:txBody>
      </p:sp>
    </p:spTree>
    <p:extLst>
      <p:ext uri="{BB962C8B-B14F-4D97-AF65-F5344CB8AC3E}">
        <p14:creationId xmlns:p14="http://schemas.microsoft.com/office/powerpoint/2010/main" val="13512884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6" name="Straight Arrow Connector 15"/>
          <p:cNvCxnSpPr>
            <a:stCxn id="5" idx="3"/>
            <a:endCxn id="6" idx="1"/>
          </p:cNvCxnSpPr>
          <p:nvPr/>
        </p:nvCxnSpPr>
        <p:spPr>
          <a:xfrm>
            <a:off x="8758238" y="3119438"/>
            <a:ext cx="209550" cy="0"/>
          </a:xfrm>
          <a:prstGeom prst="straightConnector1">
            <a:avLst/>
          </a:prstGeom>
          <a:ln w="19050">
            <a:solidFill>
              <a:srgbClr val="E6002D"/>
            </a:solidFill>
            <a:prstDash val="solid"/>
            <a:headEnd type="triangle" w="sm" len="sm"/>
          </a:ln>
        </p:spPr>
      </p:cxnSp>
      <p:cxnSp>
        <p:nvCxnSpPr>
          <p:cNvPr id="17" name="Straight Arrow Connector 16"/>
          <p:cNvCxnSpPr>
            <a:stCxn id="4" idx="3"/>
            <a:endCxn id="5" idx="1"/>
          </p:cNvCxnSpPr>
          <p:nvPr/>
        </p:nvCxnSpPr>
        <p:spPr>
          <a:xfrm>
            <a:off x="5991226" y="3119438"/>
            <a:ext cx="209549" cy="0"/>
          </a:xfrm>
          <a:prstGeom prst="straightConnector1">
            <a:avLst/>
          </a:prstGeom>
          <a:ln w="19050">
            <a:solidFill>
              <a:srgbClr val="E6002D"/>
            </a:solidFill>
            <a:prstDash val="solid"/>
            <a:headEnd type="triangle" w="sm" len="sm"/>
          </a:ln>
        </p:spPr>
      </p:cxnSp>
      <p:cxnSp>
        <p:nvCxnSpPr>
          <p:cNvPr id="18" name="Straight Arrow Connector 17"/>
          <p:cNvCxnSpPr>
            <a:stCxn id="3" idx="3"/>
            <a:endCxn id="4" idx="1"/>
          </p:cNvCxnSpPr>
          <p:nvPr/>
        </p:nvCxnSpPr>
        <p:spPr>
          <a:xfrm>
            <a:off x="3224213" y="3119438"/>
            <a:ext cx="209550" cy="0"/>
          </a:xfrm>
          <a:prstGeom prst="straightConnector1">
            <a:avLst/>
          </a:prstGeom>
          <a:ln w="19050">
            <a:solidFill>
              <a:srgbClr val="E6002D"/>
            </a:solidFill>
            <a:prstDash val="solid"/>
            <a:headEnd type="triangle" w="sm" len="sm"/>
          </a:ln>
        </p:spPr>
      </p:cxnSp>
      <p:sp>
        <p:nvSpPr>
          <p:cNvPr id="19" name="Rectangle 18">
            <a:extLst>
              <a:ext uri="{FF2B5EF4-FFF2-40B4-BE49-F238E27FC236}">
                <a16:creationId xmlns:a16="http://schemas.microsoft.com/office/drawing/2014/main" id="{FC3E0705-22BC-4C45-800C-4F807DC5CA70}"/>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BA LỚP ĐÁNH GIÁ A-HSDT VIETTEL</a:t>
            </a:r>
          </a:p>
        </p:txBody>
      </p:sp>
      <p:sp>
        <p:nvSpPr>
          <p:cNvPr id="2" name="Rectangle 1">
            <a:extLst>
              <a:ext uri="{FF2B5EF4-FFF2-40B4-BE49-F238E27FC236}">
                <a16:creationId xmlns:a16="http://schemas.microsoft.com/office/drawing/2014/main" id="{1215D588-88F1-45C4-B9F6-0EA2AE3B2405}"/>
              </a:ext>
            </a:extLst>
          </p:cNvPr>
          <p:cNvSpPr>
            <a:spLocks noGrp="1"/>
          </p:cNvSpPr>
          <p:nvPr/>
        </p:nvSpPr>
        <p:spPr>
          <a:xfrm>
            <a:off x="666750" y="1000125"/>
            <a:ext cx="10763250" cy="523875"/>
          </a:xfrm>
          <a:prstGeom prst="rect">
            <a:avLst/>
          </a:prstGeom>
          <a:noFill/>
          <a:ln w="0">
            <a:noFill/>
          </a:ln>
        </p:spPr>
        <p:txBody>
          <a:bodyPr anchor="ctr">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Hiểu quy trình của HSMT 101.</a:t>
            </a:r>
          </a:p>
        </p:txBody>
      </p:sp>
      <p:sp>
        <p:nvSpPr>
          <p:cNvPr id="3" name="Rectangle: Rounded Corners 2">
            <a:extLst>
              <a:ext uri="{FF2B5EF4-FFF2-40B4-BE49-F238E27FC236}">
                <a16:creationId xmlns:a16="http://schemas.microsoft.com/office/drawing/2014/main" id="{78F55812-6C6D-4773-93FB-CB7945313F8B}"/>
              </a:ext>
            </a:extLst>
          </p:cNvPr>
          <p:cNvSpPr>
            <a:spLocks noGrp="1"/>
          </p:cNvSpPr>
          <p:nvPr/>
        </p:nvSpPr>
        <p:spPr>
          <a:xfrm>
            <a:off x="666750" y="2476500"/>
            <a:ext cx="2557463"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Tính hợp lệ.</a:t>
            </a:r>
          </a:p>
        </p:txBody>
      </p:sp>
      <p:sp>
        <p:nvSpPr>
          <p:cNvPr id="4" name="Rectangle: Rounded Corners 3">
            <a:extLst>
              <a:ext uri="{FF2B5EF4-FFF2-40B4-BE49-F238E27FC236}">
                <a16:creationId xmlns:a16="http://schemas.microsoft.com/office/drawing/2014/main" id="{07705EE7-4991-4F5E-BD35-D85787AAF9CA}"/>
              </a:ext>
            </a:extLst>
          </p:cNvPr>
          <p:cNvSpPr>
            <a:spLocks noGrp="1"/>
          </p:cNvSpPr>
          <p:nvPr/>
        </p:nvSpPr>
        <p:spPr>
          <a:xfrm>
            <a:off x="3433763" y="2476500"/>
            <a:ext cx="2557463"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575" b="1">
                <a:solidFill>
                  <a:srgbClr val="1B1B1B"/>
                </a:solidFill>
                <a:latin typeface="Arial"/>
                <a:ea typeface="Arial"/>
                <a:cs typeface="Arial"/>
              </a:defRPr>
            </a:pPr>
            <a:r>
              <a:rPr sz="1575" b="1">
                <a:solidFill>
                  <a:srgbClr val="1B1B1B"/>
                </a:solidFill>
                <a:latin typeface="Arial"/>
                <a:ea typeface="Arial"/>
                <a:cs typeface="Arial"/>
              </a:rPr>
              <a:t>Năng lực thực hiện gói thầu.</a:t>
            </a:r>
          </a:p>
        </p:txBody>
      </p:sp>
      <p:sp>
        <p:nvSpPr>
          <p:cNvPr id="5" name="Rectangle: Rounded Corners 4">
            <a:extLst>
              <a:ext uri="{FF2B5EF4-FFF2-40B4-BE49-F238E27FC236}">
                <a16:creationId xmlns:a16="http://schemas.microsoft.com/office/drawing/2014/main" id="{413EA1E9-B54F-4876-B4F7-2840FF7447BD}"/>
              </a:ext>
            </a:extLst>
          </p:cNvPr>
          <p:cNvSpPr>
            <a:spLocks noGrp="1"/>
          </p:cNvSpPr>
          <p:nvPr/>
        </p:nvSpPr>
        <p:spPr>
          <a:xfrm>
            <a:off x="6200775" y="2476500"/>
            <a:ext cx="2557463"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350" b="1">
                <a:solidFill>
                  <a:srgbClr val="1B1B1B"/>
                </a:solidFill>
                <a:latin typeface="Arial"/>
                <a:ea typeface="Arial"/>
                <a:cs typeface="Arial"/>
              </a:defRPr>
            </a:pPr>
            <a:r>
              <a:rPr sz="1350" b="1">
                <a:solidFill>
                  <a:srgbClr val="1B1B1B"/>
                </a:solidFill>
                <a:latin typeface="Arial"/>
                <a:ea typeface="Arial"/>
                <a:cs typeface="Arial"/>
              </a:rPr>
              <a:t>Kỹ thuật M/O, sau đó tài chính giá thấp nhất.</a:t>
            </a:r>
          </a:p>
        </p:txBody>
      </p:sp>
      <p:sp>
        <p:nvSpPr>
          <p:cNvPr id="6" name="Rectangle: Rounded Corners 5">
            <a:extLst>
              <a:ext uri="{FF2B5EF4-FFF2-40B4-BE49-F238E27FC236}">
                <a16:creationId xmlns:a16="http://schemas.microsoft.com/office/drawing/2014/main" id="{66C69B6D-7558-4BC7-8E06-FE1E1D43C170}"/>
              </a:ext>
            </a:extLst>
          </p:cNvPr>
          <p:cNvSpPr>
            <a:spLocks noGrp="1"/>
          </p:cNvSpPr>
          <p:nvPr/>
        </p:nvSpPr>
        <p:spPr>
          <a:xfrm>
            <a:off x="8967788" y="2476500"/>
            <a:ext cx="2557463"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350" b="1">
                <a:solidFill>
                  <a:srgbClr val="1B1B1B"/>
                </a:solidFill>
                <a:latin typeface="Arial"/>
                <a:ea typeface="Arial"/>
                <a:cs typeface="Arial"/>
              </a:defRPr>
            </a:pPr>
            <a:r>
              <a:rPr sz="1350" b="1">
                <a:solidFill>
                  <a:srgbClr val="1B1B1B"/>
                </a:solidFill>
                <a:latin typeface="Arial"/>
                <a:ea typeface="Arial"/>
                <a:cs typeface="Arial"/>
              </a:rPr>
              <a:t>Quy trình 01 hoặc Quy trình 02 nếu giá thấp nhất đủ điều kiện.</a:t>
            </a:r>
          </a:p>
        </p:txBody>
      </p:sp>
      <p:sp>
        <p:nvSpPr>
          <p:cNvPr id="10" name="Rectangle 9">
            <a:extLst>
              <a:ext uri="{FF2B5EF4-FFF2-40B4-BE49-F238E27FC236}">
                <a16:creationId xmlns:a16="http://schemas.microsoft.com/office/drawing/2014/main" id="{FC4CF71A-10BF-4827-BB32-659CFA7ED2B1}"/>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1" name="Rectangle: Rounded Corners 10">
            <a:extLst>
              <a:ext uri="{FF2B5EF4-FFF2-40B4-BE49-F238E27FC236}">
                <a16:creationId xmlns:a16="http://schemas.microsoft.com/office/drawing/2014/main" id="{B891DAC7-7333-4974-87E5-FE21356ED48E}"/>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2" name="Rectangle 11">
            <a:extLst>
              <a:ext uri="{FF2B5EF4-FFF2-40B4-BE49-F238E27FC236}">
                <a16:creationId xmlns:a16="http://schemas.microsoft.com/office/drawing/2014/main" id="{0B42B220-EC7E-473A-8ED0-CA57F4BE0749}"/>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43</a:t>
            </a:r>
          </a:p>
        </p:txBody>
      </p:sp>
      <p:sp>
        <p:nvSpPr>
          <p:cNvPr id="13" name="Rectangle 12">
            <a:extLst>
              <a:ext uri="{FF2B5EF4-FFF2-40B4-BE49-F238E27FC236}">
                <a16:creationId xmlns:a16="http://schemas.microsoft.com/office/drawing/2014/main" id="{70E718A1-E841-4C67-8B5C-AE21BE7280D8}"/>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Rectangle 13">
            <a:extLst>
              <a:ext uri="{FF2B5EF4-FFF2-40B4-BE49-F238E27FC236}">
                <a16:creationId xmlns:a16="http://schemas.microsoft.com/office/drawing/2014/main" id="{A1970C23-EB15-4E13-819F-6FB8318AC3B5}"/>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5" name="Rectangle 14">
            <a:extLst>
              <a:ext uri="{FF2B5EF4-FFF2-40B4-BE49-F238E27FC236}">
                <a16:creationId xmlns:a16="http://schemas.microsoft.com/office/drawing/2014/main" id="{E9D95A26-25A5-4D2C-A331-500E38657E63}"/>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27-29 A-CDNT HSMT 101.</a:t>
            </a:r>
          </a:p>
        </p:txBody>
      </p:sp>
    </p:spTree>
    <p:extLst>
      <p:ext uri="{BB962C8B-B14F-4D97-AF65-F5344CB8AC3E}">
        <p14:creationId xmlns:p14="http://schemas.microsoft.com/office/powerpoint/2010/main" val="15001789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FC2B92F-8999-4494-8E0D-B72EE4F1E485}"/>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KỸ THUẬT M/O TRONG HSMT VIETTEL</a:t>
            </a:r>
          </a:p>
        </p:txBody>
      </p:sp>
      <p:sp>
        <p:nvSpPr>
          <p:cNvPr id="2" name="Rectangle 1">
            <a:extLst>
              <a:ext uri="{FF2B5EF4-FFF2-40B4-BE49-F238E27FC236}">
                <a16:creationId xmlns:a16="http://schemas.microsoft.com/office/drawing/2014/main" id="{4D962C0D-E38C-46B5-BEAC-64C93060C480}"/>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Phân biệt chỉ tiêu bắt buộc và tùy chọn.</a:t>
            </a:r>
          </a:p>
        </p:txBody>
      </p:sp>
      <p:sp>
        <p:nvSpPr>
          <p:cNvPr id="3" name="Rectangle 2">
            <a:extLst>
              <a:ext uri="{FF2B5EF4-FFF2-40B4-BE49-F238E27FC236}">
                <a16:creationId xmlns:a16="http://schemas.microsoft.com/office/drawing/2014/main" id="{E94A180B-1B11-4A2F-A4FB-64435D1E41FD}"/>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100% chỉ tiêu M phải đạt.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100% chỉ tiêu O phải đạt hoặc chấp nhận được.</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Bằng chứng là giải pháp kỹ thuật tham chiếu hoặc cam kết.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Chương IV có tính năng, phi chức năng, dữ liệu, bảo mật và test case.</a:t>
            </a:r>
          </a:p>
        </p:txBody>
      </p:sp>
      <p:sp>
        <p:nvSpPr>
          <p:cNvPr id="4" name="Rectangle 3">
            <a:extLst>
              <a:ext uri="{FF2B5EF4-FFF2-40B4-BE49-F238E27FC236}">
                <a16:creationId xmlns:a16="http://schemas.microsoft.com/office/drawing/2014/main" id="{E0B4D88E-8ADD-41F4-9505-8C1D611BBD7C}"/>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D6C4DA36-C4BC-4E5A-A088-0744F62BE58E}"/>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B1998589-5767-462D-981A-36B817EF4758}"/>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100% chỉ tiêu M phải đạt.</a:t>
            </a:r>
          </a:p>
        </p:txBody>
      </p:sp>
      <p:sp>
        <p:nvSpPr>
          <p:cNvPr id="7" name="Rectangle 6">
            <a:extLst>
              <a:ext uri="{FF2B5EF4-FFF2-40B4-BE49-F238E27FC236}">
                <a16:creationId xmlns:a16="http://schemas.microsoft.com/office/drawing/2014/main" id="{C4C47707-AA57-4C9F-9D83-1500CB2D5B7D}"/>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7CC2A89E-D816-4275-AAC4-7899014E2350}"/>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100% chỉ tiêu O phải đạt hoặc chấp nhận được.</a:t>
            </a:r>
          </a:p>
        </p:txBody>
      </p:sp>
      <p:sp>
        <p:nvSpPr>
          <p:cNvPr id="9" name="Rectangle 8">
            <a:extLst>
              <a:ext uri="{FF2B5EF4-FFF2-40B4-BE49-F238E27FC236}">
                <a16:creationId xmlns:a16="http://schemas.microsoft.com/office/drawing/2014/main" id="{99955258-93CC-46D5-821C-B75F6DD49A0B}"/>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69BBEBA6-80D1-484F-9F59-A126687C4515}"/>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Bằng chứng là giải pháp kỹ thuật tham chiếu hoặc cam kết.</a:t>
            </a:r>
          </a:p>
        </p:txBody>
      </p:sp>
      <p:sp>
        <p:nvSpPr>
          <p:cNvPr id="11" name="Rectangle 10">
            <a:extLst>
              <a:ext uri="{FF2B5EF4-FFF2-40B4-BE49-F238E27FC236}">
                <a16:creationId xmlns:a16="http://schemas.microsoft.com/office/drawing/2014/main" id="{9C1FDB69-36CE-4B38-89CD-00C56CFF8DD8}"/>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F93640A7-C6FA-4E0C-BA47-B4DCBD7F6CA3}"/>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Chương IV có tính năng, phi chức năng, dữ liệu, bảo mật và test ca…</a:t>
            </a:r>
          </a:p>
        </p:txBody>
      </p:sp>
      <p:sp>
        <p:nvSpPr>
          <p:cNvPr id="13" name="Rectangle 12">
            <a:extLst>
              <a:ext uri="{FF2B5EF4-FFF2-40B4-BE49-F238E27FC236}">
                <a16:creationId xmlns:a16="http://schemas.microsoft.com/office/drawing/2014/main" id="{4FF83196-B6BA-41C8-B0FE-B325C5B8CB27}"/>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CA06D46A-0BC3-4B92-875F-1169085A91BE}"/>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45705774-46D0-47F5-BD2D-2CA5626DE867}"/>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44</a:t>
            </a:r>
          </a:p>
        </p:txBody>
      </p:sp>
      <p:sp>
        <p:nvSpPr>
          <p:cNvPr id="16" name="Rectangle 15">
            <a:extLst>
              <a:ext uri="{FF2B5EF4-FFF2-40B4-BE49-F238E27FC236}">
                <a16:creationId xmlns:a16="http://schemas.microsoft.com/office/drawing/2014/main" id="{F8565E59-9BA7-4D9A-A0BC-096FF4FE82E6}"/>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828D3B9F-A9AF-4D41-99F4-A92278CBE664}"/>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8" name="Rectangle 17">
            <a:extLst>
              <a:ext uri="{FF2B5EF4-FFF2-40B4-BE49-F238E27FC236}">
                <a16:creationId xmlns:a16="http://schemas.microsoft.com/office/drawing/2014/main" id="{EBB61E10-B1DC-41B3-9012-15B537FBA091}"/>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HSMT 101, Chương III Mục 3 và Chương IV Mục 2.2.</a:t>
            </a:r>
          </a:p>
        </p:txBody>
      </p:sp>
    </p:spTree>
    <p:extLst>
      <p:ext uri="{BB962C8B-B14F-4D97-AF65-F5344CB8AC3E}">
        <p14:creationId xmlns:p14="http://schemas.microsoft.com/office/powerpoint/2010/main" val="4110424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726390C7-1450-4B97-B1F0-D4618EE47291}"/>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LÀM RÕ VÀ THAY THẾ TRONG A-HSDT VIETTEL</a:t>
            </a:r>
          </a:p>
        </p:txBody>
      </p:sp>
      <p:sp>
        <p:nvSpPr>
          <p:cNvPr id="2" name="Rectangle 1">
            <a:extLst>
              <a:ext uri="{FF2B5EF4-FFF2-40B4-BE49-F238E27FC236}">
                <a16:creationId xmlns:a16="http://schemas.microsoft.com/office/drawing/2014/main" id="{2F2CC383-672E-457E-B58F-1B2480078259}"/>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Đối chiếu cơ chế sau đóng thầu.</a:t>
            </a:r>
          </a:p>
        </p:txBody>
      </p:sp>
      <p:sp>
        <p:nvSpPr>
          <p:cNvPr id="3" name="Rectangle 2">
            <a:extLst>
              <a:ext uri="{FF2B5EF4-FFF2-40B4-BE49-F238E27FC236}">
                <a16:creationId xmlns:a16="http://schemas.microsoft.com/office/drawing/2014/main" id="{8F70A85D-7369-42CC-ABC4-5F3B12BC44F2}"/>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Năng lực/tài liệu thiếu hoặc không đầy đủ: có thể yêu cầu bổ sung trong thời hạn phù hợp, không ít hơn 03 ngày làm việc.</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Nhân sự chủ chốt/thiết bị chủ yếu không đáp ứng: được bổ sung/thay thế một lần, không ít hơn 03 ngày làm việc.</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được thay đổi nhân sự sau xếp hạng thứ nhất, trừ lý do chính đáng/bất khả kháng.</a:t>
            </a:r>
          </a:p>
        </p:txBody>
      </p:sp>
      <p:sp>
        <p:nvSpPr>
          <p:cNvPr id="4" name="Rectangle 3">
            <a:extLst>
              <a:ext uri="{FF2B5EF4-FFF2-40B4-BE49-F238E27FC236}">
                <a16:creationId xmlns:a16="http://schemas.microsoft.com/office/drawing/2014/main" id="{CE8A63DC-61E8-4BDD-83C1-6832B5A33BD3}"/>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61B6C8FD-7184-4142-A10F-F26BDFADAA09}"/>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DB7DF273-310F-479D-8992-9EAF34A820A6}"/>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Năng lực/tài liệu thiếu hoặc không đầy đủ: có thể yêu cầu bổ sung …</a:t>
            </a:r>
          </a:p>
        </p:txBody>
      </p:sp>
      <p:sp>
        <p:nvSpPr>
          <p:cNvPr id="7" name="Rectangle 6">
            <a:extLst>
              <a:ext uri="{FF2B5EF4-FFF2-40B4-BE49-F238E27FC236}">
                <a16:creationId xmlns:a16="http://schemas.microsoft.com/office/drawing/2014/main" id="{F0386EE0-2544-4303-84F8-3A8FFB3B033A}"/>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37A8DAE7-6200-40EE-9218-D00394887B10}"/>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Nhân sự chủ chốt/thiết bị chủ yếu không đáp ứng: được bổ sung/thay…</a:t>
            </a:r>
          </a:p>
        </p:txBody>
      </p:sp>
      <p:sp>
        <p:nvSpPr>
          <p:cNvPr id="9" name="Rectangle 8">
            <a:extLst>
              <a:ext uri="{FF2B5EF4-FFF2-40B4-BE49-F238E27FC236}">
                <a16:creationId xmlns:a16="http://schemas.microsoft.com/office/drawing/2014/main" id="{5CE3ACE6-EE8A-4024-B2CD-525EE723F79E}"/>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AD797C51-1073-4562-BCCA-57971E1F7227}"/>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Không được thay đổi nhân sự sau xếp hạng thứ nhất, trừ lý do chính…</a:t>
            </a:r>
          </a:p>
        </p:txBody>
      </p:sp>
      <p:sp>
        <p:nvSpPr>
          <p:cNvPr id="11" name="Rectangle 10">
            <a:extLst>
              <a:ext uri="{FF2B5EF4-FFF2-40B4-BE49-F238E27FC236}">
                <a16:creationId xmlns:a16="http://schemas.microsoft.com/office/drawing/2014/main" id="{51A89C05-E3FA-49CA-80E5-591BDCE2492E}"/>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92C628F9-DF6A-4F4B-80D6-83D482D72EB5}"/>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3E34E66E-AC08-4B8A-8CF0-7CC8FE903F31}"/>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45</a:t>
            </a:r>
          </a:p>
        </p:txBody>
      </p:sp>
      <p:sp>
        <p:nvSpPr>
          <p:cNvPr id="14" name="Rectangle 13">
            <a:extLst>
              <a:ext uri="{FF2B5EF4-FFF2-40B4-BE49-F238E27FC236}">
                <a16:creationId xmlns:a16="http://schemas.microsoft.com/office/drawing/2014/main" id="{0F2F9D05-4AB2-4DB4-90BD-63BAC31554B1}"/>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ACDB2AA3-A342-4BE4-94FF-58684BC30575}"/>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6" name="Rectangle 15">
            <a:extLst>
              <a:ext uri="{FF2B5EF4-FFF2-40B4-BE49-F238E27FC236}">
                <a16:creationId xmlns:a16="http://schemas.microsoft.com/office/drawing/2014/main" id="{C868E0E0-06AD-4DC5-8DA8-CF07AE625552}"/>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27.4-27.6 A-CDNT HSMT 101.</a:t>
            </a:r>
          </a:p>
        </p:txBody>
      </p:sp>
    </p:spTree>
    <p:extLst>
      <p:ext uri="{BB962C8B-B14F-4D97-AF65-F5344CB8AC3E}">
        <p14:creationId xmlns:p14="http://schemas.microsoft.com/office/powerpoint/2010/main" val="1224111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9BFC63D-4D77-4DAD-8C47-B6B797E7EC17}"/>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BẢNG SO SÁNH HAI BỘ HSMT THỰC TẾ</a:t>
            </a:r>
          </a:p>
        </p:txBody>
      </p:sp>
      <p:graphicFrame>
        <p:nvGraphicFramePr>
          <p:cNvPr id="10" name="Table 9"/>
          <p:cNvGraphicFramePr/>
          <p:nvPr/>
        </p:nvGraphicFramePr>
        <p:xfrm>
          <a:off x="523875" y="1190625"/>
          <a:ext cx="11144250" cy="3428999"/>
        </p:xfrm>
        <a:graphic>
          <a:graphicData uri="http://schemas.openxmlformats.org/drawingml/2006/table">
            <a:tbl>
              <a:tblPr firstRow="1"/>
              <a:tblGrid>
                <a:gridCol w="2476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tblGrid>
              <a:tr h="489857">
                <a:tc>
                  <a:txBody>
                    <a:bodyPr/>
                    <a:lstStyle/>
                    <a:p>
                      <a:r>
                        <a:rPr sz="1200" b="1">
                          <a:solidFill>
                            <a:srgbClr val="FFFFFF"/>
                          </a:solidFill>
                          <a:latin typeface="Arial"/>
                          <a:ea typeface="Arial"/>
                          <a:cs typeface="Arial"/>
                        </a:rPr>
                        <a:t>Nội dung</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HSMT Cần Thơ theo Luật</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HSMT Viettel 101</a:t>
                      </a:r>
                    </a:p>
                  </a:txBody>
                  <a:tcPr marL="76200" marR="76200" marT="47625" marB="47625" anchor="ctr">
                    <a:solidFill>
                      <a:srgbClr val="E6002D"/>
                    </a:solidFill>
                  </a:tcPr>
                </a:tc>
                <a:extLst>
                  <a:ext uri="{0D108BD9-81ED-4DB2-BD59-A6C34878D82A}">
                    <a16:rowId xmlns:a16="http://schemas.microsoft.com/office/drawing/2014/main" val="10000"/>
                  </a:ext>
                </a:extLst>
              </a:tr>
              <a:tr h="489857">
                <a:tc>
                  <a:txBody>
                    <a:bodyPr/>
                    <a:lstStyle/>
                    <a:p>
                      <a:r>
                        <a:rPr sz="1125">
                          <a:solidFill>
                            <a:srgbClr val="1B1B1B"/>
                          </a:solidFill>
                          <a:latin typeface="Arial"/>
                          <a:ea typeface="Arial"/>
                          <a:cs typeface="Arial"/>
                        </a:rPr>
                        <a:t>Nền tảng</a:t>
                      </a:r>
                    </a:p>
                  </a:txBody>
                  <a:tcPr marL="76200" marR="76200" marT="38100" marB="38100" anchor="ctr">
                    <a:solidFill>
                      <a:srgbClr val="FFFFFF"/>
                    </a:solidFill>
                  </a:tcPr>
                </a:tc>
                <a:tc>
                  <a:txBody>
                    <a:bodyPr/>
                    <a:lstStyle/>
                    <a:p>
                      <a:r>
                        <a:rPr sz="1125">
                          <a:solidFill>
                            <a:srgbClr val="1B1B1B"/>
                          </a:solidFill>
                          <a:latin typeface="Arial"/>
                          <a:ea typeface="Arial"/>
                          <a:cs typeface="Arial"/>
                        </a:rPr>
                        <a:t>Hệ thống e-GP</a:t>
                      </a:r>
                    </a:p>
                  </a:txBody>
                  <a:tcPr marL="76200" marR="76200" marT="38100" marB="38100" anchor="ctr">
                    <a:solidFill>
                      <a:srgbClr val="FFFFFF"/>
                    </a:solidFill>
                  </a:tcPr>
                </a:tc>
                <a:tc>
                  <a:txBody>
                    <a:bodyPr/>
                    <a:lstStyle/>
                    <a:p>
                      <a:r>
                        <a:rPr sz="1125">
                          <a:solidFill>
                            <a:srgbClr val="1B1B1B"/>
                          </a:solidFill>
                          <a:latin typeface="Arial"/>
                          <a:ea typeface="Arial"/>
                          <a:cs typeface="Arial"/>
                        </a:rPr>
                        <a:t>Cổng đấu thầu Viettel</a:t>
                      </a:r>
                    </a:p>
                  </a:txBody>
                  <a:tcPr marL="76200" marR="76200" marT="38100" marB="38100" anchor="ctr">
                    <a:solidFill>
                      <a:srgbClr val="FFFFFF"/>
                    </a:solidFill>
                  </a:tcPr>
                </a:tc>
                <a:extLst>
                  <a:ext uri="{0D108BD9-81ED-4DB2-BD59-A6C34878D82A}">
                    <a16:rowId xmlns:a16="http://schemas.microsoft.com/office/drawing/2014/main" val="10001"/>
                  </a:ext>
                </a:extLst>
              </a:tr>
              <a:tr h="489857">
                <a:tc>
                  <a:txBody>
                    <a:bodyPr/>
                    <a:lstStyle/>
                    <a:p>
                      <a:r>
                        <a:rPr sz="1125">
                          <a:solidFill>
                            <a:srgbClr val="1B1B1B"/>
                          </a:solidFill>
                          <a:latin typeface="Arial"/>
                          <a:ea typeface="Arial"/>
                          <a:cs typeface="Arial"/>
                        </a:rPr>
                        <a:t>Nguồn vốn</a:t>
                      </a:r>
                    </a:p>
                  </a:txBody>
                  <a:tcPr marL="76200" marR="76200" marT="38100" marB="38100" anchor="ctr">
                    <a:solidFill>
                      <a:srgbClr val="F5F5F5"/>
                    </a:solidFill>
                  </a:tcPr>
                </a:tc>
                <a:tc>
                  <a:txBody>
                    <a:bodyPr/>
                    <a:lstStyle/>
                    <a:p>
                      <a:r>
                        <a:rPr sz="1125">
                          <a:solidFill>
                            <a:srgbClr val="1B1B1B"/>
                          </a:solidFill>
                          <a:latin typeface="Arial"/>
                          <a:ea typeface="Arial"/>
                          <a:cs typeface="Arial"/>
                        </a:rPr>
                        <a:t>Ngân sách nhà nước</a:t>
                      </a:r>
                    </a:p>
                  </a:txBody>
                  <a:tcPr marL="76200" marR="76200" marT="38100" marB="38100" anchor="ctr">
                    <a:solidFill>
                      <a:srgbClr val="F5F5F5"/>
                    </a:solidFill>
                  </a:tcPr>
                </a:tc>
                <a:tc>
                  <a:txBody>
                    <a:bodyPr/>
                    <a:lstStyle/>
                    <a:p>
                      <a:r>
                        <a:rPr sz="1125">
                          <a:solidFill>
                            <a:srgbClr val="1B1B1B"/>
                          </a:solidFill>
                          <a:latin typeface="Arial"/>
                          <a:ea typeface="Arial"/>
                          <a:cs typeface="Arial"/>
                        </a:rPr>
                        <a:t>Chi phí sản xuất kinh doanh</a:t>
                      </a:r>
                    </a:p>
                  </a:txBody>
                  <a:tcPr marL="76200" marR="76200" marT="38100" marB="38100" anchor="ctr">
                    <a:solidFill>
                      <a:srgbClr val="F5F5F5"/>
                    </a:solidFill>
                  </a:tcPr>
                </a:tc>
                <a:extLst>
                  <a:ext uri="{0D108BD9-81ED-4DB2-BD59-A6C34878D82A}">
                    <a16:rowId xmlns:a16="http://schemas.microsoft.com/office/drawing/2014/main" val="10002"/>
                  </a:ext>
                </a:extLst>
              </a:tr>
              <a:tr h="489857">
                <a:tc>
                  <a:txBody>
                    <a:bodyPr/>
                    <a:lstStyle/>
                    <a:p>
                      <a:r>
                        <a:rPr sz="1125">
                          <a:solidFill>
                            <a:srgbClr val="1B1B1B"/>
                          </a:solidFill>
                          <a:latin typeface="Arial"/>
                          <a:ea typeface="Arial"/>
                          <a:cs typeface="Arial"/>
                        </a:rPr>
                        <a:t>Phạm vi</a:t>
                      </a:r>
                    </a:p>
                  </a:txBody>
                  <a:tcPr marL="76200" marR="76200" marT="38100" marB="38100" anchor="ctr">
                    <a:solidFill>
                      <a:srgbClr val="FFFFFF"/>
                    </a:solidFill>
                  </a:tcPr>
                </a:tc>
                <a:tc>
                  <a:txBody>
                    <a:bodyPr/>
                    <a:lstStyle/>
                    <a:p>
                      <a:r>
                        <a:rPr sz="1125">
                          <a:solidFill>
                            <a:srgbClr val="1B1B1B"/>
                          </a:solidFill>
                          <a:latin typeface="Arial"/>
                          <a:ea typeface="Arial"/>
                          <a:cs typeface="Arial"/>
                        </a:rPr>
                        <a:t>Dịch vụ phi tư vấn</a:t>
                      </a:r>
                    </a:p>
                  </a:txBody>
                  <a:tcPr marL="76200" marR="76200" marT="38100" marB="38100" anchor="ctr">
                    <a:solidFill>
                      <a:srgbClr val="FFFFFF"/>
                    </a:solidFill>
                  </a:tcPr>
                </a:tc>
                <a:tc>
                  <a:txBody>
                    <a:bodyPr/>
                    <a:lstStyle/>
                    <a:p>
                      <a:r>
                        <a:rPr sz="1125">
                          <a:solidFill>
                            <a:srgbClr val="1B1B1B"/>
                          </a:solidFill>
                          <a:latin typeface="Arial"/>
                          <a:ea typeface="Arial"/>
                          <a:cs typeface="Arial"/>
                        </a:rPr>
                        <a:t>Dịch vụ phi tư vấn</a:t>
                      </a:r>
                    </a:p>
                  </a:txBody>
                  <a:tcPr marL="76200" marR="76200" marT="38100" marB="38100" anchor="ctr">
                    <a:solidFill>
                      <a:srgbClr val="FFFFFF"/>
                    </a:solidFill>
                  </a:tcPr>
                </a:tc>
                <a:extLst>
                  <a:ext uri="{0D108BD9-81ED-4DB2-BD59-A6C34878D82A}">
                    <a16:rowId xmlns:a16="http://schemas.microsoft.com/office/drawing/2014/main" val="10003"/>
                  </a:ext>
                </a:extLst>
              </a:tr>
              <a:tr h="489857">
                <a:tc>
                  <a:txBody>
                    <a:bodyPr/>
                    <a:lstStyle/>
                    <a:p>
                      <a:r>
                        <a:rPr sz="1125">
                          <a:solidFill>
                            <a:srgbClr val="1B1B1B"/>
                          </a:solidFill>
                          <a:latin typeface="Arial"/>
                          <a:ea typeface="Arial"/>
                          <a:cs typeface="Arial"/>
                        </a:rPr>
                        <a:t>Đánh giá</a:t>
                      </a:r>
                    </a:p>
                  </a:txBody>
                  <a:tcPr marL="76200" marR="76200" marT="38100" marB="38100" anchor="ctr">
                    <a:solidFill>
                      <a:srgbClr val="F5F5F5"/>
                    </a:solidFill>
                  </a:tcPr>
                </a:tc>
                <a:tc>
                  <a:txBody>
                    <a:bodyPr/>
                    <a:lstStyle/>
                    <a:p>
                      <a:r>
                        <a:rPr sz="1125">
                          <a:solidFill>
                            <a:srgbClr val="1B1B1B"/>
                          </a:solidFill>
                          <a:latin typeface="Arial"/>
                          <a:ea typeface="Arial"/>
                          <a:cs typeface="Arial"/>
                        </a:rPr>
                        <a:t>Đạt/không đạt, giá thấp nhất</a:t>
                      </a:r>
                    </a:p>
                  </a:txBody>
                  <a:tcPr marL="76200" marR="76200" marT="38100" marB="38100" anchor="ctr">
                    <a:solidFill>
                      <a:srgbClr val="F5F5F5"/>
                    </a:solidFill>
                  </a:tcPr>
                </a:tc>
                <a:tc>
                  <a:txBody>
                    <a:bodyPr/>
                    <a:lstStyle/>
                    <a:p>
                      <a:r>
                        <a:rPr sz="1125">
                          <a:solidFill>
                            <a:srgbClr val="1B1B1B"/>
                          </a:solidFill>
                          <a:latin typeface="Arial"/>
                          <a:ea typeface="Arial"/>
                          <a:cs typeface="Arial"/>
                        </a:rPr>
                        <a:t>M/O, giá thấp nhất</a:t>
                      </a:r>
                    </a:p>
                  </a:txBody>
                  <a:tcPr marL="76200" marR="76200" marT="38100" marB="38100" anchor="ctr">
                    <a:solidFill>
                      <a:srgbClr val="F5F5F5"/>
                    </a:solidFill>
                  </a:tcPr>
                </a:tc>
                <a:extLst>
                  <a:ext uri="{0D108BD9-81ED-4DB2-BD59-A6C34878D82A}">
                    <a16:rowId xmlns:a16="http://schemas.microsoft.com/office/drawing/2014/main" val="10004"/>
                  </a:ext>
                </a:extLst>
              </a:tr>
              <a:tr h="489857">
                <a:tc>
                  <a:txBody>
                    <a:bodyPr/>
                    <a:lstStyle/>
                    <a:p>
                      <a:r>
                        <a:rPr sz="1125">
                          <a:solidFill>
                            <a:srgbClr val="1B1B1B"/>
                          </a:solidFill>
                          <a:latin typeface="Arial"/>
                          <a:ea typeface="Arial"/>
                          <a:cs typeface="Arial"/>
                        </a:rPr>
                        <a:t>Thời hạn hồ sơ</a:t>
                      </a:r>
                    </a:p>
                  </a:txBody>
                  <a:tcPr marL="76200" marR="76200" marT="38100" marB="38100" anchor="ctr">
                    <a:solidFill>
                      <a:srgbClr val="FFFFFF"/>
                    </a:solidFill>
                  </a:tcPr>
                </a:tc>
                <a:tc>
                  <a:txBody>
                    <a:bodyPr/>
                    <a:lstStyle/>
                    <a:p>
                      <a:r>
                        <a:rPr sz="1125">
                          <a:solidFill>
                            <a:srgbClr val="1B1B1B"/>
                          </a:solidFill>
                          <a:latin typeface="Arial"/>
                          <a:ea typeface="Arial"/>
                          <a:cs typeface="Arial"/>
                        </a:rPr>
                        <a:t>90 ngày</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A-BDL</a:t>
                      </a:r>
                    </a:p>
                  </a:txBody>
                  <a:tcPr marL="76200" marR="76200" marT="38100" marB="38100" anchor="ctr">
                    <a:solidFill>
                      <a:srgbClr val="FFFFFF"/>
                    </a:solidFill>
                  </a:tcPr>
                </a:tc>
                <a:extLst>
                  <a:ext uri="{0D108BD9-81ED-4DB2-BD59-A6C34878D82A}">
                    <a16:rowId xmlns:a16="http://schemas.microsoft.com/office/drawing/2014/main" val="10005"/>
                  </a:ext>
                </a:extLst>
              </a:tr>
              <a:tr h="489857">
                <a:tc>
                  <a:txBody>
                    <a:bodyPr/>
                    <a:lstStyle/>
                    <a:p>
                      <a:r>
                        <a:rPr sz="1125">
                          <a:solidFill>
                            <a:srgbClr val="1B1B1B"/>
                          </a:solidFill>
                          <a:latin typeface="Arial"/>
                          <a:ea typeface="Arial"/>
                          <a:cs typeface="Arial"/>
                        </a:rPr>
                        <a:t>Mở thầu</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02 giờ trong E-HSMT</a:t>
                      </a:r>
                    </a:p>
                  </a:txBody>
                  <a:tcPr marL="76200" marR="76200" marT="38100" marB="38100" anchor="ctr">
                    <a:solidFill>
                      <a:srgbClr val="F5F5F5"/>
                    </a:solidFill>
                  </a:tcPr>
                </a:tc>
                <a:tc>
                  <a:txBody>
                    <a:bodyPr/>
                    <a:lstStyle/>
                    <a:p>
                      <a:r>
                        <a:rPr sz="1125">
                          <a:solidFill>
                            <a:srgbClr val="1B1B1B"/>
                          </a:solidFill>
                          <a:latin typeface="Arial"/>
                          <a:ea typeface="Arial"/>
                          <a:cs typeface="Arial"/>
                        </a:rPr>
                        <a:t>Trong vòng 02 giờ theo Quy chế/HSMT</a:t>
                      </a:r>
                    </a:p>
                  </a:txBody>
                  <a:tcPr marL="76200" marR="76200" marT="38100" marB="38100" anchor="ctr">
                    <a:solidFill>
                      <a:srgbClr val="F5F5F5"/>
                    </a:solidFill>
                  </a:tcPr>
                </a:tc>
                <a:extLst>
                  <a:ext uri="{0D108BD9-81ED-4DB2-BD59-A6C34878D82A}">
                    <a16:rowId xmlns:a16="http://schemas.microsoft.com/office/drawing/2014/main" val="10006"/>
                  </a:ext>
                </a:extLst>
              </a:tr>
            </a:tbl>
          </a:graphicData>
        </a:graphic>
      </p:graphicFrame>
      <p:sp>
        <p:nvSpPr>
          <p:cNvPr id="3" name="Rectangle 2">
            <a:extLst>
              <a:ext uri="{FF2B5EF4-FFF2-40B4-BE49-F238E27FC236}">
                <a16:creationId xmlns:a16="http://schemas.microsoft.com/office/drawing/2014/main" id="{EC32AA89-2784-4C65-9A32-D3E7A94217A5}"/>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4" name="Rectangle: Rounded Corners 3">
            <a:extLst>
              <a:ext uri="{FF2B5EF4-FFF2-40B4-BE49-F238E27FC236}">
                <a16:creationId xmlns:a16="http://schemas.microsoft.com/office/drawing/2014/main" id="{FA3AC5CC-7941-4FF7-AB9F-FA4C2EC7CF09}"/>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A82C597B-027D-4A9B-9EB2-DCE7938281EB}"/>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46</a:t>
            </a:r>
          </a:p>
        </p:txBody>
      </p:sp>
      <p:sp>
        <p:nvSpPr>
          <p:cNvPr id="6" name="Rectangle 5">
            <a:extLst>
              <a:ext uri="{FF2B5EF4-FFF2-40B4-BE49-F238E27FC236}">
                <a16:creationId xmlns:a16="http://schemas.microsoft.com/office/drawing/2014/main" id="{6CC6699C-BC95-446D-B5A6-FEF4C19893B4}"/>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Rectangle 6">
            <a:extLst>
              <a:ext uri="{FF2B5EF4-FFF2-40B4-BE49-F238E27FC236}">
                <a16:creationId xmlns:a16="http://schemas.microsoft.com/office/drawing/2014/main" id="{C6B2E5F0-CB9C-41A4-AD23-249F767271F7}"/>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8" name="Rectangle 7">
            <a:extLst>
              <a:ext uri="{FF2B5EF4-FFF2-40B4-BE49-F238E27FC236}">
                <a16:creationId xmlns:a16="http://schemas.microsoft.com/office/drawing/2014/main" id="{01316F87-A842-4409-8479-79F84DA360E0}"/>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E-CDNT HSMT Cần Thơ; HSMT 101; Điều 31 Quy chế.</a:t>
            </a:r>
          </a:p>
        </p:txBody>
      </p:sp>
    </p:spTree>
    <p:extLst>
      <p:ext uri="{BB962C8B-B14F-4D97-AF65-F5344CB8AC3E}">
        <p14:creationId xmlns:p14="http://schemas.microsoft.com/office/powerpoint/2010/main" val="150473306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B5CC14F-BD45-4873-9443-7DF94106AB53}"/>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NHÃN HIỆU VÀ XUẤT XỨ: LUẬT SO VỚI VIETTEL</a:t>
            </a:r>
          </a:p>
        </p:txBody>
      </p:sp>
      <p:sp>
        <p:nvSpPr>
          <p:cNvPr id="2" name="Rectangle 1">
            <a:extLst>
              <a:ext uri="{FF2B5EF4-FFF2-40B4-BE49-F238E27FC236}">
                <a16:creationId xmlns:a16="http://schemas.microsoft.com/office/drawing/2014/main" id="{4F9C06B3-0141-4D7E-9061-BB61C95ABF6E}"/>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Nhận diện giới hạn sử dụng đặc tả thương mại.</a:t>
            </a:r>
          </a:p>
        </p:txBody>
      </p:sp>
      <p:sp>
        <p:nvSpPr>
          <p:cNvPr id="3" name="Rectangle 2">
            <a:extLst>
              <a:ext uri="{FF2B5EF4-FFF2-40B4-BE49-F238E27FC236}">
                <a16:creationId xmlns:a16="http://schemas.microsoft.com/office/drawing/2014/main" id="{8D2D13C2-9624-48F8-9ACE-6693C2ED0E42}"/>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cấm nêu cụ thể nhãn hiệu/xuất xứ trong các hình thức cạnh tranh, trừ ngoại lệ được Luật quy định.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chế Viettel: Điều 14 cho phép HSMCG nêu xuất xứ, ký mã hiệu, nhãn hiệu, hãng sản xuất trong phạm vi điều kiện của Quy chế.</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Cảnh báo: cho phép nội bộ không tự động áp dụng cho gói Luật.</a:t>
            </a:r>
          </a:p>
        </p:txBody>
      </p:sp>
      <p:sp>
        <p:nvSpPr>
          <p:cNvPr id="4" name="Rectangle 3">
            <a:extLst>
              <a:ext uri="{FF2B5EF4-FFF2-40B4-BE49-F238E27FC236}">
                <a16:creationId xmlns:a16="http://schemas.microsoft.com/office/drawing/2014/main" id="{4D89DA00-F592-4756-A930-076BB449565D}"/>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F4942DF1-354B-4BE5-9D24-87D6FF42C3C6}"/>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8C90C65B-9157-43E0-BB32-9E4A61003549}"/>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Luật: cấm nêu cụ thể nhãn hiệu/xuất xứ trong các hình thức cạnh tr…</a:t>
            </a:r>
          </a:p>
        </p:txBody>
      </p:sp>
      <p:sp>
        <p:nvSpPr>
          <p:cNvPr id="7" name="Rectangle 6">
            <a:extLst>
              <a:ext uri="{FF2B5EF4-FFF2-40B4-BE49-F238E27FC236}">
                <a16:creationId xmlns:a16="http://schemas.microsoft.com/office/drawing/2014/main" id="{1A311AA7-3F4D-4B65-AF88-547A5013BE2C}"/>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5D83F4E6-DA17-4644-8A48-3D5526DDACA5}"/>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Quy chế Viettel: Điều 14 cho phép HSMCG nêu xuất xứ, ký mã hiệu, n…</a:t>
            </a:r>
          </a:p>
        </p:txBody>
      </p:sp>
      <p:sp>
        <p:nvSpPr>
          <p:cNvPr id="9" name="Rectangle 8">
            <a:extLst>
              <a:ext uri="{FF2B5EF4-FFF2-40B4-BE49-F238E27FC236}">
                <a16:creationId xmlns:a16="http://schemas.microsoft.com/office/drawing/2014/main" id="{71271324-3180-43EA-ACF4-EB0E8539979E}"/>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97D852D5-92F5-4E2F-9978-4E2C70F1EAC1}"/>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Cảnh báo: cho phép nội bộ không tự động áp dụng cho gói Luật.</a:t>
            </a:r>
          </a:p>
        </p:txBody>
      </p:sp>
      <p:sp>
        <p:nvSpPr>
          <p:cNvPr id="11" name="Rectangle 10">
            <a:extLst>
              <a:ext uri="{FF2B5EF4-FFF2-40B4-BE49-F238E27FC236}">
                <a16:creationId xmlns:a16="http://schemas.microsoft.com/office/drawing/2014/main" id="{58E09BE1-FA4E-4B4E-A7CF-C9992FB59A11}"/>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7634F093-C6DD-45CF-B4E9-F3D570033E26}"/>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552B6150-904A-46B9-99AB-10A1539A403B}"/>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47</a:t>
            </a:r>
          </a:p>
        </p:txBody>
      </p:sp>
      <p:sp>
        <p:nvSpPr>
          <p:cNvPr id="14" name="Rectangle 13">
            <a:extLst>
              <a:ext uri="{FF2B5EF4-FFF2-40B4-BE49-F238E27FC236}">
                <a16:creationId xmlns:a16="http://schemas.microsoft.com/office/drawing/2014/main" id="{9F043BB6-A440-4623-B4AE-8E768A105E40}"/>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A6784A56-B735-433A-AFD3-0BC10C1E65E8}"/>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 HSMT VIETTEL</a:t>
            </a:r>
          </a:p>
        </p:txBody>
      </p:sp>
      <p:sp>
        <p:nvSpPr>
          <p:cNvPr id="16" name="Rectangle 15">
            <a:extLst>
              <a:ext uri="{FF2B5EF4-FFF2-40B4-BE49-F238E27FC236}">
                <a16:creationId xmlns:a16="http://schemas.microsoft.com/office/drawing/2014/main" id="{6011AC71-5799-435C-BC3F-A73612DBA14A}"/>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14 Quy chế 2486; Mục 15.2 E-CDNT HSMT Cần Thơ.</a:t>
            </a:r>
          </a:p>
        </p:txBody>
      </p:sp>
    </p:spTree>
    <p:extLst>
      <p:ext uri="{BB962C8B-B14F-4D97-AF65-F5344CB8AC3E}">
        <p14:creationId xmlns:p14="http://schemas.microsoft.com/office/powerpoint/2010/main" val="3122638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7A57BBE1-6E5E-478E-B44F-8F7BF3E8D9F8}"/>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60 PHÚT ĐẦU TIÊN SAU KHI TẢI HSMT</a:t>
            </a:r>
          </a:p>
        </p:txBody>
      </p:sp>
      <p:sp>
        <p:nvSpPr>
          <p:cNvPr id="2" name="Rectangle 1">
            <a:extLst>
              <a:ext uri="{FF2B5EF4-FFF2-40B4-BE49-F238E27FC236}">
                <a16:creationId xmlns:a16="http://schemas.microsoft.com/office/drawing/2014/main" id="{DF67C9EA-AFC8-4BA9-832B-648CF73F7B81}"/>
              </a:ext>
            </a:extLst>
          </p:cNvPr>
          <p:cNvSpPr>
            <a:spLocks noGrp="1"/>
          </p:cNvSpPr>
          <p:nvPr/>
        </p:nvSpPr>
        <p:spPr>
          <a:xfrm>
            <a:off x="66675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Rectangle 2">
            <a:extLst>
              <a:ext uri="{FF2B5EF4-FFF2-40B4-BE49-F238E27FC236}">
                <a16:creationId xmlns:a16="http://schemas.microsoft.com/office/drawing/2014/main" id="{6BAC910C-5755-49EE-8AD2-5ECFD8FD39EE}"/>
              </a:ext>
            </a:extLst>
          </p:cNvPr>
          <p:cNvSpPr>
            <a:spLocks noGrp="1"/>
          </p:cNvSpPr>
          <p:nvPr/>
        </p:nvSpPr>
        <p:spPr>
          <a:xfrm>
            <a:off x="114300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BDL/E-BDL/A-BDL.</a:t>
            </a:r>
          </a:p>
        </p:txBody>
      </p:sp>
      <p:sp>
        <p:nvSpPr>
          <p:cNvPr id="4" name="Rectangle 3">
            <a:extLst>
              <a:ext uri="{FF2B5EF4-FFF2-40B4-BE49-F238E27FC236}">
                <a16:creationId xmlns:a16="http://schemas.microsoft.com/office/drawing/2014/main" id="{EEE33D7B-6118-4BBF-8C05-4A13C95ED1B9}"/>
              </a:ext>
            </a:extLst>
          </p:cNvPr>
          <p:cNvSpPr>
            <a:spLocks noGrp="1"/>
          </p:cNvSpPr>
          <p:nvPr/>
        </p:nvSpPr>
        <p:spPr>
          <a:xfrm>
            <a:off x="66675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Rectangle 4">
            <a:extLst>
              <a:ext uri="{FF2B5EF4-FFF2-40B4-BE49-F238E27FC236}">
                <a16:creationId xmlns:a16="http://schemas.microsoft.com/office/drawing/2014/main" id="{E17840D4-C150-4E49-A351-F68BB22C9C9A}"/>
              </a:ext>
            </a:extLst>
          </p:cNvPr>
          <p:cNvSpPr>
            <a:spLocks noGrp="1"/>
          </p:cNvSpPr>
          <p:nvPr/>
        </p:nvSpPr>
        <p:spPr>
          <a:xfrm>
            <a:off x="114300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Tiêu chuẩn đánh giá.</a:t>
            </a:r>
          </a:p>
        </p:txBody>
      </p:sp>
      <p:sp>
        <p:nvSpPr>
          <p:cNvPr id="6" name="Rectangle 5">
            <a:extLst>
              <a:ext uri="{FF2B5EF4-FFF2-40B4-BE49-F238E27FC236}">
                <a16:creationId xmlns:a16="http://schemas.microsoft.com/office/drawing/2014/main" id="{2F642139-2B41-4E39-95B7-4BAEB136591C}"/>
              </a:ext>
            </a:extLst>
          </p:cNvPr>
          <p:cNvSpPr>
            <a:spLocks noGrp="1"/>
          </p:cNvSpPr>
          <p:nvPr/>
        </p:nvSpPr>
        <p:spPr>
          <a:xfrm>
            <a:off x="666750" y="25908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Rectangle 6">
            <a:extLst>
              <a:ext uri="{FF2B5EF4-FFF2-40B4-BE49-F238E27FC236}">
                <a16:creationId xmlns:a16="http://schemas.microsoft.com/office/drawing/2014/main" id="{3599DADF-9CF2-487E-AF64-84CEEB0B0D85}"/>
              </a:ext>
            </a:extLst>
          </p:cNvPr>
          <p:cNvSpPr>
            <a:spLocks noGrp="1"/>
          </p:cNvSpPr>
          <p:nvPr/>
        </p:nvSpPr>
        <p:spPr>
          <a:xfrm>
            <a:off x="1143000" y="25527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Yêu cầu kỹ thuật/phạm vi cung cấp.</a:t>
            </a:r>
          </a:p>
        </p:txBody>
      </p:sp>
      <p:sp>
        <p:nvSpPr>
          <p:cNvPr id="8" name="Rectangle 7">
            <a:extLst>
              <a:ext uri="{FF2B5EF4-FFF2-40B4-BE49-F238E27FC236}">
                <a16:creationId xmlns:a16="http://schemas.microsoft.com/office/drawing/2014/main" id="{81855D97-A26C-4DD5-8EF4-012908DFB5CD}"/>
              </a:ext>
            </a:extLst>
          </p:cNvPr>
          <p:cNvSpPr>
            <a:spLocks noGrp="1"/>
          </p:cNvSpPr>
          <p:nvPr/>
        </p:nvSpPr>
        <p:spPr>
          <a:xfrm>
            <a:off x="628650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Rectangle 8">
            <a:extLst>
              <a:ext uri="{FF2B5EF4-FFF2-40B4-BE49-F238E27FC236}">
                <a16:creationId xmlns:a16="http://schemas.microsoft.com/office/drawing/2014/main" id="{77A11791-C4FD-41D9-8588-5DEE686B9F6F}"/>
              </a:ext>
            </a:extLst>
          </p:cNvPr>
          <p:cNvSpPr>
            <a:spLocks noGrp="1"/>
          </p:cNvSpPr>
          <p:nvPr/>
        </p:nvSpPr>
        <p:spPr>
          <a:xfrm>
            <a:off x="676275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Biểu mẫu và bảo đảm dự thầu.</a:t>
            </a:r>
          </a:p>
        </p:txBody>
      </p:sp>
      <p:sp>
        <p:nvSpPr>
          <p:cNvPr id="10" name="Rectangle 9">
            <a:extLst>
              <a:ext uri="{FF2B5EF4-FFF2-40B4-BE49-F238E27FC236}">
                <a16:creationId xmlns:a16="http://schemas.microsoft.com/office/drawing/2014/main" id="{C605FBBE-86DC-42A5-BF16-CF96ABDF31CF}"/>
              </a:ext>
            </a:extLst>
          </p:cNvPr>
          <p:cNvSpPr>
            <a:spLocks noGrp="1"/>
          </p:cNvSpPr>
          <p:nvPr/>
        </p:nvSpPr>
        <p:spPr>
          <a:xfrm>
            <a:off x="628650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Rectangle 10">
            <a:extLst>
              <a:ext uri="{FF2B5EF4-FFF2-40B4-BE49-F238E27FC236}">
                <a16:creationId xmlns:a16="http://schemas.microsoft.com/office/drawing/2014/main" id="{6BD21C88-BBCA-4836-9AD3-3EAF0B5F3DC1}"/>
              </a:ext>
            </a:extLst>
          </p:cNvPr>
          <p:cNvSpPr>
            <a:spLocks noGrp="1"/>
          </p:cNvSpPr>
          <p:nvPr/>
        </p:nvSpPr>
        <p:spPr>
          <a:xfrm>
            <a:off x="676275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Chỉ dẫn và điều kiện hợp đồng.</a:t>
            </a:r>
          </a:p>
        </p:txBody>
      </p:sp>
      <p:sp>
        <p:nvSpPr>
          <p:cNvPr id="12" name="Rectangle 11">
            <a:extLst>
              <a:ext uri="{FF2B5EF4-FFF2-40B4-BE49-F238E27FC236}">
                <a16:creationId xmlns:a16="http://schemas.microsoft.com/office/drawing/2014/main" id="{578DE657-B1B3-416E-B1C4-92847C7F2BD7}"/>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3" name="Rectangle: Rounded Corners 12">
            <a:extLst>
              <a:ext uri="{FF2B5EF4-FFF2-40B4-BE49-F238E27FC236}">
                <a16:creationId xmlns:a16="http://schemas.microsoft.com/office/drawing/2014/main" id="{07539ECB-39DC-480C-89F9-1E5B66288E2A}"/>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4" name="Rectangle 13">
            <a:extLst>
              <a:ext uri="{FF2B5EF4-FFF2-40B4-BE49-F238E27FC236}">
                <a16:creationId xmlns:a16="http://schemas.microsoft.com/office/drawing/2014/main" id="{3D425D0A-5EA3-421A-841B-2194EA694CE9}"/>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48</a:t>
            </a:r>
          </a:p>
        </p:txBody>
      </p:sp>
      <p:sp>
        <p:nvSpPr>
          <p:cNvPr id="15" name="Rectangle 14">
            <a:extLst>
              <a:ext uri="{FF2B5EF4-FFF2-40B4-BE49-F238E27FC236}">
                <a16:creationId xmlns:a16="http://schemas.microsoft.com/office/drawing/2014/main" id="{11332B73-1D54-45B5-A4C5-B50FD35E4C28}"/>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Rectangle 15">
            <a:extLst>
              <a:ext uri="{FF2B5EF4-FFF2-40B4-BE49-F238E27FC236}">
                <a16:creationId xmlns:a16="http://schemas.microsoft.com/office/drawing/2014/main" id="{4B5DB91F-8D43-4939-816C-B4B14D29E8F0}"/>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7" name="Rectangle 16">
            <a:extLst>
              <a:ext uri="{FF2B5EF4-FFF2-40B4-BE49-F238E27FC236}">
                <a16:creationId xmlns:a16="http://schemas.microsoft.com/office/drawing/2014/main" id="{73C0947A-D9AE-4775-A776-E1D64BC3D7C6}"/>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Cấu trúc E-HSMT Mục 6; Chương I-III HSMT 101.</a:t>
            </a:r>
          </a:p>
        </p:txBody>
      </p:sp>
    </p:spTree>
    <p:extLst>
      <p:ext uri="{BB962C8B-B14F-4D97-AF65-F5344CB8AC3E}">
        <p14:creationId xmlns:p14="http://schemas.microsoft.com/office/powerpoint/2010/main" val="148001411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6" name="Straight Arrow Connector 15"/>
          <p:cNvCxnSpPr>
            <a:stCxn id="5" idx="3"/>
            <a:endCxn id="6" idx="1"/>
          </p:cNvCxnSpPr>
          <p:nvPr/>
        </p:nvCxnSpPr>
        <p:spPr>
          <a:xfrm>
            <a:off x="8758238" y="3119438"/>
            <a:ext cx="209550" cy="0"/>
          </a:xfrm>
          <a:prstGeom prst="straightConnector1">
            <a:avLst/>
          </a:prstGeom>
          <a:ln w="19050">
            <a:solidFill>
              <a:srgbClr val="E6002D"/>
            </a:solidFill>
            <a:prstDash val="solid"/>
            <a:headEnd type="triangle" w="sm" len="sm"/>
          </a:ln>
        </p:spPr>
      </p:cxnSp>
      <p:cxnSp>
        <p:nvCxnSpPr>
          <p:cNvPr id="17" name="Straight Arrow Connector 16"/>
          <p:cNvCxnSpPr>
            <a:stCxn id="4" idx="3"/>
            <a:endCxn id="5" idx="1"/>
          </p:cNvCxnSpPr>
          <p:nvPr/>
        </p:nvCxnSpPr>
        <p:spPr>
          <a:xfrm>
            <a:off x="5991226" y="3119438"/>
            <a:ext cx="209549" cy="0"/>
          </a:xfrm>
          <a:prstGeom prst="straightConnector1">
            <a:avLst/>
          </a:prstGeom>
          <a:ln w="19050">
            <a:solidFill>
              <a:srgbClr val="E6002D"/>
            </a:solidFill>
            <a:prstDash val="solid"/>
            <a:headEnd type="triangle" w="sm" len="sm"/>
          </a:ln>
        </p:spPr>
      </p:cxnSp>
      <p:cxnSp>
        <p:nvCxnSpPr>
          <p:cNvPr id="18" name="Straight Arrow Connector 17"/>
          <p:cNvCxnSpPr>
            <a:stCxn id="3" idx="3"/>
            <a:endCxn id="4" idx="1"/>
          </p:cNvCxnSpPr>
          <p:nvPr/>
        </p:nvCxnSpPr>
        <p:spPr>
          <a:xfrm>
            <a:off x="3224213" y="3119438"/>
            <a:ext cx="209550" cy="0"/>
          </a:xfrm>
          <a:prstGeom prst="straightConnector1">
            <a:avLst/>
          </a:prstGeom>
          <a:ln w="19050">
            <a:solidFill>
              <a:srgbClr val="E6002D"/>
            </a:solidFill>
            <a:prstDash val="solid"/>
            <a:headEnd type="triangle" w="sm" len="sm"/>
          </a:ln>
        </p:spPr>
      </p:cxnSp>
      <p:sp>
        <p:nvSpPr>
          <p:cNvPr id="19" name="Rectangle 18">
            <a:extLst>
              <a:ext uri="{FF2B5EF4-FFF2-40B4-BE49-F238E27FC236}">
                <a16:creationId xmlns:a16="http://schemas.microsoft.com/office/drawing/2014/main" id="{3AD32063-AE77-4B6D-BC67-09B56E7CCB50}"/>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LÀM RÕ HSMT: QUY TRÌNH VÀ GIỚI HẠN</a:t>
            </a:r>
          </a:p>
        </p:txBody>
      </p:sp>
      <p:sp>
        <p:nvSpPr>
          <p:cNvPr id="2" name="Rectangle 1">
            <a:extLst>
              <a:ext uri="{FF2B5EF4-FFF2-40B4-BE49-F238E27FC236}">
                <a16:creationId xmlns:a16="http://schemas.microsoft.com/office/drawing/2014/main" id="{66457EBC-5D9E-4290-800B-8D01E9644D1B}"/>
              </a:ext>
            </a:extLst>
          </p:cNvPr>
          <p:cNvSpPr>
            <a:spLocks noGrp="1"/>
          </p:cNvSpPr>
          <p:nvPr/>
        </p:nvSpPr>
        <p:spPr>
          <a:xfrm>
            <a:off x="666750" y="1000125"/>
            <a:ext cx="10763250" cy="523875"/>
          </a:xfrm>
          <a:prstGeom prst="rect">
            <a:avLst/>
          </a:prstGeom>
          <a:noFill/>
          <a:ln w="0">
            <a:noFill/>
          </a:ln>
        </p:spPr>
        <p:txBody>
          <a:bodyPr anchor="ctr">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Phân biệt làm rõ với sửa đổi.</a:t>
            </a:r>
          </a:p>
        </p:txBody>
      </p:sp>
      <p:sp>
        <p:nvSpPr>
          <p:cNvPr id="3" name="Rectangle: Rounded Corners 2">
            <a:extLst>
              <a:ext uri="{FF2B5EF4-FFF2-40B4-BE49-F238E27FC236}">
                <a16:creationId xmlns:a16="http://schemas.microsoft.com/office/drawing/2014/main" id="{D52D87A6-2BE4-458C-BB6E-680FC0F5FA6D}"/>
              </a:ext>
            </a:extLst>
          </p:cNvPr>
          <p:cNvSpPr>
            <a:spLocks noGrp="1"/>
          </p:cNvSpPr>
          <p:nvPr/>
        </p:nvSpPr>
        <p:spPr>
          <a:xfrm>
            <a:off x="666750" y="2476500"/>
            <a:ext cx="2557463"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350" b="1">
                <a:solidFill>
                  <a:srgbClr val="1B1B1B"/>
                </a:solidFill>
                <a:latin typeface="Arial"/>
                <a:ea typeface="Arial"/>
                <a:cs typeface="Arial"/>
              </a:defRPr>
            </a:pPr>
            <a:r>
              <a:rPr sz="1350" b="1">
                <a:solidFill>
                  <a:srgbClr val="1B1B1B"/>
                </a:solidFill>
                <a:latin typeface="Arial"/>
                <a:ea typeface="Arial"/>
                <a:cs typeface="Arial"/>
              </a:rPr>
              <a:t>Yêu cầu làm rõ gửi trên Hệ thống/Cổng đúng hạn.</a:t>
            </a:r>
          </a:p>
        </p:txBody>
      </p:sp>
      <p:sp>
        <p:nvSpPr>
          <p:cNvPr id="4" name="Rectangle: Rounded Corners 3">
            <a:extLst>
              <a:ext uri="{FF2B5EF4-FFF2-40B4-BE49-F238E27FC236}">
                <a16:creationId xmlns:a16="http://schemas.microsoft.com/office/drawing/2014/main" id="{94AEC0DA-4AED-4284-8075-FC139AB4B963}"/>
              </a:ext>
            </a:extLst>
          </p:cNvPr>
          <p:cNvSpPr>
            <a:spLocks noGrp="1"/>
          </p:cNvSpPr>
          <p:nvPr/>
        </p:nvSpPr>
        <p:spPr>
          <a:xfrm>
            <a:off x="3433763" y="2476500"/>
            <a:ext cx="2557463"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350" b="1">
                <a:solidFill>
                  <a:srgbClr val="1B1B1B"/>
                </a:solidFill>
                <a:latin typeface="Arial"/>
                <a:ea typeface="Arial"/>
                <a:cs typeface="Arial"/>
              </a:defRPr>
            </a:pPr>
            <a:r>
              <a:rPr sz="1350" b="1">
                <a:solidFill>
                  <a:srgbClr val="1B1B1B"/>
                </a:solidFill>
                <a:latin typeface="Arial"/>
                <a:ea typeface="Arial"/>
                <a:cs typeface="Arial"/>
              </a:rPr>
              <a:t>Chủ đầu tư trả lời công khai, không nêu tên nhà thầu đề nghị.</a:t>
            </a:r>
          </a:p>
        </p:txBody>
      </p:sp>
      <p:sp>
        <p:nvSpPr>
          <p:cNvPr id="5" name="Rectangle: Rounded Corners 4">
            <a:extLst>
              <a:ext uri="{FF2B5EF4-FFF2-40B4-BE49-F238E27FC236}">
                <a16:creationId xmlns:a16="http://schemas.microsoft.com/office/drawing/2014/main" id="{8A8360D8-2C0A-4EEF-BCEB-09DF76A858D0}"/>
              </a:ext>
            </a:extLst>
          </p:cNvPr>
          <p:cNvSpPr>
            <a:spLocks noGrp="1"/>
          </p:cNvSpPr>
          <p:nvPr/>
        </p:nvSpPr>
        <p:spPr>
          <a:xfrm>
            <a:off x="6200775" y="2476500"/>
            <a:ext cx="2557463" cy="1285875"/>
          </a:xfrm>
          <a:prstGeom prst="roundRect">
            <a:avLst>
              <a:gd name="adj" fmla="val 13333"/>
            </a:avLst>
          </a:prstGeom>
          <a:solidFill>
            <a:srgbClr val="FFF0F3"/>
          </a:solidFill>
          <a:ln w="14288">
            <a:solidFill>
              <a:srgbClr val="E6002D"/>
            </a:solidFill>
            <a:prstDash val="solid"/>
          </a:ln>
        </p:spPr>
        <p:txBody>
          <a:bodyPr anchor="ctr">
            <a:noAutofit/>
          </a:bodyPr>
          <a:lstStyle/>
          <a:p>
            <a:pPr>
              <a:defRPr sz="1350" b="1">
                <a:solidFill>
                  <a:srgbClr val="1B1B1B"/>
                </a:solidFill>
                <a:latin typeface="Arial"/>
                <a:ea typeface="Arial"/>
                <a:cs typeface="Arial"/>
              </a:defRPr>
            </a:pPr>
            <a:r>
              <a:rPr sz="1350" b="1">
                <a:solidFill>
                  <a:srgbClr val="1B1B1B"/>
                </a:solidFill>
                <a:latin typeface="Arial"/>
                <a:ea typeface="Arial"/>
                <a:cs typeface="Arial"/>
              </a:rPr>
              <a:t>Nếu câu trả lời làm thay đổi yêu cầu, phải sửa HSMT và xem xét gia hạn.</a:t>
            </a:r>
          </a:p>
        </p:txBody>
      </p:sp>
      <p:sp>
        <p:nvSpPr>
          <p:cNvPr id="6" name="Rectangle: Rounded Corners 5">
            <a:extLst>
              <a:ext uri="{FF2B5EF4-FFF2-40B4-BE49-F238E27FC236}">
                <a16:creationId xmlns:a16="http://schemas.microsoft.com/office/drawing/2014/main" id="{2C309CAB-DFD9-4790-97C5-1B583DC2ACB1}"/>
              </a:ext>
            </a:extLst>
          </p:cNvPr>
          <p:cNvSpPr>
            <a:spLocks noGrp="1"/>
          </p:cNvSpPr>
          <p:nvPr/>
        </p:nvSpPr>
        <p:spPr>
          <a:xfrm>
            <a:off x="8967788" y="2476500"/>
            <a:ext cx="2557463" cy="1285875"/>
          </a:xfrm>
          <a:prstGeom prst="roundRect">
            <a:avLst>
              <a:gd name="adj" fmla="val 13333"/>
            </a:avLst>
          </a:prstGeom>
          <a:solidFill>
            <a:srgbClr val="F5F5F5"/>
          </a:solidFill>
          <a:ln w="14288">
            <a:solidFill>
              <a:srgbClr val="D9D9D9"/>
            </a:solidFill>
            <a:prstDash val="solid"/>
          </a:ln>
        </p:spPr>
        <p:txBody>
          <a:bodyPr anchor="ctr">
            <a:noAutofit/>
          </a:bodyPr>
          <a:lstStyle/>
          <a:p>
            <a:pPr>
              <a:defRPr sz="1350" b="1">
                <a:solidFill>
                  <a:srgbClr val="1B1B1B"/>
                </a:solidFill>
                <a:latin typeface="Arial"/>
                <a:ea typeface="Arial"/>
                <a:cs typeface="Arial"/>
              </a:defRPr>
            </a:pPr>
            <a:r>
              <a:rPr sz="1350" b="1">
                <a:solidFill>
                  <a:srgbClr val="1B1B1B"/>
                </a:solidFill>
                <a:latin typeface="Arial"/>
                <a:ea typeface="Arial"/>
                <a:cs typeface="Arial"/>
              </a:rPr>
              <a:t>Biên bản hội nghị tiền đấu thầu không tự động là sửa đổi HSMT.</a:t>
            </a:r>
          </a:p>
        </p:txBody>
      </p:sp>
      <p:sp>
        <p:nvSpPr>
          <p:cNvPr id="10" name="Rectangle 9">
            <a:extLst>
              <a:ext uri="{FF2B5EF4-FFF2-40B4-BE49-F238E27FC236}">
                <a16:creationId xmlns:a16="http://schemas.microsoft.com/office/drawing/2014/main" id="{41302F1C-6008-4033-9179-EDC740DFF23D}"/>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1" name="Rectangle: Rounded Corners 10">
            <a:extLst>
              <a:ext uri="{FF2B5EF4-FFF2-40B4-BE49-F238E27FC236}">
                <a16:creationId xmlns:a16="http://schemas.microsoft.com/office/drawing/2014/main" id="{967A2D4F-AD34-42E6-BB36-65E6A5A46169}"/>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2" name="Rectangle 11">
            <a:extLst>
              <a:ext uri="{FF2B5EF4-FFF2-40B4-BE49-F238E27FC236}">
                <a16:creationId xmlns:a16="http://schemas.microsoft.com/office/drawing/2014/main" id="{F2D375D8-7EDC-44FC-B9C8-2499608F44F7}"/>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49</a:t>
            </a:r>
          </a:p>
        </p:txBody>
      </p:sp>
      <p:sp>
        <p:nvSpPr>
          <p:cNvPr id="13" name="Rectangle 12">
            <a:extLst>
              <a:ext uri="{FF2B5EF4-FFF2-40B4-BE49-F238E27FC236}">
                <a16:creationId xmlns:a16="http://schemas.microsoft.com/office/drawing/2014/main" id="{DEAC8972-009E-4D74-B99C-88EAE61B4768}"/>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4" name="Rectangle 13">
            <a:extLst>
              <a:ext uri="{FF2B5EF4-FFF2-40B4-BE49-F238E27FC236}">
                <a16:creationId xmlns:a16="http://schemas.microsoft.com/office/drawing/2014/main" id="{CB5E6E63-9F81-49D5-9C31-D59FB1A38799}"/>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5" name="Rectangle 14">
            <a:extLst>
              <a:ext uri="{FF2B5EF4-FFF2-40B4-BE49-F238E27FC236}">
                <a16:creationId xmlns:a16="http://schemas.microsoft.com/office/drawing/2014/main" id="{EBB36D48-1152-4A9E-A76B-508138374CDD}"/>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7 E-CDNT HSMT Cần Thơ; Điều 31 Quy chế 2486.</a:t>
            </a:r>
          </a:p>
        </p:txBody>
      </p:sp>
    </p:spTree>
    <p:extLst>
      <p:ext uri="{BB962C8B-B14F-4D97-AF65-F5344CB8AC3E}">
        <p14:creationId xmlns:p14="http://schemas.microsoft.com/office/powerpoint/2010/main" val="7436236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EC31AED-6CDB-4DF3-B08F-0324D282DADB}"/>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LÀM RÕ HSDT KHÔNG PHẢI LÀM LẠI HSDT</a:t>
            </a:r>
          </a:p>
        </p:txBody>
      </p:sp>
      <p:sp>
        <p:nvSpPr>
          <p:cNvPr id="2" name="Rectangle 1">
            <a:extLst>
              <a:ext uri="{FF2B5EF4-FFF2-40B4-BE49-F238E27FC236}">
                <a16:creationId xmlns:a16="http://schemas.microsoft.com/office/drawing/2014/main" id="{E44DFBA0-007F-4388-B8AC-1C4ABF0354F7}"/>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Đặt nguyên tắc xuyên suốt.</a:t>
            </a:r>
          </a:p>
        </p:txBody>
      </p:sp>
      <p:sp>
        <p:nvSpPr>
          <p:cNvPr id="3" name="Rectangle 2">
            <a:extLst>
              <a:ext uri="{FF2B5EF4-FFF2-40B4-BE49-F238E27FC236}">
                <a16:creationId xmlns:a16="http://schemas.microsoft.com/office/drawing/2014/main" id="{C81540E5-5130-4E50-9500-40D6E4FA0171}"/>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Làm rõ để giải thích/chứng minh thông tin đã kê khai hoặc đáp ứng yêu cầu.</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biến làm rõ thành cơ hội tạo mới năng lực sau đóng thầu.</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thay đổi bản chất chào thầu, giá hoặc giải pháp cốt lõi nếu tài liệu không cho phép.</a:t>
            </a:r>
          </a:p>
        </p:txBody>
      </p:sp>
      <p:sp>
        <p:nvSpPr>
          <p:cNvPr id="4" name="Rectangle 3">
            <a:extLst>
              <a:ext uri="{FF2B5EF4-FFF2-40B4-BE49-F238E27FC236}">
                <a16:creationId xmlns:a16="http://schemas.microsoft.com/office/drawing/2014/main" id="{C4B7FEDC-5EAA-442F-B579-CE3E3EC50DEB}"/>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B695B4AC-4609-4879-B0FC-B1AB791781B6}"/>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B52D3BAB-2186-4841-B9C1-C4844416D5DD}"/>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Làm rõ để giải thích/chứng minh thông tin đã kê khai hoặc đáp ứng …</a:t>
            </a:r>
          </a:p>
        </p:txBody>
      </p:sp>
      <p:sp>
        <p:nvSpPr>
          <p:cNvPr id="7" name="Rectangle 6">
            <a:extLst>
              <a:ext uri="{FF2B5EF4-FFF2-40B4-BE49-F238E27FC236}">
                <a16:creationId xmlns:a16="http://schemas.microsoft.com/office/drawing/2014/main" id="{7245E810-C149-450E-B356-F74729D33C5F}"/>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D1C4D86F-E3BB-4E89-B7F7-E63FFE31A197}"/>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Không biến làm rõ thành cơ hội tạo mới năng lực sau đóng thầu.</a:t>
            </a:r>
          </a:p>
        </p:txBody>
      </p:sp>
      <p:sp>
        <p:nvSpPr>
          <p:cNvPr id="9" name="Rectangle 8">
            <a:extLst>
              <a:ext uri="{FF2B5EF4-FFF2-40B4-BE49-F238E27FC236}">
                <a16:creationId xmlns:a16="http://schemas.microsoft.com/office/drawing/2014/main" id="{582224F4-B5F7-4A66-B169-62BE62A3056A}"/>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7558B38D-9DBC-4414-AA4C-48E04A518B8C}"/>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Không thay đổi bản chất chào thầu, giá hoặc giải pháp cốt lõi nếu …</a:t>
            </a:r>
          </a:p>
        </p:txBody>
      </p:sp>
      <p:sp>
        <p:nvSpPr>
          <p:cNvPr id="11" name="Rectangle 10">
            <a:extLst>
              <a:ext uri="{FF2B5EF4-FFF2-40B4-BE49-F238E27FC236}">
                <a16:creationId xmlns:a16="http://schemas.microsoft.com/office/drawing/2014/main" id="{1F089156-3E57-444C-8C9E-B3FD081E76A4}"/>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5D77784B-0ECB-498A-A949-A6C4F3287ACD}"/>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F0777D45-4636-4314-9C10-B84F1E927E64}"/>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50</a:t>
            </a:r>
          </a:p>
        </p:txBody>
      </p:sp>
      <p:sp>
        <p:nvSpPr>
          <p:cNvPr id="14" name="Rectangle 13">
            <a:extLst>
              <a:ext uri="{FF2B5EF4-FFF2-40B4-BE49-F238E27FC236}">
                <a16:creationId xmlns:a16="http://schemas.microsoft.com/office/drawing/2014/main" id="{7300051E-AB6F-4131-999D-B89436701DB5}"/>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76A63AA7-B4EA-404F-9262-B15082ACAAC0}"/>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Rectangle 15">
            <a:extLst>
              <a:ext uri="{FF2B5EF4-FFF2-40B4-BE49-F238E27FC236}">
                <a16:creationId xmlns:a16="http://schemas.microsoft.com/office/drawing/2014/main" id="{30ADD80A-D4FA-473A-9722-7E45E04A5A51}"/>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Mục 27 A-CDNT HSMT 101; Mục 30 E-CDNT HSMT Cần Thơ.</a:t>
            </a:r>
          </a:p>
        </p:txBody>
      </p:sp>
    </p:spTree>
    <p:extLst>
      <p:ext uri="{BB962C8B-B14F-4D97-AF65-F5344CB8AC3E}">
        <p14:creationId xmlns:p14="http://schemas.microsoft.com/office/powerpoint/2010/main" val="78958840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4DAB7014-4356-4D4F-AB5C-D554D81D4112}"/>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ĐƯỢC LÀM RÕ: NĂNG LỰC, KINH NGHIỆM VÀ TÀI CHÍNH</a:t>
            </a:r>
          </a:p>
        </p:txBody>
      </p:sp>
      <p:sp>
        <p:nvSpPr>
          <p:cNvPr id="2" name="Rectangle 1">
            <a:extLst>
              <a:ext uri="{FF2B5EF4-FFF2-40B4-BE49-F238E27FC236}">
                <a16:creationId xmlns:a16="http://schemas.microsoft.com/office/drawing/2014/main" id="{0B643942-74E4-471B-807A-3034A6107007}"/>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Tách “thiếu tài liệu” khỏi “không có năng lực”.</a:t>
            </a:r>
          </a:p>
        </p:txBody>
      </p:sp>
      <p:sp>
        <p:nvSpPr>
          <p:cNvPr id="3" name="Rectangle 2">
            <a:extLst>
              <a:ext uri="{FF2B5EF4-FFF2-40B4-BE49-F238E27FC236}">
                <a16:creationId xmlns:a16="http://schemas.microsoft.com/office/drawing/2014/main" id="{09F851AE-4BE4-4DB1-B242-A56EE4DB8A1A}"/>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Bổ sung/chứng minh tài liệu đã kê khai: hợp đồng, nghiệm thu, thanh lý, thuế, tài chính.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Đối chiếu tài liệu với thông tin đã nộp.</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Nếu không có tài liệu chứng minh đáp ứng, hồ sơ bị loại theo quy định tương ứng.</a:t>
            </a:r>
          </a:p>
        </p:txBody>
      </p:sp>
      <p:sp>
        <p:nvSpPr>
          <p:cNvPr id="4" name="Rectangle 3">
            <a:extLst>
              <a:ext uri="{FF2B5EF4-FFF2-40B4-BE49-F238E27FC236}">
                <a16:creationId xmlns:a16="http://schemas.microsoft.com/office/drawing/2014/main" id="{E3B86508-1869-4A26-A5DE-7C3D1647AB09}"/>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F8C731DF-1428-48F5-AD75-94D8CE5F33C4}"/>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5B7B9447-902F-43B7-9736-76B09FE95C4A}"/>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Bổ sung/chứng minh tài liệu đã kê khai: hợp đồng, nghiệm thu, than…</a:t>
            </a:r>
          </a:p>
        </p:txBody>
      </p:sp>
      <p:sp>
        <p:nvSpPr>
          <p:cNvPr id="7" name="Rectangle 6">
            <a:extLst>
              <a:ext uri="{FF2B5EF4-FFF2-40B4-BE49-F238E27FC236}">
                <a16:creationId xmlns:a16="http://schemas.microsoft.com/office/drawing/2014/main" id="{A3E9C7F3-69A3-4EAC-817B-637A03CEB9E5}"/>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DCA5C2ED-7739-4E70-B4C3-306FE41CD525}"/>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Đối chiếu tài liệu với thông tin đã nộp.</a:t>
            </a:r>
          </a:p>
        </p:txBody>
      </p:sp>
      <p:sp>
        <p:nvSpPr>
          <p:cNvPr id="9" name="Rectangle 8">
            <a:extLst>
              <a:ext uri="{FF2B5EF4-FFF2-40B4-BE49-F238E27FC236}">
                <a16:creationId xmlns:a16="http://schemas.microsoft.com/office/drawing/2014/main" id="{0FC74433-3C1F-4721-8E72-981A933683F3}"/>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968718A0-BB56-4D57-967C-882BE8C43983}"/>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Nếu không có tài liệu chứng minh đáp ứng, hồ sơ bị loại theo quy đ…</a:t>
            </a:r>
          </a:p>
        </p:txBody>
      </p:sp>
      <p:sp>
        <p:nvSpPr>
          <p:cNvPr id="11" name="Rectangle 10">
            <a:extLst>
              <a:ext uri="{FF2B5EF4-FFF2-40B4-BE49-F238E27FC236}">
                <a16:creationId xmlns:a16="http://schemas.microsoft.com/office/drawing/2014/main" id="{2FE33360-E52C-41B1-9592-7305FC80F866}"/>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BF8658D4-EEBA-4B42-806C-6E5DC820B1FE}"/>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285B7529-91E9-4CBB-ABBC-117EE75E8547}"/>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51</a:t>
            </a:r>
          </a:p>
        </p:txBody>
      </p:sp>
      <p:sp>
        <p:nvSpPr>
          <p:cNvPr id="14" name="Rectangle 13">
            <a:extLst>
              <a:ext uri="{FF2B5EF4-FFF2-40B4-BE49-F238E27FC236}">
                <a16:creationId xmlns:a16="http://schemas.microsoft.com/office/drawing/2014/main" id="{DBDB4D7C-8553-413A-A516-E6A0A55E6385}"/>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F16C76A8-F507-46F2-8C01-6385C8B62E58}"/>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Rectangle 15">
            <a:extLst>
              <a:ext uri="{FF2B5EF4-FFF2-40B4-BE49-F238E27FC236}">
                <a16:creationId xmlns:a16="http://schemas.microsoft.com/office/drawing/2014/main" id="{73EDA5D9-FDC9-4801-AFFA-7AC7BDC3DD56}"/>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27.4, 29 A-CDNT HSMT 101; Mục 16, 30 E-CDNT HSMT Cần Thơ.</a:t>
            </a:r>
          </a:p>
        </p:txBody>
      </p:sp>
    </p:spTree>
    <p:extLst>
      <p:ext uri="{BB962C8B-B14F-4D97-AF65-F5344CB8AC3E}">
        <p14:creationId xmlns:p14="http://schemas.microsoft.com/office/powerpoint/2010/main" val="186859541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9A23732E-E301-4F8C-8597-01E58D6CB454}"/>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NHÂN SỰ VÀ THIẾT BỊ: TRƯỜNG HỢP ĐƯỢC BỔ SUNG/THAY THẾ</a:t>
            </a:r>
          </a:p>
        </p:txBody>
      </p:sp>
      <p:sp>
        <p:nvSpPr>
          <p:cNvPr id="2" name="Rectangle 1">
            <a:extLst>
              <a:ext uri="{FF2B5EF4-FFF2-40B4-BE49-F238E27FC236}">
                <a16:creationId xmlns:a16="http://schemas.microsoft.com/office/drawing/2014/main" id="{55CEB8C3-07C5-4944-B147-76C3E1804897}"/>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Hiểu ngoại lệ có giới hạn.</a:t>
            </a:r>
          </a:p>
        </p:txBody>
      </p:sp>
      <p:sp>
        <p:nvSpPr>
          <p:cNvPr id="3" name="Rectangle 2">
            <a:extLst>
              <a:ext uri="{FF2B5EF4-FFF2-40B4-BE49-F238E27FC236}">
                <a16:creationId xmlns:a16="http://schemas.microsoft.com/office/drawing/2014/main" id="{C1CDE40F-9541-4E25-A37E-7E1359658AD3}"/>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HSMT Viettel cho phép bổ sung/thay thế một lần đối với từng vị trí/thiết bị.</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Nhân sự thay thế phải tương đương hoặc cao hơn.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đổi giá dự thầu; sau xếp hạng thứ nhất chỉ thay vì lý do chính đáng/bất khả kháng.</a:t>
            </a:r>
          </a:p>
        </p:txBody>
      </p:sp>
      <p:sp>
        <p:nvSpPr>
          <p:cNvPr id="4" name="Rectangle 3">
            <a:extLst>
              <a:ext uri="{FF2B5EF4-FFF2-40B4-BE49-F238E27FC236}">
                <a16:creationId xmlns:a16="http://schemas.microsoft.com/office/drawing/2014/main" id="{9F092113-C587-44C3-97DB-69BB9B796216}"/>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FFDCB43B-50E5-44F0-951A-7E62A4A3E968}"/>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1489DB0F-A3AA-4D59-8DDC-F05DA5392269}"/>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HSMT Viettel cho phép bổ sung/thay thế một lần đối với từng vị trí…</a:t>
            </a:r>
          </a:p>
        </p:txBody>
      </p:sp>
      <p:sp>
        <p:nvSpPr>
          <p:cNvPr id="7" name="Rectangle 6">
            <a:extLst>
              <a:ext uri="{FF2B5EF4-FFF2-40B4-BE49-F238E27FC236}">
                <a16:creationId xmlns:a16="http://schemas.microsoft.com/office/drawing/2014/main" id="{F37DA5C2-4967-4D56-9949-A7A98AEA3837}"/>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6FA10C85-5A80-431D-A50F-4320AB5D624D}"/>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Nhân sự thay thế phải tương đương hoặc cao hơn.</a:t>
            </a:r>
          </a:p>
        </p:txBody>
      </p:sp>
      <p:sp>
        <p:nvSpPr>
          <p:cNvPr id="9" name="Rectangle 8">
            <a:extLst>
              <a:ext uri="{FF2B5EF4-FFF2-40B4-BE49-F238E27FC236}">
                <a16:creationId xmlns:a16="http://schemas.microsoft.com/office/drawing/2014/main" id="{FEC1AE0B-1069-4395-B15A-4091CD64EADB}"/>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B68C77A0-28B5-430F-A4FC-A3186580C7BD}"/>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Không đổi giá dự thầu; sau xếp hạng thứ nhất chỉ thay vì lý do chí…</a:t>
            </a:r>
          </a:p>
        </p:txBody>
      </p:sp>
      <p:sp>
        <p:nvSpPr>
          <p:cNvPr id="11" name="Rectangle 10">
            <a:extLst>
              <a:ext uri="{FF2B5EF4-FFF2-40B4-BE49-F238E27FC236}">
                <a16:creationId xmlns:a16="http://schemas.microsoft.com/office/drawing/2014/main" id="{69E155BC-BC53-4460-93F1-59330EF08AA1}"/>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71F279C9-90DE-4514-97CB-1AAA8CB93EE5}"/>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3D3F1A54-5832-4961-AC5D-4D20B04D1873}"/>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52</a:t>
            </a:r>
          </a:p>
        </p:txBody>
      </p:sp>
      <p:sp>
        <p:nvSpPr>
          <p:cNvPr id="14" name="Rectangle 13">
            <a:extLst>
              <a:ext uri="{FF2B5EF4-FFF2-40B4-BE49-F238E27FC236}">
                <a16:creationId xmlns:a16="http://schemas.microsoft.com/office/drawing/2014/main" id="{2527BD4E-1710-4833-B4E0-0E6AE02CD49A}"/>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E2677E1B-BA77-4B50-BDE6-4098B0D08763}"/>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Rectangle 15">
            <a:extLst>
              <a:ext uri="{FF2B5EF4-FFF2-40B4-BE49-F238E27FC236}">
                <a16:creationId xmlns:a16="http://schemas.microsoft.com/office/drawing/2014/main" id="{CA21052D-B03D-4EB6-88F9-C33F89C44BC3}"/>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27.5 A-CDNT HSMT 101; Mục 3 kỹ thuật HSMT Cần Thơ.</a:t>
            </a:r>
          </a:p>
        </p:txBody>
      </p:sp>
    </p:spTree>
    <p:extLst>
      <p:ext uri="{BB962C8B-B14F-4D97-AF65-F5344CB8AC3E}">
        <p14:creationId xmlns:p14="http://schemas.microsoft.com/office/powerpoint/2010/main" val="207238155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A437513-4038-415A-8C2E-BA4A58A60694}"/>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HỢP ĐỒNG TƯƠNG TỰ VÀ TÀI LIỆU NGHIỆM THU</a:t>
            </a:r>
          </a:p>
        </p:txBody>
      </p:sp>
      <p:sp>
        <p:nvSpPr>
          <p:cNvPr id="2" name="Rectangle 1">
            <a:extLst>
              <a:ext uri="{FF2B5EF4-FFF2-40B4-BE49-F238E27FC236}">
                <a16:creationId xmlns:a16="http://schemas.microsoft.com/office/drawing/2014/main" id="{383AC380-F142-4082-B094-63FD94A5BD10}"/>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Phân biệt kê khai hợp đồng với chứng minh hoàn thành.</a:t>
            </a:r>
          </a:p>
        </p:txBody>
      </p:sp>
      <p:sp>
        <p:nvSpPr>
          <p:cNvPr id="3" name="Rectangle 2">
            <a:extLst>
              <a:ext uri="{FF2B5EF4-FFF2-40B4-BE49-F238E27FC236}">
                <a16:creationId xmlns:a16="http://schemas.microsoft.com/office/drawing/2014/main" id="{693C26D3-761B-46D6-B893-38D0BCEFA11B}"/>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Hợp đồng tương tự được đánh giá theo phạm vi, hạng mục và giá trị được nghiệm thu theo yêu cầu HSMT.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Tài liệu có thể gồm hợp đồng, nghiệm thu, thanh lý, hóa đơn hoặc tài liệu theo HSMT.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Thiếu biên bản nghiệm thu không tự động có cùng kết quả ở hai hệ thống.</a:t>
            </a:r>
          </a:p>
        </p:txBody>
      </p:sp>
      <p:sp>
        <p:nvSpPr>
          <p:cNvPr id="4" name="Rectangle 3">
            <a:extLst>
              <a:ext uri="{FF2B5EF4-FFF2-40B4-BE49-F238E27FC236}">
                <a16:creationId xmlns:a16="http://schemas.microsoft.com/office/drawing/2014/main" id="{561D014A-7FF7-4704-99DD-8A47121D925E}"/>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32E92A45-03B9-474C-915D-789991DA76A9}"/>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93EA6ECD-4DD1-4DF7-80BC-1F4ECFA97D41}"/>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Hợp đồng tương tự được đánh giá theo phạm vi, hạng mục và giá trị …</a:t>
            </a:r>
          </a:p>
        </p:txBody>
      </p:sp>
      <p:sp>
        <p:nvSpPr>
          <p:cNvPr id="7" name="Rectangle 6">
            <a:extLst>
              <a:ext uri="{FF2B5EF4-FFF2-40B4-BE49-F238E27FC236}">
                <a16:creationId xmlns:a16="http://schemas.microsoft.com/office/drawing/2014/main" id="{C4DB1E2C-0D7A-4AF9-9A1A-1805D2940FB5}"/>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C6AE6EDC-5919-4E21-891A-FF2117A62573}"/>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Tài liệu có thể gồm hợp đồng, nghiệm thu, thanh lý, hóa đơn hoặc t…</a:t>
            </a:r>
          </a:p>
        </p:txBody>
      </p:sp>
      <p:sp>
        <p:nvSpPr>
          <p:cNvPr id="9" name="Rectangle 8">
            <a:extLst>
              <a:ext uri="{FF2B5EF4-FFF2-40B4-BE49-F238E27FC236}">
                <a16:creationId xmlns:a16="http://schemas.microsoft.com/office/drawing/2014/main" id="{D0ED3A72-F55C-4850-9B32-A67E9713E94A}"/>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D72178B1-3CD3-4F6B-8462-F1F14AAC1778}"/>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Thiếu biên bản nghiệm thu không tự động có cùng kết quả ở hai hệ t…</a:t>
            </a:r>
          </a:p>
        </p:txBody>
      </p:sp>
      <p:sp>
        <p:nvSpPr>
          <p:cNvPr id="11" name="Rectangle 10">
            <a:extLst>
              <a:ext uri="{FF2B5EF4-FFF2-40B4-BE49-F238E27FC236}">
                <a16:creationId xmlns:a16="http://schemas.microsoft.com/office/drawing/2014/main" id="{9AB2CAB6-23DA-4A45-898B-1E81A7E79C46}"/>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BC984880-A436-43C7-AA4D-1541C68E450B}"/>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28127318-6502-4623-A3BA-38A7680F6359}"/>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53</a:t>
            </a:r>
          </a:p>
        </p:txBody>
      </p:sp>
      <p:sp>
        <p:nvSpPr>
          <p:cNvPr id="14" name="Rectangle 13">
            <a:extLst>
              <a:ext uri="{FF2B5EF4-FFF2-40B4-BE49-F238E27FC236}">
                <a16:creationId xmlns:a16="http://schemas.microsoft.com/office/drawing/2014/main" id="{A7E80531-CE22-4B1F-86BC-0E9E96048B1E}"/>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2B203DBF-1C10-4FC3-8350-182BC6EAF6B0}"/>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6" name="Rectangle 15">
            <a:extLst>
              <a:ext uri="{FF2B5EF4-FFF2-40B4-BE49-F238E27FC236}">
                <a16:creationId xmlns:a16="http://schemas.microsoft.com/office/drawing/2014/main" id="{9F43D62F-E014-4945-BCC5-23F3AA735287}"/>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29.1(e) A-CDNT HSMT 101; Điều 61 Luật; VBHN 36/2026.</a:t>
            </a:r>
          </a:p>
        </p:txBody>
      </p:sp>
    </p:spTree>
    <p:extLst>
      <p:ext uri="{BB962C8B-B14F-4D97-AF65-F5344CB8AC3E}">
        <p14:creationId xmlns:p14="http://schemas.microsoft.com/office/powerpoint/2010/main" val="7069413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7FC825C1-AA57-4A50-B16B-91F0CFF8C1F4}"/>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ĐỐI CHIẾU TÀI LIỆU VÀ THƯƠNG THẢO</a:t>
            </a:r>
          </a:p>
        </p:txBody>
      </p:sp>
      <p:sp>
        <p:nvSpPr>
          <p:cNvPr id="2" name="Rectangle 1">
            <a:extLst>
              <a:ext uri="{FF2B5EF4-FFF2-40B4-BE49-F238E27FC236}">
                <a16:creationId xmlns:a16="http://schemas.microsoft.com/office/drawing/2014/main" id="{C96DACBA-FB8E-4183-A764-DD458E09B13A}"/>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Biết giai đoạn nào được làm gì.</a:t>
            </a:r>
          </a:p>
        </p:txBody>
      </p:sp>
      <p:sp>
        <p:nvSpPr>
          <p:cNvPr id="3" name="Rectangle 2">
            <a:extLst>
              <a:ext uri="{FF2B5EF4-FFF2-40B4-BE49-F238E27FC236}">
                <a16:creationId xmlns:a16="http://schemas.microsoft.com/office/drawing/2014/main" id="{564A8152-2BAE-401B-A27E-0A7EA4A3120F}"/>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xếp hạng thứ nhất nộp tài liệu chứng minh.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Có tài liệu phù hợp mới tiếp tục thương thảo.</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Thương thảo chỉ làm rõ điểm chưa chi tiết/chưa thống nhất, hoàn thiện phụ lục, giá nếu HSMT/quy định cho phép.</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Không dùng thương thảo để sửa yêu cầu hoặc tạo lợi thế bất bình đẳng.</a:t>
            </a:r>
          </a:p>
        </p:txBody>
      </p:sp>
      <p:sp>
        <p:nvSpPr>
          <p:cNvPr id="4" name="Rectangle 3">
            <a:extLst>
              <a:ext uri="{FF2B5EF4-FFF2-40B4-BE49-F238E27FC236}">
                <a16:creationId xmlns:a16="http://schemas.microsoft.com/office/drawing/2014/main" id="{3D251345-03C9-4768-BDFB-6B42C1A931B9}"/>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7DCED837-A2CE-4DEA-BCFB-044C187CEDC2}"/>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9D7F9304-FB83-46FA-9E8A-132B63DD4F88}"/>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Nhà thầu xếp hạng thứ nhất nộp tài liệu chứng minh.</a:t>
            </a:r>
          </a:p>
        </p:txBody>
      </p:sp>
      <p:sp>
        <p:nvSpPr>
          <p:cNvPr id="7" name="Rectangle 6">
            <a:extLst>
              <a:ext uri="{FF2B5EF4-FFF2-40B4-BE49-F238E27FC236}">
                <a16:creationId xmlns:a16="http://schemas.microsoft.com/office/drawing/2014/main" id="{EAC438A8-13AD-4896-A5A0-E9D319048FD6}"/>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CD9FB442-47E3-4E3B-BCC5-C9E8F9A094FB}"/>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Có tài liệu phù hợp mới tiếp tục thương thảo.</a:t>
            </a:r>
          </a:p>
        </p:txBody>
      </p:sp>
      <p:sp>
        <p:nvSpPr>
          <p:cNvPr id="9" name="Rectangle 8">
            <a:extLst>
              <a:ext uri="{FF2B5EF4-FFF2-40B4-BE49-F238E27FC236}">
                <a16:creationId xmlns:a16="http://schemas.microsoft.com/office/drawing/2014/main" id="{E378DA14-08AD-4BA2-B645-9E9E790FCE50}"/>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8473D05B-48B6-4815-A1C6-A333EE6C4D53}"/>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Thương thảo chỉ làm rõ điểm chưa chi tiết/chưa thống nhất, hoàn th…</a:t>
            </a:r>
          </a:p>
        </p:txBody>
      </p:sp>
      <p:sp>
        <p:nvSpPr>
          <p:cNvPr id="11" name="Rectangle 10">
            <a:extLst>
              <a:ext uri="{FF2B5EF4-FFF2-40B4-BE49-F238E27FC236}">
                <a16:creationId xmlns:a16="http://schemas.microsoft.com/office/drawing/2014/main" id="{FC421BEF-EC25-468B-95F9-45910AB1F674}"/>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BB59D465-5D68-4A28-A3A7-2E9C6A5F01CD}"/>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Không dùng thương thảo để sửa yêu cầu hoặc tạo lợi thế bất bình đẳ…</a:t>
            </a:r>
          </a:p>
        </p:txBody>
      </p:sp>
      <p:sp>
        <p:nvSpPr>
          <p:cNvPr id="13" name="Rectangle 12">
            <a:extLst>
              <a:ext uri="{FF2B5EF4-FFF2-40B4-BE49-F238E27FC236}">
                <a16:creationId xmlns:a16="http://schemas.microsoft.com/office/drawing/2014/main" id="{D7D224DA-7587-40F6-926B-EDC58489AA66}"/>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AFB4AB36-1587-4153-B98B-7EEE3C5158AB}"/>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FC1AA522-3B18-4935-87AB-0F260C792C6F}"/>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54</a:t>
            </a:r>
          </a:p>
        </p:txBody>
      </p:sp>
      <p:sp>
        <p:nvSpPr>
          <p:cNvPr id="16" name="Rectangle 15">
            <a:extLst>
              <a:ext uri="{FF2B5EF4-FFF2-40B4-BE49-F238E27FC236}">
                <a16:creationId xmlns:a16="http://schemas.microsoft.com/office/drawing/2014/main" id="{A5F676F5-CAFB-48F9-A5F6-16793D1D7B4E}"/>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2ED3086B-E965-479F-9096-550BC838F66B}"/>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18" name="Rectangle 17">
            <a:extLst>
              <a:ext uri="{FF2B5EF4-FFF2-40B4-BE49-F238E27FC236}">
                <a16:creationId xmlns:a16="http://schemas.microsoft.com/office/drawing/2014/main" id="{ACF6FA30-123C-4948-AB2E-665B5F631727}"/>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29 A-CDNT HSMT 101; Mục 30 E-CDNT HSMT Cần Thơ.</a:t>
            </a:r>
          </a:p>
        </p:txBody>
      </p:sp>
    </p:spTree>
    <p:extLst>
      <p:ext uri="{BB962C8B-B14F-4D97-AF65-F5344CB8AC3E}">
        <p14:creationId xmlns:p14="http://schemas.microsoft.com/office/powerpoint/2010/main" val="5899442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A708C60-E9D1-4B62-9256-3BC26AC670EF}"/>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SỬA LỖI, HIỆU CHỈNH SAI LỆCH, LÀM RÕ, THƯƠNG THẢO</a:t>
            </a:r>
          </a:p>
        </p:txBody>
      </p:sp>
      <p:graphicFrame>
        <p:nvGraphicFramePr>
          <p:cNvPr id="10" name="Table 9"/>
          <p:cNvGraphicFramePr/>
          <p:nvPr/>
        </p:nvGraphicFramePr>
        <p:xfrm>
          <a:off x="523875" y="1190625"/>
          <a:ext cx="11144250" cy="2438400"/>
        </p:xfrm>
        <a:graphic>
          <a:graphicData uri="http://schemas.openxmlformats.org/drawingml/2006/table">
            <a:tbl>
              <a:tblPr firstRow="1"/>
              <a:tblGrid>
                <a:gridCol w="2190750">
                  <a:extLst>
                    <a:ext uri="{9D8B030D-6E8A-4147-A177-3AD203B41FA5}">
                      <a16:colId xmlns:a16="http://schemas.microsoft.com/office/drawing/2014/main" val="20000"/>
                    </a:ext>
                  </a:extLst>
                </a:gridCol>
                <a:gridCol w="2143125">
                  <a:extLst>
                    <a:ext uri="{9D8B030D-6E8A-4147-A177-3AD203B41FA5}">
                      <a16:colId xmlns:a16="http://schemas.microsoft.com/office/drawing/2014/main" val="20001"/>
                    </a:ext>
                  </a:extLst>
                </a:gridCol>
                <a:gridCol w="2143125">
                  <a:extLst>
                    <a:ext uri="{9D8B030D-6E8A-4147-A177-3AD203B41FA5}">
                      <a16:colId xmlns:a16="http://schemas.microsoft.com/office/drawing/2014/main" val="20002"/>
                    </a:ext>
                  </a:extLst>
                </a:gridCol>
                <a:gridCol w="2143125">
                  <a:extLst>
                    <a:ext uri="{9D8B030D-6E8A-4147-A177-3AD203B41FA5}">
                      <a16:colId xmlns:a16="http://schemas.microsoft.com/office/drawing/2014/main" val="20003"/>
                    </a:ext>
                  </a:extLst>
                </a:gridCol>
                <a:gridCol w="2524125">
                  <a:extLst>
                    <a:ext uri="{9D8B030D-6E8A-4147-A177-3AD203B41FA5}">
                      <a16:colId xmlns:a16="http://schemas.microsoft.com/office/drawing/2014/main" val="20004"/>
                    </a:ext>
                  </a:extLst>
                </a:gridCol>
              </a:tblGrid>
              <a:tr h="487680">
                <a:tc>
                  <a:txBody>
                    <a:bodyPr/>
                    <a:lstStyle/>
                    <a:p>
                      <a:r>
                        <a:rPr sz="1200" b="1">
                          <a:solidFill>
                            <a:srgbClr val="FFFFFF"/>
                          </a:solidFill>
                          <a:latin typeface="Arial"/>
                          <a:ea typeface="Arial"/>
                          <a:cs typeface="Arial"/>
                        </a:rPr>
                        <a:t>Khái niệm</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Thời điểm</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Chủ thể</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Có đổi giá?</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Có đổi nội dung?</a:t>
                      </a:r>
                    </a:p>
                  </a:txBody>
                  <a:tcPr marL="76200" marR="76200" marT="47625" marB="47625" anchor="ctr">
                    <a:solidFill>
                      <a:srgbClr val="E6002D"/>
                    </a:solidFill>
                  </a:tcPr>
                </a:tc>
                <a:extLst>
                  <a:ext uri="{0D108BD9-81ED-4DB2-BD59-A6C34878D82A}">
                    <a16:rowId xmlns:a16="http://schemas.microsoft.com/office/drawing/2014/main" val="10000"/>
                  </a:ext>
                </a:extLst>
              </a:tr>
              <a:tr h="487680">
                <a:tc>
                  <a:txBody>
                    <a:bodyPr/>
                    <a:lstStyle/>
                    <a:p>
                      <a:r>
                        <a:rPr sz="1125">
                          <a:solidFill>
                            <a:srgbClr val="1B1B1B"/>
                          </a:solidFill>
                          <a:latin typeface="Arial"/>
                          <a:ea typeface="Arial"/>
                          <a:cs typeface="Arial"/>
                        </a:rPr>
                        <a:t>Sửa lỗi</a:t>
                      </a:r>
                    </a:p>
                  </a:txBody>
                  <a:tcPr marL="76200" marR="76200" marT="38100" marB="38100" anchor="ctr">
                    <a:solidFill>
                      <a:srgbClr val="FFFFFF"/>
                    </a:solidFill>
                  </a:tcPr>
                </a:tc>
                <a:tc>
                  <a:txBody>
                    <a:bodyPr/>
                    <a:lstStyle/>
                    <a:p>
                      <a:r>
                        <a:rPr sz="1125">
                          <a:solidFill>
                            <a:srgbClr val="1B1B1B"/>
                          </a:solidFill>
                          <a:latin typeface="Arial"/>
                          <a:ea typeface="Arial"/>
                          <a:cs typeface="Arial"/>
                        </a:rPr>
                        <a:t>Đánh giá</a:t>
                      </a:r>
                    </a:p>
                  </a:txBody>
                  <a:tcPr marL="76200" marR="76200" marT="38100" marB="38100" anchor="ctr">
                    <a:solidFill>
                      <a:srgbClr val="FFFFFF"/>
                    </a:solidFill>
                  </a:tcPr>
                </a:tc>
                <a:tc>
                  <a:txBody>
                    <a:bodyPr/>
                    <a:lstStyle/>
                    <a:p>
                      <a:r>
                        <a:rPr sz="1125">
                          <a:solidFill>
                            <a:srgbClr val="1B1B1B"/>
                          </a:solidFill>
                          <a:latin typeface="Arial"/>
                          <a:ea typeface="Arial"/>
                          <a:cs typeface="Arial"/>
                        </a:rPr>
                        <a:t>Tổ chuyên gia</a:t>
                      </a:r>
                    </a:p>
                  </a:txBody>
                  <a:tcPr marL="76200" marR="76200" marT="38100" marB="38100" anchor="ctr">
                    <a:solidFill>
                      <a:srgbClr val="FFFFFF"/>
                    </a:solidFill>
                  </a:tcPr>
                </a:tc>
                <a:tc>
                  <a:txBody>
                    <a:bodyPr/>
                    <a:lstStyle/>
                    <a:p>
                      <a:r>
                        <a:rPr sz="1125">
                          <a:solidFill>
                            <a:srgbClr val="1B1B1B"/>
                          </a:solidFill>
                          <a:latin typeface="Arial"/>
                          <a:ea typeface="Arial"/>
                          <a:cs typeface="Arial"/>
                        </a:rPr>
                        <a:t>Theo phép tính</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đổi ý chí chào</a:t>
                      </a:r>
                    </a:p>
                  </a:txBody>
                  <a:tcPr marL="76200" marR="76200" marT="38100" marB="38100" anchor="ctr">
                    <a:solidFill>
                      <a:srgbClr val="FFFFFF"/>
                    </a:solidFill>
                  </a:tcPr>
                </a:tc>
                <a:extLst>
                  <a:ext uri="{0D108BD9-81ED-4DB2-BD59-A6C34878D82A}">
                    <a16:rowId xmlns:a16="http://schemas.microsoft.com/office/drawing/2014/main" val="10001"/>
                  </a:ext>
                </a:extLst>
              </a:tr>
              <a:tr h="487680">
                <a:tc>
                  <a:txBody>
                    <a:bodyPr/>
                    <a:lstStyle/>
                    <a:p>
                      <a:r>
                        <a:rPr sz="1125">
                          <a:solidFill>
                            <a:srgbClr val="1B1B1B"/>
                          </a:solidFill>
                          <a:latin typeface="Arial"/>
                          <a:ea typeface="Arial"/>
                          <a:cs typeface="Arial"/>
                        </a:rPr>
                        <a:t>Hiệu chỉnh sai lệch</a:t>
                      </a:r>
                    </a:p>
                  </a:txBody>
                  <a:tcPr marL="76200" marR="76200" marT="38100" marB="38100" anchor="ctr">
                    <a:solidFill>
                      <a:srgbClr val="F5F5F5"/>
                    </a:solidFill>
                  </a:tcPr>
                </a:tc>
                <a:tc>
                  <a:txBody>
                    <a:bodyPr/>
                    <a:lstStyle/>
                    <a:p>
                      <a:r>
                        <a:rPr sz="1125">
                          <a:solidFill>
                            <a:srgbClr val="1B1B1B"/>
                          </a:solidFill>
                          <a:latin typeface="Arial"/>
                          <a:ea typeface="Arial"/>
                          <a:cs typeface="Arial"/>
                        </a:rPr>
                        <a:t>Đánh giá</a:t>
                      </a:r>
                    </a:p>
                  </a:txBody>
                  <a:tcPr marL="76200" marR="76200" marT="38100" marB="38100" anchor="ctr">
                    <a:solidFill>
                      <a:srgbClr val="F5F5F5"/>
                    </a:solidFill>
                  </a:tcPr>
                </a:tc>
                <a:tc>
                  <a:txBody>
                    <a:bodyPr/>
                    <a:lstStyle/>
                    <a:p>
                      <a:r>
                        <a:rPr sz="1125">
                          <a:solidFill>
                            <a:srgbClr val="1B1B1B"/>
                          </a:solidFill>
                          <a:latin typeface="Arial"/>
                          <a:ea typeface="Arial"/>
                          <a:cs typeface="Arial"/>
                        </a:rPr>
                        <a:t>Tổ chuyên gia</a:t>
                      </a:r>
                    </a:p>
                  </a:txBody>
                  <a:tcPr marL="76200" marR="76200" marT="38100" marB="38100" anchor="ctr">
                    <a:solidFill>
                      <a:srgbClr val="F5F5F5"/>
                    </a:solidFill>
                  </a:tcPr>
                </a:tc>
                <a:tc>
                  <a:txBody>
                    <a:bodyPr/>
                    <a:lstStyle/>
                    <a:p>
                      <a:r>
                        <a:rPr sz="1125">
                          <a:solidFill>
                            <a:srgbClr val="1B1B1B"/>
                          </a:solidFill>
                          <a:latin typeface="Arial"/>
                          <a:ea typeface="Arial"/>
                          <a:cs typeface="Arial"/>
                        </a:rPr>
                        <a:t>Có thể ảnh hưởng giá đánh giá</a:t>
                      </a:r>
                    </a:p>
                  </a:txBody>
                  <a:tcPr marL="76200" marR="76200" marT="38100" marB="38100" anchor="ctr">
                    <a:solidFill>
                      <a:srgbClr val="F5F5F5"/>
                    </a:solidFill>
                  </a:tcPr>
                </a:tc>
                <a:tc>
                  <a:txBody>
                    <a:bodyPr/>
                    <a:lstStyle/>
                    <a:p>
                      <a:r>
                        <a:rPr sz="1125">
                          <a:solidFill>
                            <a:srgbClr val="1B1B1B"/>
                          </a:solidFill>
                          <a:latin typeface="Arial"/>
                          <a:ea typeface="Arial"/>
                          <a:cs typeface="Arial"/>
                        </a:rPr>
                        <a:t>Theo quy tắc HSMT</a:t>
                      </a:r>
                    </a:p>
                  </a:txBody>
                  <a:tcPr marL="76200" marR="76200" marT="38100" marB="38100" anchor="ctr">
                    <a:solidFill>
                      <a:srgbClr val="F5F5F5"/>
                    </a:solidFill>
                  </a:tcPr>
                </a:tc>
                <a:extLst>
                  <a:ext uri="{0D108BD9-81ED-4DB2-BD59-A6C34878D82A}">
                    <a16:rowId xmlns:a16="http://schemas.microsoft.com/office/drawing/2014/main" val="10002"/>
                  </a:ext>
                </a:extLst>
              </a:tr>
              <a:tr h="487680">
                <a:tc>
                  <a:txBody>
                    <a:bodyPr/>
                    <a:lstStyle/>
                    <a:p>
                      <a:r>
                        <a:rPr sz="1125">
                          <a:solidFill>
                            <a:srgbClr val="1B1B1B"/>
                          </a:solidFill>
                          <a:latin typeface="Arial"/>
                          <a:ea typeface="Arial"/>
                          <a:cs typeface="Arial"/>
                        </a:rPr>
                        <a:t>Làm rõ</a:t>
                      </a:r>
                    </a:p>
                  </a:txBody>
                  <a:tcPr marL="76200" marR="76200" marT="38100" marB="38100" anchor="ctr">
                    <a:solidFill>
                      <a:srgbClr val="FFFFFF"/>
                    </a:solidFill>
                  </a:tcPr>
                </a:tc>
                <a:tc>
                  <a:txBody>
                    <a:bodyPr/>
                    <a:lstStyle/>
                    <a:p>
                      <a:r>
                        <a:rPr sz="1125">
                          <a:solidFill>
                            <a:srgbClr val="1B1B1B"/>
                          </a:solidFill>
                          <a:latin typeface="Arial"/>
                          <a:ea typeface="Arial"/>
                          <a:cs typeface="Arial"/>
                        </a:rPr>
                        <a:t>Đánh giá</a:t>
                      </a:r>
                    </a:p>
                  </a:txBody>
                  <a:tcPr marL="76200" marR="76200" marT="38100" marB="38100" anchor="ctr">
                    <a:solidFill>
                      <a:srgbClr val="FFFFFF"/>
                    </a:solidFill>
                  </a:tcPr>
                </a:tc>
                <a:tc>
                  <a:txBody>
                    <a:bodyPr/>
                    <a:lstStyle/>
                    <a:p>
                      <a:r>
                        <a:rPr sz="1125">
                          <a:solidFill>
                            <a:srgbClr val="1B1B1B"/>
                          </a:solidFill>
                          <a:latin typeface="Arial"/>
                          <a:ea typeface="Arial"/>
                          <a:cs typeface="Arial"/>
                        </a:rPr>
                        <a:t>Chủ đầu tư/nhà thầu</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tạo giá mới</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đổi bản chất</a:t>
                      </a:r>
                    </a:p>
                  </a:txBody>
                  <a:tcPr marL="76200" marR="76200" marT="38100" marB="38100" anchor="ctr">
                    <a:solidFill>
                      <a:srgbClr val="FFFFFF"/>
                    </a:solidFill>
                  </a:tcPr>
                </a:tc>
                <a:extLst>
                  <a:ext uri="{0D108BD9-81ED-4DB2-BD59-A6C34878D82A}">
                    <a16:rowId xmlns:a16="http://schemas.microsoft.com/office/drawing/2014/main" val="10003"/>
                  </a:ext>
                </a:extLst>
              </a:tr>
              <a:tr h="487680">
                <a:tc>
                  <a:txBody>
                    <a:bodyPr/>
                    <a:lstStyle/>
                    <a:p>
                      <a:r>
                        <a:rPr sz="1125">
                          <a:solidFill>
                            <a:srgbClr val="1B1B1B"/>
                          </a:solidFill>
                          <a:latin typeface="Arial"/>
                          <a:ea typeface="Arial"/>
                          <a:cs typeface="Arial"/>
                        </a:rPr>
                        <a:t>Thương thảo</a:t>
                      </a:r>
                    </a:p>
                  </a:txBody>
                  <a:tcPr marL="76200" marR="76200" marT="38100" marB="38100" anchor="ctr">
                    <a:solidFill>
                      <a:srgbClr val="F5F5F5"/>
                    </a:solidFill>
                  </a:tcPr>
                </a:tc>
                <a:tc>
                  <a:txBody>
                    <a:bodyPr/>
                    <a:lstStyle/>
                    <a:p>
                      <a:r>
                        <a:rPr sz="1125">
                          <a:solidFill>
                            <a:srgbClr val="1B1B1B"/>
                          </a:solidFill>
                          <a:latin typeface="Arial"/>
                          <a:ea typeface="Arial"/>
                          <a:cs typeface="Arial"/>
                        </a:rPr>
                        <a:t>Sau xếp hạng</a:t>
                      </a:r>
                    </a:p>
                  </a:txBody>
                  <a:tcPr marL="76200" marR="76200" marT="38100" marB="38100" anchor="ctr">
                    <a:solidFill>
                      <a:srgbClr val="F5F5F5"/>
                    </a:solidFill>
                  </a:tcPr>
                </a:tc>
                <a:tc>
                  <a:txBody>
                    <a:bodyPr/>
                    <a:lstStyle/>
                    <a:p>
                      <a:r>
                        <a:rPr sz="1125">
                          <a:solidFill>
                            <a:srgbClr val="1B1B1B"/>
                          </a:solidFill>
                          <a:latin typeface="Arial"/>
                          <a:ea typeface="Arial"/>
                          <a:cs typeface="Arial"/>
                        </a:rPr>
                        <a:t>Chủ đầu tư/nhà thầu</a:t>
                      </a:r>
                    </a:p>
                  </a:txBody>
                  <a:tcPr marL="76200" marR="76200" marT="38100" marB="38100" anchor="ctr">
                    <a:solidFill>
                      <a:srgbClr val="F5F5F5"/>
                    </a:solidFill>
                  </a:tcPr>
                </a:tc>
                <a:tc>
                  <a:txBody>
                    <a:bodyPr/>
                    <a:lstStyle/>
                    <a:p>
                      <a:r>
                        <a:rPr sz="1125">
                          <a:solidFill>
                            <a:srgbClr val="1B1B1B"/>
                          </a:solidFill>
                          <a:latin typeface="Arial"/>
                          <a:ea typeface="Arial"/>
                          <a:cs typeface="Arial"/>
                        </a:rPr>
                        <a:t>Chỉ khi có căn cứ</a:t>
                      </a:r>
                    </a:p>
                  </a:txBody>
                  <a:tcPr marL="76200" marR="76200" marT="38100" marB="38100" anchor="ctr">
                    <a:solidFill>
                      <a:srgbClr val="F5F5F5"/>
                    </a:solidFill>
                  </a:tcPr>
                </a:tc>
                <a:tc>
                  <a:txBody>
                    <a:bodyPr/>
                    <a:lstStyle/>
                    <a:p>
                      <a:r>
                        <a:rPr sz="1125">
                          <a:solidFill>
                            <a:srgbClr val="1B1B1B"/>
                          </a:solidFill>
                          <a:latin typeface="Arial"/>
                          <a:ea typeface="Arial"/>
                          <a:cs typeface="Arial"/>
                        </a:rPr>
                        <a:t>Hoàn thiện nội dung cho phép</a:t>
                      </a:r>
                    </a:p>
                  </a:txBody>
                  <a:tcPr marL="76200" marR="76200" marT="38100" marB="38100" anchor="ctr">
                    <a:solidFill>
                      <a:srgbClr val="F5F5F5"/>
                    </a:solidFill>
                  </a:tcPr>
                </a:tc>
                <a:extLst>
                  <a:ext uri="{0D108BD9-81ED-4DB2-BD59-A6C34878D82A}">
                    <a16:rowId xmlns:a16="http://schemas.microsoft.com/office/drawing/2014/main" val="10004"/>
                  </a:ext>
                </a:extLst>
              </a:tr>
            </a:tbl>
          </a:graphicData>
        </a:graphic>
      </p:graphicFrame>
      <p:sp>
        <p:nvSpPr>
          <p:cNvPr id="3" name="Rectangle 2">
            <a:extLst>
              <a:ext uri="{FF2B5EF4-FFF2-40B4-BE49-F238E27FC236}">
                <a16:creationId xmlns:a16="http://schemas.microsoft.com/office/drawing/2014/main" id="{68AD8F3E-4141-4FA3-AC31-EFE8C6AD9424}"/>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4" name="Rectangle: Rounded Corners 3">
            <a:extLst>
              <a:ext uri="{FF2B5EF4-FFF2-40B4-BE49-F238E27FC236}">
                <a16:creationId xmlns:a16="http://schemas.microsoft.com/office/drawing/2014/main" id="{72B6D3AA-DFC5-4B20-8B7A-C1190BB186FB}"/>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40C8D3F9-BC5B-4463-873C-DB109D76F2C9}"/>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55</a:t>
            </a:r>
          </a:p>
        </p:txBody>
      </p:sp>
      <p:sp>
        <p:nvSpPr>
          <p:cNvPr id="6" name="Rectangle 5">
            <a:extLst>
              <a:ext uri="{FF2B5EF4-FFF2-40B4-BE49-F238E27FC236}">
                <a16:creationId xmlns:a16="http://schemas.microsoft.com/office/drawing/2014/main" id="{371499BF-6C69-4462-8CA2-E41851109EF6}"/>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Rectangle 6">
            <a:extLst>
              <a:ext uri="{FF2B5EF4-FFF2-40B4-BE49-F238E27FC236}">
                <a16:creationId xmlns:a16="http://schemas.microsoft.com/office/drawing/2014/main" id="{4FF52350-BC38-4D0D-9E6F-6239E2A84BAA}"/>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8" name="Rectangle 7">
            <a:extLst>
              <a:ext uri="{FF2B5EF4-FFF2-40B4-BE49-F238E27FC236}">
                <a16:creationId xmlns:a16="http://schemas.microsoft.com/office/drawing/2014/main" id="{B8C2FFBE-8035-4578-99D9-A7D28285484A}"/>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58, 61 Luật; Mục 29 A-CDNT HSMT 101; VBHN 36/2026.</a:t>
            </a:r>
          </a:p>
        </p:txBody>
      </p:sp>
    </p:spTree>
    <p:extLst>
      <p:ext uri="{BB962C8B-B14F-4D97-AF65-F5344CB8AC3E}">
        <p14:creationId xmlns:p14="http://schemas.microsoft.com/office/powerpoint/2010/main" val="105092926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A24BC81-FD8F-48E0-A015-9B2E13055F7F}"/>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BẢNG 20 TÌNH HUỐNG ĐƯỢC/KHÔNG ĐƯỢC LÀM RÕ</a:t>
            </a:r>
          </a:p>
        </p:txBody>
      </p:sp>
      <p:graphicFrame>
        <p:nvGraphicFramePr>
          <p:cNvPr id="11" name="Table 10"/>
          <p:cNvGraphicFramePr/>
          <p:nvPr/>
        </p:nvGraphicFramePr>
        <p:xfrm>
          <a:off x="428625" y="1190625"/>
          <a:ext cx="5572125" cy="4762505"/>
        </p:xfrm>
        <a:graphic>
          <a:graphicData uri="http://schemas.openxmlformats.org/drawingml/2006/table">
            <a:tbl>
              <a:tblPr firstRow="1"/>
              <a:tblGrid>
                <a:gridCol w="1809750">
                  <a:extLst>
                    <a:ext uri="{9D8B030D-6E8A-4147-A177-3AD203B41FA5}">
                      <a16:colId xmlns:a16="http://schemas.microsoft.com/office/drawing/2014/main" val="20000"/>
                    </a:ext>
                  </a:extLst>
                </a:gridCol>
                <a:gridCol w="3762375">
                  <a:extLst>
                    <a:ext uri="{9D8B030D-6E8A-4147-A177-3AD203B41FA5}">
                      <a16:colId xmlns:a16="http://schemas.microsoft.com/office/drawing/2014/main" val="20001"/>
                    </a:ext>
                  </a:extLst>
                </a:gridCol>
              </a:tblGrid>
              <a:tr h="432955">
                <a:tc>
                  <a:txBody>
                    <a:bodyPr/>
                    <a:lstStyle/>
                    <a:p>
                      <a:r>
                        <a:rPr sz="975" b="1">
                          <a:solidFill>
                            <a:srgbClr val="FFFFFF"/>
                          </a:solidFill>
                          <a:latin typeface="Arial"/>
                          <a:ea typeface="Arial"/>
                          <a:cs typeface="Arial"/>
                        </a:rPr>
                        <a:t>Tình huống</a:t>
                      </a:r>
                    </a:p>
                  </a:txBody>
                  <a:tcPr marL="76200" marR="76200" marT="47625" marB="47625" anchor="ctr">
                    <a:solidFill>
                      <a:srgbClr val="E6002D"/>
                    </a:solidFill>
                  </a:tcPr>
                </a:tc>
                <a:tc>
                  <a:txBody>
                    <a:bodyPr/>
                    <a:lstStyle/>
                    <a:p>
                      <a:r>
                        <a:rPr sz="975" b="1">
                          <a:solidFill>
                            <a:srgbClr val="FFFFFF"/>
                          </a:solidFill>
                          <a:latin typeface="Arial"/>
                          <a:ea typeface="Arial"/>
                          <a:cs typeface="Arial"/>
                        </a:rPr>
                        <a:t>Hướng xử lý storyboard</a:t>
                      </a:r>
                    </a:p>
                  </a:txBody>
                  <a:tcPr marL="76200" marR="76200" marT="47625" marB="47625" anchor="ctr">
                    <a:solidFill>
                      <a:srgbClr val="E6002D"/>
                    </a:solidFill>
                  </a:tcPr>
                </a:tc>
                <a:extLst>
                  <a:ext uri="{0D108BD9-81ED-4DB2-BD59-A6C34878D82A}">
                    <a16:rowId xmlns:a16="http://schemas.microsoft.com/office/drawing/2014/main" val="10000"/>
                  </a:ext>
                </a:extLst>
              </a:tr>
              <a:tr h="432955">
                <a:tc>
                  <a:txBody>
                    <a:bodyPr/>
                    <a:lstStyle/>
                    <a:p>
                      <a:r>
                        <a:rPr sz="825">
                          <a:solidFill>
                            <a:srgbClr val="1B1B1B"/>
                          </a:solidFill>
                          <a:latin typeface="Arial"/>
                          <a:ea typeface="Arial"/>
                          <a:cs typeface="Arial"/>
                        </a:rPr>
                        <a:t>Thiếu báo cáo tài chính</a:t>
                      </a:r>
                    </a:p>
                  </a:txBody>
                  <a:tcPr marL="76200" marR="76200" marT="38100" marB="38100" anchor="ctr">
                    <a:solidFill>
                      <a:srgbClr val="FFFFFF"/>
                    </a:solidFill>
                  </a:tcPr>
                </a:tc>
                <a:tc>
                  <a:txBody>
                    <a:bodyPr/>
                    <a:lstStyle/>
                    <a:p>
                      <a:r>
                        <a:rPr sz="825">
                          <a:solidFill>
                            <a:srgbClr val="1B1B1B"/>
                          </a:solidFill>
                          <a:latin typeface="Arial"/>
                          <a:ea typeface="Arial"/>
                          <a:cs typeface="Arial"/>
                        </a:rPr>
                        <a:t>Có thể yêu cầu chứng minh nếu đã kê khai/thuộc phạm vi HSMT</a:t>
                      </a:r>
                    </a:p>
                  </a:txBody>
                  <a:tcPr marL="76200" marR="76200" marT="38100" marB="38100" anchor="ctr">
                    <a:solidFill>
                      <a:srgbClr val="FFFFFF"/>
                    </a:solidFill>
                  </a:tcPr>
                </a:tc>
                <a:extLst>
                  <a:ext uri="{0D108BD9-81ED-4DB2-BD59-A6C34878D82A}">
                    <a16:rowId xmlns:a16="http://schemas.microsoft.com/office/drawing/2014/main" val="10001"/>
                  </a:ext>
                </a:extLst>
              </a:tr>
              <a:tr h="432955">
                <a:tc>
                  <a:txBody>
                    <a:bodyPr/>
                    <a:lstStyle/>
                    <a:p>
                      <a:r>
                        <a:rPr sz="825">
                          <a:solidFill>
                            <a:srgbClr val="1B1B1B"/>
                          </a:solidFill>
                          <a:latin typeface="Arial"/>
                          <a:ea typeface="Arial"/>
                          <a:cs typeface="Arial"/>
                        </a:rPr>
                        <a:t>Thiếu chứng từ thuế</a:t>
                      </a:r>
                    </a:p>
                  </a:txBody>
                  <a:tcPr marL="76200" marR="76200" marT="38100" marB="38100" anchor="ctr">
                    <a:solidFill>
                      <a:srgbClr val="F5F5F5"/>
                    </a:solidFill>
                  </a:tcPr>
                </a:tc>
                <a:tc>
                  <a:txBody>
                    <a:bodyPr/>
                    <a:lstStyle/>
                    <a:p>
                      <a:r>
                        <a:rPr sz="825">
                          <a:solidFill>
                            <a:srgbClr val="1B1B1B"/>
                          </a:solidFill>
                          <a:latin typeface="Arial"/>
                          <a:ea typeface="Arial"/>
                          <a:cs typeface="Arial"/>
                        </a:rPr>
                        <a:t>Đối chiếu/bổ sung theo HSMT</a:t>
                      </a:r>
                    </a:p>
                  </a:txBody>
                  <a:tcPr marL="76200" marR="76200" marT="38100" marB="38100" anchor="ctr">
                    <a:solidFill>
                      <a:srgbClr val="F5F5F5"/>
                    </a:solidFill>
                  </a:tcPr>
                </a:tc>
                <a:extLst>
                  <a:ext uri="{0D108BD9-81ED-4DB2-BD59-A6C34878D82A}">
                    <a16:rowId xmlns:a16="http://schemas.microsoft.com/office/drawing/2014/main" val="10002"/>
                  </a:ext>
                </a:extLst>
              </a:tr>
              <a:tr h="432955">
                <a:tc>
                  <a:txBody>
                    <a:bodyPr/>
                    <a:lstStyle/>
                    <a:p>
                      <a:r>
                        <a:rPr sz="825">
                          <a:solidFill>
                            <a:srgbClr val="1B1B1B"/>
                          </a:solidFill>
                          <a:latin typeface="Arial"/>
                          <a:ea typeface="Arial"/>
                          <a:cs typeface="Arial"/>
                        </a:rPr>
                        <a:t>Thiếu hợp đồng tương tự</a:t>
                      </a:r>
                    </a:p>
                  </a:txBody>
                  <a:tcPr marL="76200" marR="76200" marT="38100" marB="38100" anchor="ctr">
                    <a:solidFill>
                      <a:srgbClr val="FFFFFF"/>
                    </a:solidFill>
                  </a:tcPr>
                </a:tc>
                <a:tc>
                  <a:txBody>
                    <a:bodyPr/>
                    <a:lstStyle/>
                    <a:p>
                      <a:r>
                        <a:rPr sz="825">
                          <a:solidFill>
                            <a:srgbClr val="1B1B1B"/>
                          </a:solidFill>
                          <a:latin typeface="Arial"/>
                          <a:ea typeface="Arial"/>
                          <a:cs typeface="Arial"/>
                        </a:rPr>
                        <a:t>Phải xem đã kê khai và quy định áp dụng</a:t>
                      </a:r>
                    </a:p>
                  </a:txBody>
                  <a:tcPr marL="76200" marR="76200" marT="38100" marB="38100" anchor="ctr">
                    <a:solidFill>
                      <a:srgbClr val="FFFFFF"/>
                    </a:solidFill>
                  </a:tcPr>
                </a:tc>
                <a:extLst>
                  <a:ext uri="{0D108BD9-81ED-4DB2-BD59-A6C34878D82A}">
                    <a16:rowId xmlns:a16="http://schemas.microsoft.com/office/drawing/2014/main" val="10003"/>
                  </a:ext>
                </a:extLst>
              </a:tr>
              <a:tr h="432955">
                <a:tc>
                  <a:txBody>
                    <a:bodyPr/>
                    <a:lstStyle/>
                    <a:p>
                      <a:r>
                        <a:rPr sz="825">
                          <a:solidFill>
                            <a:srgbClr val="1B1B1B"/>
                          </a:solidFill>
                          <a:latin typeface="Arial"/>
                          <a:ea typeface="Arial"/>
                          <a:cs typeface="Arial"/>
                        </a:rPr>
                        <a:t>Hợp đồng tương tự kê khai không đạt</a:t>
                      </a:r>
                    </a:p>
                  </a:txBody>
                  <a:tcPr marL="76200" marR="76200" marT="38100" marB="38100" anchor="ctr">
                    <a:solidFill>
                      <a:srgbClr val="F5F5F5"/>
                    </a:solidFill>
                  </a:tcPr>
                </a:tc>
                <a:tc>
                  <a:txBody>
                    <a:bodyPr/>
                    <a:lstStyle/>
                    <a:p>
                      <a:r>
                        <a:rPr sz="825">
                          <a:solidFill>
                            <a:srgbClr val="1B1B1B"/>
                          </a:solidFill>
                          <a:latin typeface="Arial"/>
                          <a:ea typeface="Arial"/>
                          <a:cs typeface="Arial"/>
                        </a:rPr>
                        <a:t>Không biến thành hợp đồng mới sau đóng thầu</a:t>
                      </a:r>
                    </a:p>
                  </a:txBody>
                  <a:tcPr marL="76200" marR="76200" marT="38100" marB="38100" anchor="ctr">
                    <a:solidFill>
                      <a:srgbClr val="F5F5F5"/>
                    </a:solidFill>
                  </a:tcPr>
                </a:tc>
                <a:extLst>
                  <a:ext uri="{0D108BD9-81ED-4DB2-BD59-A6C34878D82A}">
                    <a16:rowId xmlns:a16="http://schemas.microsoft.com/office/drawing/2014/main" val="10004"/>
                  </a:ext>
                </a:extLst>
              </a:tr>
              <a:tr h="432955">
                <a:tc>
                  <a:txBody>
                    <a:bodyPr/>
                    <a:lstStyle/>
                    <a:p>
                      <a:r>
                        <a:rPr sz="825">
                          <a:solidFill>
                            <a:srgbClr val="1B1B1B"/>
                          </a:solidFill>
                          <a:latin typeface="Arial"/>
                          <a:ea typeface="Arial"/>
                          <a:cs typeface="Arial"/>
                        </a:rPr>
                        <a:t>Thiếu biên bản nghiệm thu</a:t>
                      </a:r>
                    </a:p>
                  </a:txBody>
                  <a:tcPr marL="76200" marR="76200" marT="38100" marB="38100" anchor="ctr">
                    <a:solidFill>
                      <a:srgbClr val="FFFFFF"/>
                    </a:solidFill>
                  </a:tcPr>
                </a:tc>
                <a:tc>
                  <a:txBody>
                    <a:bodyPr/>
                    <a:lstStyle/>
                    <a:p>
                      <a:r>
                        <a:rPr sz="825">
                          <a:solidFill>
                            <a:srgbClr val="1B1B1B"/>
                          </a:solidFill>
                          <a:latin typeface="Arial"/>
                          <a:ea typeface="Arial"/>
                          <a:cs typeface="Arial"/>
                        </a:rPr>
                        <a:t>Xem tài liệu thay thế được HSMT cho phép</a:t>
                      </a:r>
                    </a:p>
                  </a:txBody>
                  <a:tcPr marL="76200" marR="76200" marT="38100" marB="38100" anchor="ctr">
                    <a:solidFill>
                      <a:srgbClr val="FFFFFF"/>
                    </a:solidFill>
                  </a:tcPr>
                </a:tc>
                <a:extLst>
                  <a:ext uri="{0D108BD9-81ED-4DB2-BD59-A6C34878D82A}">
                    <a16:rowId xmlns:a16="http://schemas.microsoft.com/office/drawing/2014/main" val="10005"/>
                  </a:ext>
                </a:extLst>
              </a:tr>
              <a:tr h="432955">
                <a:tc>
                  <a:txBody>
                    <a:bodyPr/>
                    <a:lstStyle/>
                    <a:p>
                      <a:r>
                        <a:rPr sz="825">
                          <a:solidFill>
                            <a:srgbClr val="1B1B1B"/>
                          </a:solidFill>
                          <a:latin typeface="Arial"/>
                          <a:ea typeface="Arial"/>
                          <a:cs typeface="Arial"/>
                        </a:rPr>
                        <a:t>Thiếu catalogue</a:t>
                      </a:r>
                    </a:p>
                  </a:txBody>
                  <a:tcPr marL="76200" marR="76200" marT="38100" marB="38100" anchor="ctr">
                    <a:solidFill>
                      <a:srgbClr val="F5F5F5"/>
                    </a:solidFill>
                  </a:tcPr>
                </a:tc>
                <a:tc>
                  <a:txBody>
                    <a:bodyPr/>
                    <a:lstStyle/>
                    <a:p>
                      <a:r>
                        <a:rPr sz="825">
                          <a:solidFill>
                            <a:srgbClr val="1B1B1B"/>
                          </a:solidFill>
                          <a:latin typeface="Arial"/>
                          <a:ea typeface="Arial"/>
                          <a:cs typeface="Arial"/>
                        </a:rPr>
                        <a:t>Chỉ làm rõ nếu không đổi giải pháp</a:t>
                      </a:r>
                    </a:p>
                  </a:txBody>
                  <a:tcPr marL="76200" marR="76200" marT="38100" marB="38100" anchor="ctr">
                    <a:solidFill>
                      <a:srgbClr val="F5F5F5"/>
                    </a:solidFill>
                  </a:tcPr>
                </a:tc>
                <a:extLst>
                  <a:ext uri="{0D108BD9-81ED-4DB2-BD59-A6C34878D82A}">
                    <a16:rowId xmlns:a16="http://schemas.microsoft.com/office/drawing/2014/main" val="10006"/>
                  </a:ext>
                </a:extLst>
              </a:tr>
              <a:tr h="432955">
                <a:tc>
                  <a:txBody>
                    <a:bodyPr/>
                    <a:lstStyle/>
                    <a:p>
                      <a:r>
                        <a:rPr sz="825">
                          <a:solidFill>
                            <a:srgbClr val="1B1B1B"/>
                          </a:solidFill>
                          <a:latin typeface="Arial"/>
                          <a:ea typeface="Arial"/>
                          <a:cs typeface="Arial"/>
                        </a:rPr>
                        <a:t>Thiếu cam kết bảo hành</a:t>
                      </a:r>
                    </a:p>
                  </a:txBody>
                  <a:tcPr marL="76200" marR="76200" marT="38100" marB="38100" anchor="ctr">
                    <a:solidFill>
                      <a:srgbClr val="FFFFFF"/>
                    </a:solidFill>
                  </a:tcPr>
                </a:tc>
                <a:tc>
                  <a:txBody>
                    <a:bodyPr/>
                    <a:lstStyle/>
                    <a:p>
                      <a:r>
                        <a:rPr sz="825">
                          <a:solidFill>
                            <a:srgbClr val="1B1B1B"/>
                          </a:solidFill>
                          <a:latin typeface="Arial"/>
                          <a:ea typeface="Arial"/>
                          <a:cs typeface="Arial"/>
                        </a:rPr>
                        <a:t>Theo Mẫu/HSMT; không tự bổ sung cam kết cốt lõi</a:t>
                      </a:r>
                    </a:p>
                  </a:txBody>
                  <a:tcPr marL="76200" marR="76200" marT="38100" marB="38100" anchor="ctr">
                    <a:solidFill>
                      <a:srgbClr val="FFFFFF"/>
                    </a:solidFill>
                  </a:tcPr>
                </a:tc>
                <a:extLst>
                  <a:ext uri="{0D108BD9-81ED-4DB2-BD59-A6C34878D82A}">
                    <a16:rowId xmlns:a16="http://schemas.microsoft.com/office/drawing/2014/main" val="10007"/>
                  </a:ext>
                </a:extLst>
              </a:tr>
              <a:tr h="432955">
                <a:tc>
                  <a:txBody>
                    <a:bodyPr/>
                    <a:lstStyle/>
                    <a:p>
                      <a:r>
                        <a:rPr sz="825">
                          <a:solidFill>
                            <a:srgbClr val="1B1B1B"/>
                          </a:solidFill>
                          <a:latin typeface="Arial"/>
                          <a:ea typeface="Arial"/>
                          <a:cs typeface="Arial"/>
                        </a:rPr>
                        <a:t>Nhân sự không đáp ứng</a:t>
                      </a:r>
                    </a:p>
                  </a:txBody>
                  <a:tcPr marL="76200" marR="76200" marT="38100" marB="38100" anchor="ctr">
                    <a:solidFill>
                      <a:srgbClr val="F5F5F5"/>
                    </a:solidFill>
                  </a:tcPr>
                </a:tc>
                <a:tc>
                  <a:txBody>
                    <a:bodyPr/>
                    <a:lstStyle/>
                    <a:p>
                      <a:r>
                        <a:rPr sz="825">
                          <a:solidFill>
                            <a:srgbClr val="1B1B1B"/>
                          </a:solidFill>
                          <a:latin typeface="Arial"/>
                          <a:ea typeface="Arial"/>
                          <a:cs typeface="Arial"/>
                        </a:rPr>
                        <a:t>Viettel: thay một lần theo giới hạn; Luật: kiểm tra căn cứ /</a:t>
                      </a:r>
                    </a:p>
                  </a:txBody>
                  <a:tcPr marL="76200" marR="76200" marT="38100" marB="38100" anchor="ctr">
                    <a:solidFill>
                      <a:srgbClr val="F5F5F5"/>
                    </a:solidFill>
                  </a:tcPr>
                </a:tc>
                <a:extLst>
                  <a:ext uri="{0D108BD9-81ED-4DB2-BD59-A6C34878D82A}">
                    <a16:rowId xmlns:a16="http://schemas.microsoft.com/office/drawing/2014/main" val="10008"/>
                  </a:ext>
                </a:extLst>
              </a:tr>
              <a:tr h="432955">
                <a:tc>
                  <a:txBody>
                    <a:bodyPr/>
                    <a:lstStyle/>
                    <a:p>
                      <a:r>
                        <a:rPr sz="825">
                          <a:solidFill>
                            <a:srgbClr val="1B1B1B"/>
                          </a:solidFill>
                          <a:latin typeface="Arial"/>
                          <a:ea typeface="Arial"/>
                          <a:cs typeface="Arial"/>
                        </a:rPr>
                        <a:t>Thiết bị không đáp ứng</a:t>
                      </a:r>
                    </a:p>
                  </a:txBody>
                  <a:tcPr marL="76200" marR="76200" marT="38100" marB="38100" anchor="ctr">
                    <a:solidFill>
                      <a:srgbClr val="FFFFFF"/>
                    </a:solidFill>
                  </a:tcPr>
                </a:tc>
                <a:tc>
                  <a:txBody>
                    <a:bodyPr/>
                    <a:lstStyle/>
                    <a:p>
                      <a:r>
                        <a:rPr sz="825">
                          <a:solidFill>
                            <a:srgbClr val="1B1B1B"/>
                          </a:solidFill>
                          <a:latin typeface="Arial"/>
                          <a:ea typeface="Arial"/>
                          <a:cs typeface="Arial"/>
                        </a:rPr>
                        <a:t>Tương tự nhân sự, không đổi bản chất /</a:t>
                      </a:r>
                    </a:p>
                  </a:txBody>
                  <a:tcPr marL="76200" marR="76200" marT="38100" marB="38100" anchor="ctr">
                    <a:solidFill>
                      <a:srgbClr val="FFFFFF"/>
                    </a:solidFill>
                  </a:tcPr>
                </a:tc>
                <a:extLst>
                  <a:ext uri="{0D108BD9-81ED-4DB2-BD59-A6C34878D82A}">
                    <a16:rowId xmlns:a16="http://schemas.microsoft.com/office/drawing/2014/main" val="10009"/>
                  </a:ext>
                </a:extLst>
              </a:tr>
              <a:tr h="432955">
                <a:tc>
                  <a:txBody>
                    <a:bodyPr/>
                    <a:lstStyle/>
                    <a:p>
                      <a:r>
                        <a:rPr sz="825">
                          <a:solidFill>
                            <a:srgbClr val="1B1B1B"/>
                          </a:solidFill>
                          <a:latin typeface="Arial"/>
                          <a:ea typeface="Arial"/>
                          <a:cs typeface="Arial"/>
                        </a:rPr>
                        <a:t>Sai giá</a:t>
                      </a:r>
                    </a:p>
                  </a:txBody>
                  <a:tcPr marL="76200" marR="76200" marT="38100" marB="38100" anchor="ctr">
                    <a:solidFill>
                      <a:srgbClr val="F5F5F5"/>
                    </a:solidFill>
                  </a:tcPr>
                </a:tc>
                <a:tc>
                  <a:txBody>
                    <a:bodyPr/>
                    <a:lstStyle/>
                    <a:p>
                      <a:r>
                        <a:rPr sz="825">
                          <a:solidFill>
                            <a:srgbClr val="1B1B1B"/>
                          </a:solidFill>
                          <a:latin typeface="Arial"/>
                          <a:ea typeface="Arial"/>
                          <a:cs typeface="Arial"/>
                        </a:rPr>
                        <a:t>Không dùng làm rõ để chào giá mới</a:t>
                      </a:r>
                    </a:p>
                  </a:txBody>
                  <a:tcPr marL="76200" marR="76200" marT="38100" marB="38100" anchor="ctr">
                    <a:solidFill>
                      <a:srgbClr val="F5F5F5"/>
                    </a:solidFill>
                  </a:tcPr>
                </a:tc>
                <a:extLst>
                  <a:ext uri="{0D108BD9-81ED-4DB2-BD59-A6C34878D82A}">
                    <a16:rowId xmlns:a16="http://schemas.microsoft.com/office/drawing/2014/main" val="10010"/>
                  </a:ext>
                </a:extLst>
              </a:tr>
            </a:tbl>
          </a:graphicData>
        </a:graphic>
      </p:graphicFrame>
      <p:graphicFrame>
        <p:nvGraphicFramePr>
          <p:cNvPr id="12" name="Table 11"/>
          <p:cNvGraphicFramePr/>
          <p:nvPr/>
        </p:nvGraphicFramePr>
        <p:xfrm>
          <a:off x="6191250" y="1190625"/>
          <a:ext cx="5572125" cy="4762505"/>
        </p:xfrm>
        <a:graphic>
          <a:graphicData uri="http://schemas.openxmlformats.org/drawingml/2006/table">
            <a:tbl>
              <a:tblPr firstRow="1"/>
              <a:tblGrid>
                <a:gridCol w="1809750">
                  <a:extLst>
                    <a:ext uri="{9D8B030D-6E8A-4147-A177-3AD203B41FA5}">
                      <a16:colId xmlns:a16="http://schemas.microsoft.com/office/drawing/2014/main" val="20000"/>
                    </a:ext>
                  </a:extLst>
                </a:gridCol>
                <a:gridCol w="3762375">
                  <a:extLst>
                    <a:ext uri="{9D8B030D-6E8A-4147-A177-3AD203B41FA5}">
                      <a16:colId xmlns:a16="http://schemas.microsoft.com/office/drawing/2014/main" val="20001"/>
                    </a:ext>
                  </a:extLst>
                </a:gridCol>
              </a:tblGrid>
              <a:tr h="432955">
                <a:tc>
                  <a:txBody>
                    <a:bodyPr/>
                    <a:lstStyle/>
                    <a:p>
                      <a:r>
                        <a:rPr sz="975" b="1">
                          <a:solidFill>
                            <a:srgbClr val="FFFFFF"/>
                          </a:solidFill>
                          <a:latin typeface="Arial"/>
                          <a:ea typeface="Arial"/>
                          <a:cs typeface="Arial"/>
                        </a:rPr>
                        <a:t>Tình huống</a:t>
                      </a:r>
                    </a:p>
                  </a:txBody>
                  <a:tcPr marL="76200" marR="76200" marT="47625" marB="47625" anchor="ctr">
                    <a:solidFill>
                      <a:srgbClr val="E6002D"/>
                    </a:solidFill>
                  </a:tcPr>
                </a:tc>
                <a:tc>
                  <a:txBody>
                    <a:bodyPr/>
                    <a:lstStyle/>
                    <a:p>
                      <a:r>
                        <a:rPr sz="975" b="1">
                          <a:solidFill>
                            <a:srgbClr val="FFFFFF"/>
                          </a:solidFill>
                          <a:latin typeface="Arial"/>
                          <a:ea typeface="Arial"/>
                          <a:cs typeface="Arial"/>
                        </a:rPr>
                        <a:t>Hướng xử lý storyboard</a:t>
                      </a:r>
                    </a:p>
                  </a:txBody>
                  <a:tcPr marL="76200" marR="76200" marT="47625" marB="47625" anchor="ctr">
                    <a:solidFill>
                      <a:srgbClr val="E6002D"/>
                    </a:solidFill>
                  </a:tcPr>
                </a:tc>
                <a:extLst>
                  <a:ext uri="{0D108BD9-81ED-4DB2-BD59-A6C34878D82A}">
                    <a16:rowId xmlns:a16="http://schemas.microsoft.com/office/drawing/2014/main" val="10000"/>
                  </a:ext>
                </a:extLst>
              </a:tr>
              <a:tr h="432955">
                <a:tc>
                  <a:txBody>
                    <a:bodyPr/>
                    <a:lstStyle/>
                    <a:p>
                      <a:r>
                        <a:rPr sz="825">
                          <a:solidFill>
                            <a:srgbClr val="1B1B1B"/>
                          </a:solidFill>
                          <a:latin typeface="Arial"/>
                          <a:ea typeface="Arial"/>
                          <a:cs typeface="Arial"/>
                        </a:rPr>
                        <a:t>Thay hàng hóa</a:t>
                      </a:r>
                    </a:p>
                  </a:txBody>
                  <a:tcPr marL="76200" marR="76200" marT="38100" marB="38100" anchor="ctr">
                    <a:solidFill>
                      <a:srgbClr val="FFFFFF"/>
                    </a:solidFill>
                  </a:tcPr>
                </a:tc>
                <a:tc>
                  <a:txBody>
                    <a:bodyPr/>
                    <a:lstStyle/>
                    <a:p>
                      <a:r>
                        <a:rPr sz="825">
                          <a:solidFill>
                            <a:srgbClr val="1B1B1B"/>
                          </a:solidFill>
                          <a:latin typeface="Arial"/>
                          <a:ea typeface="Arial"/>
                          <a:cs typeface="Arial"/>
                        </a:rPr>
                        <a:t>Chỉ theo phương án thay thế được HSMT cho phép</a:t>
                      </a:r>
                    </a:p>
                  </a:txBody>
                  <a:tcPr marL="76200" marR="76200" marT="38100" marB="38100" anchor="ctr">
                    <a:solidFill>
                      <a:srgbClr val="FFFFFF"/>
                    </a:solidFill>
                  </a:tcPr>
                </a:tc>
                <a:extLst>
                  <a:ext uri="{0D108BD9-81ED-4DB2-BD59-A6C34878D82A}">
                    <a16:rowId xmlns:a16="http://schemas.microsoft.com/office/drawing/2014/main" val="10001"/>
                  </a:ext>
                </a:extLst>
              </a:tr>
              <a:tr h="432955">
                <a:tc>
                  <a:txBody>
                    <a:bodyPr/>
                    <a:lstStyle/>
                    <a:p>
                      <a:r>
                        <a:rPr sz="825">
                          <a:solidFill>
                            <a:srgbClr val="1B1B1B"/>
                          </a:solidFill>
                          <a:latin typeface="Arial"/>
                          <a:ea typeface="Arial"/>
                          <a:cs typeface="Arial"/>
                        </a:rPr>
                        <a:t>Thay giải pháp kỹ thuật</a:t>
                      </a:r>
                    </a:p>
                  </a:txBody>
                  <a:tcPr marL="76200" marR="76200" marT="38100" marB="38100" anchor="ctr">
                    <a:solidFill>
                      <a:srgbClr val="F5F5F5"/>
                    </a:solidFill>
                  </a:tcPr>
                </a:tc>
                <a:tc>
                  <a:txBody>
                    <a:bodyPr/>
                    <a:lstStyle/>
                    <a:p>
                      <a:r>
                        <a:rPr sz="825">
                          <a:solidFill>
                            <a:srgbClr val="1B1B1B"/>
                          </a:solidFill>
                          <a:latin typeface="Arial"/>
                          <a:ea typeface="Arial"/>
                          <a:cs typeface="Arial"/>
                        </a:rPr>
                        <a:t>Không nếu làm đổi bản chất chào thầu</a:t>
                      </a:r>
                    </a:p>
                  </a:txBody>
                  <a:tcPr marL="76200" marR="76200" marT="38100" marB="38100" anchor="ctr">
                    <a:solidFill>
                      <a:srgbClr val="F5F5F5"/>
                    </a:solidFill>
                  </a:tcPr>
                </a:tc>
                <a:extLst>
                  <a:ext uri="{0D108BD9-81ED-4DB2-BD59-A6C34878D82A}">
                    <a16:rowId xmlns:a16="http://schemas.microsoft.com/office/drawing/2014/main" val="10002"/>
                  </a:ext>
                </a:extLst>
              </a:tr>
              <a:tr h="432955">
                <a:tc>
                  <a:txBody>
                    <a:bodyPr/>
                    <a:lstStyle/>
                    <a:p>
                      <a:r>
                        <a:rPr sz="825">
                          <a:solidFill>
                            <a:srgbClr val="1B1B1B"/>
                          </a:solidFill>
                          <a:latin typeface="Arial"/>
                          <a:ea typeface="Arial"/>
                          <a:cs typeface="Arial"/>
                        </a:rPr>
                        <a:t>Sai đơn dự thầu</a:t>
                      </a:r>
                    </a:p>
                  </a:txBody>
                  <a:tcPr marL="76200" marR="76200" marT="38100" marB="38100" anchor="ctr">
                    <a:solidFill>
                      <a:srgbClr val="FFFFFF"/>
                    </a:solidFill>
                  </a:tcPr>
                </a:tc>
                <a:tc>
                  <a:txBody>
                    <a:bodyPr/>
                    <a:lstStyle/>
                    <a:p>
                      <a:r>
                        <a:rPr sz="825">
                          <a:solidFill>
                            <a:srgbClr val="1B1B1B"/>
                          </a:solidFill>
                          <a:latin typeface="Arial"/>
                          <a:ea typeface="Arial"/>
                          <a:cs typeface="Arial"/>
                        </a:rPr>
                        <a:t>Kiểm tra nội dung Hệ thống trích xuất và căn cứ HSMT</a:t>
                      </a:r>
                    </a:p>
                  </a:txBody>
                  <a:tcPr marL="76200" marR="76200" marT="38100" marB="38100" anchor="ctr">
                    <a:solidFill>
                      <a:srgbClr val="FFFFFF"/>
                    </a:solidFill>
                  </a:tcPr>
                </a:tc>
                <a:extLst>
                  <a:ext uri="{0D108BD9-81ED-4DB2-BD59-A6C34878D82A}">
                    <a16:rowId xmlns:a16="http://schemas.microsoft.com/office/drawing/2014/main" val="10003"/>
                  </a:ext>
                </a:extLst>
              </a:tr>
              <a:tr h="432955">
                <a:tc>
                  <a:txBody>
                    <a:bodyPr/>
                    <a:lstStyle/>
                    <a:p>
                      <a:r>
                        <a:rPr sz="825">
                          <a:solidFill>
                            <a:srgbClr val="1B1B1B"/>
                          </a:solidFill>
                          <a:latin typeface="Arial"/>
                          <a:ea typeface="Arial"/>
                          <a:cs typeface="Arial"/>
                        </a:rPr>
                        <a:t>Sai hiệu lực HSDT</a:t>
                      </a:r>
                    </a:p>
                  </a:txBody>
                  <a:tcPr marL="76200" marR="76200" marT="38100" marB="38100" anchor="ctr">
                    <a:solidFill>
                      <a:srgbClr val="F5F5F5"/>
                    </a:solidFill>
                  </a:tcPr>
                </a:tc>
                <a:tc>
                  <a:txBody>
                    <a:bodyPr/>
                    <a:lstStyle/>
                    <a:p>
                      <a:r>
                        <a:rPr sz="825">
                          <a:solidFill>
                            <a:srgbClr val="1B1B1B"/>
                          </a:solidFill>
                          <a:latin typeface="Arial"/>
                          <a:ea typeface="Arial"/>
                          <a:cs typeface="Arial"/>
                        </a:rPr>
                        <a:t>Đánh giá theo E/A-BDL; thường là lỗi điều kiện</a:t>
                      </a:r>
                    </a:p>
                  </a:txBody>
                  <a:tcPr marL="76200" marR="76200" marT="38100" marB="38100" anchor="ctr">
                    <a:solidFill>
                      <a:srgbClr val="F5F5F5"/>
                    </a:solidFill>
                  </a:tcPr>
                </a:tc>
                <a:extLst>
                  <a:ext uri="{0D108BD9-81ED-4DB2-BD59-A6C34878D82A}">
                    <a16:rowId xmlns:a16="http://schemas.microsoft.com/office/drawing/2014/main" val="10004"/>
                  </a:ext>
                </a:extLst>
              </a:tr>
              <a:tr h="432955">
                <a:tc>
                  <a:txBody>
                    <a:bodyPr/>
                    <a:lstStyle/>
                    <a:p>
                      <a:r>
                        <a:rPr sz="825">
                          <a:solidFill>
                            <a:srgbClr val="1B1B1B"/>
                          </a:solidFill>
                          <a:latin typeface="Arial"/>
                          <a:ea typeface="Arial"/>
                          <a:cs typeface="Arial"/>
                        </a:rPr>
                        <a:t>Sai bảo đảm dự thầu</a:t>
                      </a:r>
                    </a:p>
                  </a:txBody>
                  <a:tcPr marL="76200" marR="76200" marT="38100" marB="38100" anchor="ctr">
                    <a:solidFill>
                      <a:srgbClr val="FFFFFF"/>
                    </a:solidFill>
                  </a:tcPr>
                </a:tc>
                <a:tc>
                  <a:txBody>
                    <a:bodyPr/>
                    <a:lstStyle/>
                    <a:p>
                      <a:r>
                        <a:rPr sz="825">
                          <a:solidFill>
                            <a:srgbClr val="1B1B1B"/>
                          </a:solidFill>
                          <a:latin typeface="Arial"/>
                          <a:ea typeface="Arial"/>
                          <a:cs typeface="Arial"/>
                        </a:rPr>
                        <a:t>Giá trị/hiệu lực/thụ hưởng sai có nguy cơ loại</a:t>
                      </a:r>
                    </a:p>
                  </a:txBody>
                  <a:tcPr marL="76200" marR="76200" marT="38100" marB="38100" anchor="ctr">
                    <a:solidFill>
                      <a:srgbClr val="FFFFFF"/>
                    </a:solidFill>
                  </a:tcPr>
                </a:tc>
                <a:extLst>
                  <a:ext uri="{0D108BD9-81ED-4DB2-BD59-A6C34878D82A}">
                    <a16:rowId xmlns:a16="http://schemas.microsoft.com/office/drawing/2014/main" val="10005"/>
                  </a:ext>
                </a:extLst>
              </a:tr>
              <a:tr h="432955">
                <a:tc>
                  <a:txBody>
                    <a:bodyPr/>
                    <a:lstStyle/>
                    <a:p>
                      <a:r>
                        <a:rPr sz="825">
                          <a:solidFill>
                            <a:srgbClr val="1B1B1B"/>
                          </a:solidFill>
                          <a:latin typeface="Arial"/>
                          <a:ea typeface="Arial"/>
                          <a:cs typeface="Arial"/>
                        </a:rPr>
                        <a:t>Thiếu ủy quyền</a:t>
                      </a:r>
                    </a:p>
                  </a:txBody>
                  <a:tcPr marL="76200" marR="76200" marT="38100" marB="38100" anchor="ctr">
                    <a:solidFill>
                      <a:srgbClr val="F5F5F5"/>
                    </a:solidFill>
                  </a:tcPr>
                </a:tc>
                <a:tc>
                  <a:txBody>
                    <a:bodyPr/>
                    <a:lstStyle/>
                    <a:p>
                      <a:r>
                        <a:rPr sz="825">
                          <a:solidFill>
                            <a:srgbClr val="1B1B1B"/>
                          </a:solidFill>
                          <a:latin typeface="Arial"/>
                          <a:ea typeface="Arial"/>
                          <a:cs typeface="Arial"/>
                        </a:rPr>
                        <a:t>Có thể đối chiếu nếu tư cách đã kê khai</a:t>
                      </a:r>
                    </a:p>
                  </a:txBody>
                  <a:tcPr marL="76200" marR="76200" marT="38100" marB="38100" anchor="ctr">
                    <a:solidFill>
                      <a:srgbClr val="F5F5F5"/>
                    </a:solidFill>
                  </a:tcPr>
                </a:tc>
                <a:extLst>
                  <a:ext uri="{0D108BD9-81ED-4DB2-BD59-A6C34878D82A}">
                    <a16:rowId xmlns:a16="http://schemas.microsoft.com/office/drawing/2014/main" val="10006"/>
                  </a:ext>
                </a:extLst>
              </a:tr>
              <a:tr h="432955">
                <a:tc>
                  <a:txBody>
                    <a:bodyPr/>
                    <a:lstStyle/>
                    <a:p>
                      <a:r>
                        <a:rPr sz="825">
                          <a:solidFill>
                            <a:srgbClr val="1B1B1B"/>
                          </a:solidFill>
                          <a:latin typeface="Arial"/>
                          <a:ea typeface="Arial"/>
                          <a:cs typeface="Arial"/>
                        </a:rPr>
                        <a:t>Sai phạm vi liên danh</a:t>
                      </a:r>
                    </a:p>
                  </a:txBody>
                  <a:tcPr marL="76200" marR="76200" marT="38100" marB="38100" anchor="ctr">
                    <a:solidFill>
                      <a:srgbClr val="FFFFFF"/>
                    </a:solidFill>
                  </a:tcPr>
                </a:tc>
                <a:tc>
                  <a:txBody>
                    <a:bodyPr/>
                    <a:lstStyle/>
                    <a:p>
                      <a:r>
                        <a:rPr sz="825">
                          <a:solidFill>
                            <a:srgbClr val="1B1B1B"/>
                          </a:solidFill>
                          <a:latin typeface="Arial"/>
                          <a:ea typeface="Arial"/>
                          <a:cs typeface="Arial"/>
                        </a:rPr>
                        <a:t>Không sửa để tạo liên danh mới sau đóng thầu</a:t>
                      </a:r>
                    </a:p>
                  </a:txBody>
                  <a:tcPr marL="76200" marR="76200" marT="38100" marB="38100" anchor="ctr">
                    <a:solidFill>
                      <a:srgbClr val="FFFFFF"/>
                    </a:solidFill>
                  </a:tcPr>
                </a:tc>
                <a:extLst>
                  <a:ext uri="{0D108BD9-81ED-4DB2-BD59-A6C34878D82A}">
                    <a16:rowId xmlns:a16="http://schemas.microsoft.com/office/drawing/2014/main" val="10007"/>
                  </a:ext>
                </a:extLst>
              </a:tr>
              <a:tr h="432955">
                <a:tc>
                  <a:txBody>
                    <a:bodyPr/>
                    <a:lstStyle/>
                    <a:p>
                      <a:r>
                        <a:rPr sz="825">
                          <a:solidFill>
                            <a:srgbClr val="1B1B1B"/>
                          </a:solidFill>
                          <a:latin typeface="Arial"/>
                          <a:ea typeface="Arial"/>
                          <a:cs typeface="Arial"/>
                        </a:rPr>
                        <a:t>Thiếu giấy phép chuyên ngành</a:t>
                      </a:r>
                    </a:p>
                  </a:txBody>
                  <a:tcPr marL="76200" marR="76200" marT="38100" marB="38100" anchor="ctr">
                    <a:solidFill>
                      <a:srgbClr val="F5F5F5"/>
                    </a:solidFill>
                  </a:tcPr>
                </a:tc>
                <a:tc>
                  <a:txBody>
                    <a:bodyPr/>
                    <a:lstStyle/>
                    <a:p>
                      <a:r>
                        <a:rPr sz="825">
                          <a:solidFill>
                            <a:srgbClr val="1B1B1B"/>
                          </a:solidFill>
                          <a:latin typeface="Arial"/>
                          <a:ea typeface="Arial"/>
                          <a:cs typeface="Arial"/>
                        </a:rPr>
                        <a:t>Xem bản chất giấy phép và thời điểm tồn tại</a:t>
                      </a:r>
                    </a:p>
                  </a:txBody>
                  <a:tcPr marL="76200" marR="76200" marT="38100" marB="38100" anchor="ctr">
                    <a:solidFill>
                      <a:srgbClr val="F5F5F5"/>
                    </a:solidFill>
                  </a:tcPr>
                </a:tc>
                <a:extLst>
                  <a:ext uri="{0D108BD9-81ED-4DB2-BD59-A6C34878D82A}">
                    <a16:rowId xmlns:a16="http://schemas.microsoft.com/office/drawing/2014/main" val="10008"/>
                  </a:ext>
                </a:extLst>
              </a:tr>
              <a:tr h="432955">
                <a:tc>
                  <a:txBody>
                    <a:bodyPr/>
                    <a:lstStyle/>
                    <a:p>
                      <a:r>
                        <a:rPr sz="825">
                          <a:solidFill>
                            <a:srgbClr val="1B1B1B"/>
                          </a:solidFill>
                          <a:latin typeface="Arial"/>
                          <a:ea typeface="Arial"/>
                          <a:cs typeface="Arial"/>
                        </a:rPr>
                        <a:t>Thiếu chứng nhận ISO</a:t>
                      </a:r>
                    </a:p>
                  </a:txBody>
                  <a:tcPr marL="76200" marR="76200" marT="38100" marB="38100" anchor="ctr">
                    <a:solidFill>
                      <a:srgbClr val="FFFFFF"/>
                    </a:solidFill>
                  </a:tcPr>
                </a:tc>
                <a:tc>
                  <a:txBody>
                    <a:bodyPr/>
                    <a:lstStyle/>
                    <a:p>
                      <a:r>
                        <a:rPr sz="825">
                          <a:solidFill>
                            <a:srgbClr val="1B1B1B"/>
                          </a:solidFill>
                          <a:latin typeface="Arial"/>
                          <a:ea typeface="Arial"/>
                          <a:cs typeface="Arial"/>
                        </a:rPr>
                        <a:t>Không tự tạo năng lực sau đóng thầu</a:t>
                      </a:r>
                    </a:p>
                  </a:txBody>
                  <a:tcPr marL="76200" marR="76200" marT="38100" marB="38100" anchor="ctr">
                    <a:solidFill>
                      <a:srgbClr val="FFFFFF"/>
                    </a:solidFill>
                  </a:tcPr>
                </a:tc>
                <a:extLst>
                  <a:ext uri="{0D108BD9-81ED-4DB2-BD59-A6C34878D82A}">
                    <a16:rowId xmlns:a16="http://schemas.microsoft.com/office/drawing/2014/main" val="10009"/>
                  </a:ext>
                </a:extLst>
              </a:tr>
              <a:tr h="432955">
                <a:tc>
                  <a:txBody>
                    <a:bodyPr/>
                    <a:lstStyle/>
                    <a:p>
                      <a:r>
                        <a:rPr sz="825">
                          <a:solidFill>
                            <a:srgbClr val="1B1B1B"/>
                          </a:solidFill>
                          <a:latin typeface="Arial"/>
                          <a:ea typeface="Arial"/>
                          <a:cs typeface="Arial"/>
                        </a:rPr>
                        <a:t>File lỗi/mật khẩu sai</a:t>
                      </a:r>
                    </a:p>
                  </a:txBody>
                  <a:tcPr marL="76200" marR="76200" marT="38100" marB="38100" anchor="ctr">
                    <a:solidFill>
                      <a:srgbClr val="F5F5F5"/>
                    </a:solidFill>
                  </a:tcPr>
                </a:tc>
                <a:tc>
                  <a:txBody>
                    <a:bodyPr/>
                    <a:lstStyle/>
                    <a:p>
                      <a:r>
                        <a:rPr sz="825">
                          <a:solidFill>
                            <a:srgbClr val="1B1B1B"/>
                          </a:solidFill>
                          <a:latin typeface="Arial"/>
                          <a:ea typeface="Arial"/>
                          <a:cs typeface="Arial"/>
                        </a:rPr>
                        <a:t>Theo thời điểm mở và HSMT; có thể không hợp lệ</a:t>
                      </a:r>
                    </a:p>
                  </a:txBody>
                  <a:tcPr marL="76200" marR="76200" marT="38100" marB="38100" anchor="ctr">
                    <a:solidFill>
                      <a:srgbClr val="F5F5F5"/>
                    </a:solidFill>
                  </a:tcPr>
                </a:tc>
                <a:extLst>
                  <a:ext uri="{0D108BD9-81ED-4DB2-BD59-A6C34878D82A}">
                    <a16:rowId xmlns:a16="http://schemas.microsoft.com/office/drawing/2014/main" val="10010"/>
                  </a:ext>
                </a:extLst>
              </a:tr>
            </a:tbl>
          </a:graphicData>
        </a:graphic>
      </p:graphicFrame>
      <p:sp>
        <p:nvSpPr>
          <p:cNvPr id="4" name="Rectangle 3">
            <a:extLst>
              <a:ext uri="{FF2B5EF4-FFF2-40B4-BE49-F238E27FC236}">
                <a16:creationId xmlns:a16="http://schemas.microsoft.com/office/drawing/2014/main" id="{6BD92FBF-AD32-45E2-872A-B7FF8838BA83}"/>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5" name="Rectangle: Rounded Corners 4">
            <a:extLst>
              <a:ext uri="{FF2B5EF4-FFF2-40B4-BE49-F238E27FC236}">
                <a16:creationId xmlns:a16="http://schemas.microsoft.com/office/drawing/2014/main" id="{AFE4A5E6-C024-4D6A-BD39-6663C7F9ECF3}"/>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6" name="Rectangle 5">
            <a:extLst>
              <a:ext uri="{FF2B5EF4-FFF2-40B4-BE49-F238E27FC236}">
                <a16:creationId xmlns:a16="http://schemas.microsoft.com/office/drawing/2014/main" id="{46AC79C9-BC47-47D4-8CAD-2922DCB5B5D1}"/>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56</a:t>
            </a:r>
          </a:p>
        </p:txBody>
      </p:sp>
      <p:sp>
        <p:nvSpPr>
          <p:cNvPr id="7" name="Rectangle 6">
            <a:extLst>
              <a:ext uri="{FF2B5EF4-FFF2-40B4-BE49-F238E27FC236}">
                <a16:creationId xmlns:a16="http://schemas.microsoft.com/office/drawing/2014/main" id="{5B26240F-0282-4427-90F4-CA50B06A2131}"/>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Rectangle 7">
            <a:extLst>
              <a:ext uri="{FF2B5EF4-FFF2-40B4-BE49-F238E27FC236}">
                <a16:creationId xmlns:a16="http://schemas.microsoft.com/office/drawing/2014/main" id="{B9961E2F-46DC-4E16-856E-8336364582AD}"/>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 LÀM RÕ VÀ THƯƠNG THẢO</a:t>
            </a:r>
          </a:p>
        </p:txBody>
      </p:sp>
      <p:sp>
        <p:nvSpPr>
          <p:cNvPr id="9" name="Rectangle 8">
            <a:extLst>
              <a:ext uri="{FF2B5EF4-FFF2-40B4-BE49-F238E27FC236}">
                <a16:creationId xmlns:a16="http://schemas.microsoft.com/office/drawing/2014/main" id="{DE1EA2C4-CFAB-476A-87FB-B251C3D4FBA0}"/>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16, 58-61 Luật; Mục 18, 27, 29-30 HSMT Cần Thơ/101; VBHN 36/2026.</a:t>
            </a:r>
          </a:p>
        </p:txBody>
      </p:sp>
    </p:spTree>
    <p:extLst>
      <p:ext uri="{BB962C8B-B14F-4D97-AF65-F5344CB8AC3E}">
        <p14:creationId xmlns:p14="http://schemas.microsoft.com/office/powerpoint/2010/main" val="4775583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D7FE9548-7114-4A40-86F1-97A2AFB546B0}"/>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HÀNH VI BỊ CẤM VÀ RED FLAG HẠN CHẾ CẠNH TRANH</a:t>
            </a:r>
          </a:p>
        </p:txBody>
      </p:sp>
      <p:sp>
        <p:nvSpPr>
          <p:cNvPr id="2" name="Rectangle 1">
            <a:extLst>
              <a:ext uri="{FF2B5EF4-FFF2-40B4-BE49-F238E27FC236}">
                <a16:creationId xmlns:a16="http://schemas.microsoft.com/office/drawing/2014/main" id="{437B4F6A-729C-47B3-B6EC-7AA1E1E3EB16}"/>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Không trộn hai khái niệm.</a:t>
            </a:r>
          </a:p>
        </p:txBody>
      </p:sp>
      <p:sp>
        <p:nvSpPr>
          <p:cNvPr id="3" name="Rectangle 2">
            <a:extLst>
              <a:ext uri="{FF2B5EF4-FFF2-40B4-BE49-F238E27FC236}">
                <a16:creationId xmlns:a16="http://schemas.microsoft.com/office/drawing/2014/main" id="{B1DD9BFB-C59B-413E-8F98-8D90742EED00}"/>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Hành vi bị cấm: hối lộ, thông thầu, gian lận, cản trở, không công bằng/minh bạch, tiết lộ bí mật, chuyển nhượng thầu.</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Red flag HSMT: điều kiện có thể hạn chế nhà thầu, cần kiểm tra căn cứ và sự cần thiết.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Một red flag chưa đủ để kết luận vi phạm.</a:t>
            </a:r>
          </a:p>
        </p:txBody>
      </p:sp>
      <p:sp>
        <p:nvSpPr>
          <p:cNvPr id="4" name="Rectangle 3">
            <a:extLst>
              <a:ext uri="{FF2B5EF4-FFF2-40B4-BE49-F238E27FC236}">
                <a16:creationId xmlns:a16="http://schemas.microsoft.com/office/drawing/2014/main" id="{258E9810-91D2-457E-B105-9B7CF5D9858F}"/>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B1F8E695-2E7A-4533-9AB2-B500B46E8C6E}"/>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C5571F7C-900C-44B7-8F8E-523F2E78A2A5}"/>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Hành vi bị cấm: hối lộ, thông thầu, gian lận, cản trở, không công …</a:t>
            </a:r>
          </a:p>
        </p:txBody>
      </p:sp>
      <p:sp>
        <p:nvSpPr>
          <p:cNvPr id="7" name="Rectangle 6">
            <a:extLst>
              <a:ext uri="{FF2B5EF4-FFF2-40B4-BE49-F238E27FC236}">
                <a16:creationId xmlns:a16="http://schemas.microsoft.com/office/drawing/2014/main" id="{C0D587A3-8296-4D49-BC97-E7E354761605}"/>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E27886B0-246E-4A8B-9BBB-42F8E09E4E30}"/>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Red flag HSMT: điều kiện có thể hạn chế nhà thầu, cần kiểm tra căn…</a:t>
            </a:r>
          </a:p>
        </p:txBody>
      </p:sp>
      <p:sp>
        <p:nvSpPr>
          <p:cNvPr id="9" name="Rectangle 8">
            <a:extLst>
              <a:ext uri="{FF2B5EF4-FFF2-40B4-BE49-F238E27FC236}">
                <a16:creationId xmlns:a16="http://schemas.microsoft.com/office/drawing/2014/main" id="{FD2D88D3-0FCA-4D4D-9967-5DFB65680987}"/>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C292DD96-5351-46EA-91F1-BC16DE1B35F0}"/>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Một red flag chưa đủ để kết luận vi phạm.</a:t>
            </a:r>
          </a:p>
        </p:txBody>
      </p:sp>
      <p:sp>
        <p:nvSpPr>
          <p:cNvPr id="11" name="Rectangle 10">
            <a:extLst>
              <a:ext uri="{FF2B5EF4-FFF2-40B4-BE49-F238E27FC236}">
                <a16:creationId xmlns:a16="http://schemas.microsoft.com/office/drawing/2014/main" id="{D982DE80-8CEC-4FDF-82A3-94D51968F728}"/>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CB959AE2-F7F9-406E-871B-5D5B94C2D3BD}"/>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FC16BEF3-E4C3-4C08-BEF5-FCC92B244378}"/>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57</a:t>
            </a:r>
          </a:p>
        </p:txBody>
      </p:sp>
      <p:sp>
        <p:nvSpPr>
          <p:cNvPr id="14" name="Rectangle 13">
            <a:extLst>
              <a:ext uri="{FF2B5EF4-FFF2-40B4-BE49-F238E27FC236}">
                <a16:creationId xmlns:a16="http://schemas.microsoft.com/office/drawing/2014/main" id="{B08DBA91-B9FE-4482-B113-13F48A103DCA}"/>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72E0C94B-32D6-4401-BB46-47D1950E447F}"/>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6" name="Rectangle 15">
            <a:extLst>
              <a:ext uri="{FF2B5EF4-FFF2-40B4-BE49-F238E27FC236}">
                <a16:creationId xmlns:a16="http://schemas.microsoft.com/office/drawing/2014/main" id="{C35157A4-9FCC-4807-9D7C-0F113E0E6B40}"/>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9 Quy chế 2486.</a:t>
            </a:r>
          </a:p>
        </p:txBody>
      </p:sp>
    </p:spTree>
    <p:extLst>
      <p:ext uri="{BB962C8B-B14F-4D97-AF65-F5344CB8AC3E}">
        <p14:creationId xmlns:p14="http://schemas.microsoft.com/office/powerpoint/2010/main" val="9323888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F6A1BB08-8174-4933-962B-DB3856D4BC6F}"/>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CÁC DẠNG ĐIỀU KIỆN CẦN RÀ SOÁT</a:t>
            </a:r>
          </a:p>
        </p:txBody>
      </p:sp>
      <p:sp>
        <p:nvSpPr>
          <p:cNvPr id="2" name="Rectangle 1">
            <a:extLst>
              <a:ext uri="{FF2B5EF4-FFF2-40B4-BE49-F238E27FC236}">
                <a16:creationId xmlns:a16="http://schemas.microsoft.com/office/drawing/2014/main" id="{5287F398-2838-4B19-97BC-20F3F5E8BAAB}"/>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Có danh mục sàng lọc trước khi kết luận.</a:t>
            </a:r>
          </a:p>
        </p:txBody>
      </p:sp>
      <p:sp>
        <p:nvSpPr>
          <p:cNvPr id="3" name="Rectangle 2">
            <a:extLst>
              <a:ext uri="{FF2B5EF4-FFF2-40B4-BE49-F238E27FC236}">
                <a16:creationId xmlns:a16="http://schemas.microsoft.com/office/drawing/2014/main" id="{DD5FFDEC-394B-487D-8C17-FEB1429BE016}"/>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Nhãn hiệu/model/xuất xứ.</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Giấy ủy quyền, đại lý, văn phòng địa phương.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Hợp đồng tương tự quá đặc thù hoặc giá trị quá cao.</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Nhân sự, thiết bị, doanh thu, chứng chỉ không tương xứng scope.</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Tiêu chí định tính thiếu chuẩn đo lường.</a:t>
            </a:r>
          </a:p>
        </p:txBody>
      </p:sp>
      <p:sp>
        <p:nvSpPr>
          <p:cNvPr id="4" name="Rectangle 3">
            <a:extLst>
              <a:ext uri="{FF2B5EF4-FFF2-40B4-BE49-F238E27FC236}">
                <a16:creationId xmlns:a16="http://schemas.microsoft.com/office/drawing/2014/main" id="{181385AC-C957-4CA8-9B7B-A194D91F0647}"/>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B57E29AF-2D46-4F10-9CA0-2FE5785D6BF6}"/>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7D994049-A2B1-41B8-993B-D0AC555B8A1C}"/>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Nhãn hiệu/model/xuất xứ.</a:t>
            </a:r>
          </a:p>
        </p:txBody>
      </p:sp>
      <p:sp>
        <p:nvSpPr>
          <p:cNvPr id="7" name="Rectangle 6">
            <a:extLst>
              <a:ext uri="{FF2B5EF4-FFF2-40B4-BE49-F238E27FC236}">
                <a16:creationId xmlns:a16="http://schemas.microsoft.com/office/drawing/2014/main" id="{7D91E818-225F-44A5-9C7B-E8D67CB9AA13}"/>
              </a:ext>
            </a:extLst>
          </p:cNvPr>
          <p:cNvSpPr>
            <a:spLocks noGrp="1"/>
          </p:cNvSpPr>
          <p:nvPr/>
        </p:nvSpPr>
        <p:spPr>
          <a:xfrm>
            <a:off x="7734300" y="23336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3DDCD57D-F13A-4F50-8EE8-9896A1060EA6}"/>
              </a:ext>
            </a:extLst>
          </p:cNvPr>
          <p:cNvSpPr>
            <a:spLocks noGrp="1"/>
          </p:cNvSpPr>
          <p:nvPr/>
        </p:nvSpPr>
        <p:spPr>
          <a:xfrm>
            <a:off x="8343900" y="22955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Giấy ủy quyền, đại lý, văn phòng địa phương.</a:t>
            </a:r>
          </a:p>
        </p:txBody>
      </p:sp>
      <p:sp>
        <p:nvSpPr>
          <p:cNvPr id="9" name="Rectangle 8">
            <a:extLst>
              <a:ext uri="{FF2B5EF4-FFF2-40B4-BE49-F238E27FC236}">
                <a16:creationId xmlns:a16="http://schemas.microsoft.com/office/drawing/2014/main" id="{A88A39B6-22F7-4151-9498-68B1B34A59FB}"/>
              </a:ext>
            </a:extLst>
          </p:cNvPr>
          <p:cNvSpPr>
            <a:spLocks noGrp="1"/>
          </p:cNvSpPr>
          <p:nvPr/>
        </p:nvSpPr>
        <p:spPr>
          <a:xfrm>
            <a:off x="7734300" y="31146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4BA0AD7F-0243-4704-A714-A4B42BED1893}"/>
              </a:ext>
            </a:extLst>
          </p:cNvPr>
          <p:cNvSpPr>
            <a:spLocks noGrp="1"/>
          </p:cNvSpPr>
          <p:nvPr/>
        </p:nvSpPr>
        <p:spPr>
          <a:xfrm>
            <a:off x="8343900" y="30765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Hợp đồng tương tự quá đặc thù hoặc giá trị quá cao.</a:t>
            </a:r>
          </a:p>
        </p:txBody>
      </p:sp>
      <p:sp>
        <p:nvSpPr>
          <p:cNvPr id="11" name="Rectangle 10">
            <a:extLst>
              <a:ext uri="{FF2B5EF4-FFF2-40B4-BE49-F238E27FC236}">
                <a16:creationId xmlns:a16="http://schemas.microsoft.com/office/drawing/2014/main" id="{83A7A131-F113-4D8E-919F-1390072D8BDB}"/>
              </a:ext>
            </a:extLst>
          </p:cNvPr>
          <p:cNvSpPr>
            <a:spLocks noGrp="1"/>
          </p:cNvSpPr>
          <p:nvPr/>
        </p:nvSpPr>
        <p:spPr>
          <a:xfrm>
            <a:off x="7734300" y="38957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283D207A-B26C-4CFE-B81A-28C0F6420290}"/>
              </a:ext>
            </a:extLst>
          </p:cNvPr>
          <p:cNvSpPr>
            <a:spLocks noGrp="1"/>
          </p:cNvSpPr>
          <p:nvPr/>
        </p:nvSpPr>
        <p:spPr>
          <a:xfrm>
            <a:off x="8343900" y="38576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Nhân sự, thiết bị, doanh thu, chứng chỉ không tương xứng scope.</a:t>
            </a:r>
          </a:p>
        </p:txBody>
      </p:sp>
      <p:sp>
        <p:nvSpPr>
          <p:cNvPr id="13" name="Rectangle 12">
            <a:extLst>
              <a:ext uri="{FF2B5EF4-FFF2-40B4-BE49-F238E27FC236}">
                <a16:creationId xmlns:a16="http://schemas.microsoft.com/office/drawing/2014/main" id="{28BE0053-390D-4731-8227-EB55EF27B10F}"/>
              </a:ext>
            </a:extLst>
          </p:cNvPr>
          <p:cNvSpPr>
            <a:spLocks noGrp="1"/>
          </p:cNvSpPr>
          <p:nvPr/>
        </p:nvSpPr>
        <p:spPr>
          <a:xfrm>
            <a:off x="7734300" y="46767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05</a:t>
            </a:r>
          </a:p>
        </p:txBody>
      </p:sp>
      <p:sp>
        <p:nvSpPr>
          <p:cNvPr id="14" name="Rectangle 13">
            <a:extLst>
              <a:ext uri="{FF2B5EF4-FFF2-40B4-BE49-F238E27FC236}">
                <a16:creationId xmlns:a16="http://schemas.microsoft.com/office/drawing/2014/main" id="{8759DD1B-A0F5-42AF-80E3-883E2EF92133}"/>
              </a:ext>
            </a:extLst>
          </p:cNvPr>
          <p:cNvSpPr>
            <a:spLocks noGrp="1"/>
          </p:cNvSpPr>
          <p:nvPr/>
        </p:nvSpPr>
        <p:spPr>
          <a:xfrm>
            <a:off x="8343900" y="46386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Tiêu chí định tính thiếu chuẩn đo lường.</a:t>
            </a:r>
          </a:p>
        </p:txBody>
      </p:sp>
      <p:sp>
        <p:nvSpPr>
          <p:cNvPr id="15" name="Rectangle 14">
            <a:extLst>
              <a:ext uri="{FF2B5EF4-FFF2-40B4-BE49-F238E27FC236}">
                <a16:creationId xmlns:a16="http://schemas.microsoft.com/office/drawing/2014/main" id="{55017FC4-3C9F-488A-8CC5-92DF5ACE9F5A}"/>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6" name="Rectangle: Rounded Corners 15">
            <a:extLst>
              <a:ext uri="{FF2B5EF4-FFF2-40B4-BE49-F238E27FC236}">
                <a16:creationId xmlns:a16="http://schemas.microsoft.com/office/drawing/2014/main" id="{17D31CD2-20D7-4A39-8E30-8E142BE03CD6}"/>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7" name="Rectangle 16">
            <a:extLst>
              <a:ext uri="{FF2B5EF4-FFF2-40B4-BE49-F238E27FC236}">
                <a16:creationId xmlns:a16="http://schemas.microsoft.com/office/drawing/2014/main" id="{3075BDC1-C2DA-4F2B-BF7F-ED3473419B84}"/>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58</a:t>
            </a:r>
          </a:p>
        </p:txBody>
      </p:sp>
      <p:sp>
        <p:nvSpPr>
          <p:cNvPr id="18" name="Rectangle 17">
            <a:extLst>
              <a:ext uri="{FF2B5EF4-FFF2-40B4-BE49-F238E27FC236}">
                <a16:creationId xmlns:a16="http://schemas.microsoft.com/office/drawing/2014/main" id="{A1EAA220-86A5-432A-B3B4-9AFE255B04BC}"/>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9" name="Rectangle 18">
            <a:extLst>
              <a:ext uri="{FF2B5EF4-FFF2-40B4-BE49-F238E27FC236}">
                <a16:creationId xmlns:a16="http://schemas.microsoft.com/office/drawing/2014/main" id="{055CFEBC-1D71-42FC-87C4-ECA6ECD7D9F9}"/>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20" name="Rectangle 19">
            <a:extLst>
              <a:ext uri="{FF2B5EF4-FFF2-40B4-BE49-F238E27FC236}">
                <a16:creationId xmlns:a16="http://schemas.microsoft.com/office/drawing/2014/main" id="{41426C8E-62EF-4534-9E34-59E0194FA6EB}"/>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Mục 3 và E-CDNT HSMT Cần Thơ; Điều 14 Quy chế 2486.</a:t>
            </a:r>
          </a:p>
        </p:txBody>
      </p:sp>
    </p:spTree>
    <p:extLst>
      <p:ext uri="{BB962C8B-B14F-4D97-AF65-F5344CB8AC3E}">
        <p14:creationId xmlns:p14="http://schemas.microsoft.com/office/powerpoint/2010/main" val="15520424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B4FA4FA2-6256-4EF1-AA0F-7854E6633971}"/>
              </a:ext>
            </a:extLst>
          </p:cNvPr>
          <p:cNvSpPr>
            <a:spLocks noGrp="1"/>
          </p:cNvSpPr>
          <p:nvPr/>
        </p:nvSpPr>
        <p:spPr>
          <a:xfrm>
            <a:off x="590550" y="266700"/>
            <a:ext cx="7096125" cy="742950"/>
          </a:xfrm>
          <a:prstGeom prst="rect">
            <a:avLst/>
          </a:prstGeom>
          <a:noFill/>
          <a:ln w="0">
            <a:noFill/>
          </a:ln>
        </p:spPr>
        <p:txBody>
          <a:bodyPr anchor="t">
            <a:noAutofit/>
          </a:bodyPr>
          <a:lstStyle/>
          <a:p>
            <a:pPr>
              <a:defRPr sz="1800" b="1" i="0">
                <a:solidFill>
                  <a:srgbClr val="E6002D"/>
                </a:solidFill>
                <a:latin typeface="Arial"/>
                <a:ea typeface="Arial"/>
                <a:cs typeface="Arial"/>
              </a:defRPr>
            </a:pPr>
            <a:r>
              <a:rPr sz="1800" b="1" i="0">
                <a:solidFill>
                  <a:srgbClr val="E6002D"/>
                </a:solidFill>
                <a:latin typeface="Arial"/>
                <a:ea typeface="Arial"/>
                <a:cs typeface="Arial"/>
              </a:rPr>
              <a:t>PHƯƠNG PHÁP ĐÁNH GIÁ: GIÁ THẤP NHẤT, GIÁ ĐÁNH GIÁ, KỸ THUẬT, KỸ THUẬT VÀ GIÁ</a:t>
            </a:r>
          </a:p>
        </p:txBody>
      </p:sp>
      <p:sp>
        <p:nvSpPr>
          <p:cNvPr id="2" name="Rectangle 1">
            <a:extLst>
              <a:ext uri="{FF2B5EF4-FFF2-40B4-BE49-F238E27FC236}">
                <a16:creationId xmlns:a16="http://schemas.microsoft.com/office/drawing/2014/main" id="{4E2F51A9-1B94-462F-9A34-42213993F3E0}"/>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Chọn đúng cách xếp hạng.</a:t>
            </a:r>
          </a:p>
        </p:txBody>
      </p:sp>
      <p:sp>
        <p:nvSpPr>
          <p:cNvPr id="3" name="Rectangle 2">
            <a:extLst>
              <a:ext uri="{FF2B5EF4-FFF2-40B4-BE49-F238E27FC236}">
                <a16:creationId xmlns:a16="http://schemas.microsoft.com/office/drawing/2014/main" id="{620555CB-7BB2-4644-9001-4E492BD3DA4E}"/>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thấp nhất: sau sửa lỗi/hiệu chỉnh/giảm giá theo quy định.</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Giá đánh giá: quy đổi các yếu tố về cùng mặt bằng.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Kỹ thuật: hồ sơ đạt kỹ thuật cao nhất theo phương pháp áp dụng.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Kỹ thuật và giá: kết hợp trọng số/điểm theo HSMT.</a:t>
            </a:r>
          </a:p>
        </p:txBody>
      </p:sp>
      <p:sp>
        <p:nvSpPr>
          <p:cNvPr id="4" name="Rectangle 3">
            <a:extLst>
              <a:ext uri="{FF2B5EF4-FFF2-40B4-BE49-F238E27FC236}">
                <a16:creationId xmlns:a16="http://schemas.microsoft.com/office/drawing/2014/main" id="{3517BBF5-816F-42A9-90D5-A53B6ECC86B6}"/>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9B7C82C3-F023-4B23-B07D-5359D8FD2E37}"/>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C1B5C7C0-4287-4A8D-A831-381FC97CA8ED}"/>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Giá thấp nhất: sau sửa lỗi/hiệu chỉnh/giảm giá theo quy định.</a:t>
            </a:r>
          </a:p>
        </p:txBody>
      </p:sp>
      <p:sp>
        <p:nvSpPr>
          <p:cNvPr id="7" name="Rectangle 6">
            <a:extLst>
              <a:ext uri="{FF2B5EF4-FFF2-40B4-BE49-F238E27FC236}">
                <a16:creationId xmlns:a16="http://schemas.microsoft.com/office/drawing/2014/main" id="{25F92700-8462-493E-9A1D-F13DB0469BD2}"/>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BDA9E945-7385-4D74-A366-E476E606A630}"/>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Giá đánh giá: quy đổi các yếu tố về cùng mặt bằng.</a:t>
            </a:r>
          </a:p>
        </p:txBody>
      </p:sp>
      <p:sp>
        <p:nvSpPr>
          <p:cNvPr id="9" name="Rectangle 8">
            <a:extLst>
              <a:ext uri="{FF2B5EF4-FFF2-40B4-BE49-F238E27FC236}">
                <a16:creationId xmlns:a16="http://schemas.microsoft.com/office/drawing/2014/main" id="{01A93419-B4DB-4260-B086-49E7E72D9C62}"/>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7D9E26CE-A300-446F-88CD-025EF04F1050}"/>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Kỹ thuật: hồ sơ đạt kỹ thuật cao nhất theo phương pháp áp dụng.</a:t>
            </a:r>
          </a:p>
        </p:txBody>
      </p:sp>
      <p:sp>
        <p:nvSpPr>
          <p:cNvPr id="11" name="Rectangle 10">
            <a:extLst>
              <a:ext uri="{FF2B5EF4-FFF2-40B4-BE49-F238E27FC236}">
                <a16:creationId xmlns:a16="http://schemas.microsoft.com/office/drawing/2014/main" id="{DA25B203-658A-4F52-911B-34F706DDBB02}"/>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848B4EBC-0690-4C77-AD18-F8CFABAB3BAA}"/>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Kỹ thuật và giá: kết hợp trọng số/điểm theo HSMT.</a:t>
            </a:r>
          </a:p>
        </p:txBody>
      </p:sp>
      <p:sp>
        <p:nvSpPr>
          <p:cNvPr id="13" name="Rectangle 12">
            <a:extLst>
              <a:ext uri="{FF2B5EF4-FFF2-40B4-BE49-F238E27FC236}">
                <a16:creationId xmlns:a16="http://schemas.microsoft.com/office/drawing/2014/main" id="{8A8B6C88-7600-4C53-AC61-76B23B3C63DB}"/>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6E716EBC-6189-4DE5-97A0-1D793197234C}"/>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115A1592-787A-4694-A063-F47543EA922B}"/>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59</a:t>
            </a:r>
          </a:p>
        </p:txBody>
      </p:sp>
      <p:sp>
        <p:nvSpPr>
          <p:cNvPr id="16" name="Rectangle 15">
            <a:extLst>
              <a:ext uri="{FF2B5EF4-FFF2-40B4-BE49-F238E27FC236}">
                <a16:creationId xmlns:a16="http://schemas.microsoft.com/office/drawing/2014/main" id="{446BE12C-B3C2-479C-95ED-7D3283F206E6}"/>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04791CD9-4655-46C6-9F8C-1B07B32F8FCB}"/>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8" name="Rectangle 17">
            <a:extLst>
              <a:ext uri="{FF2B5EF4-FFF2-40B4-BE49-F238E27FC236}">
                <a16:creationId xmlns:a16="http://schemas.microsoft.com/office/drawing/2014/main" id="{026199AD-6CA9-4BEA-8D00-E4EC8463CAAE}"/>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58-60 Luật; Điều 33 Quy chế 2486; E-CDNT 29.1 HSMT Cần Thơ; Chương III HSMT 101.</a:t>
            </a:r>
          </a:p>
        </p:txBody>
      </p:sp>
    </p:spTree>
    <p:extLst>
      <p:ext uri="{BB962C8B-B14F-4D97-AF65-F5344CB8AC3E}">
        <p14:creationId xmlns:p14="http://schemas.microsoft.com/office/powerpoint/2010/main" val="9150481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A65F37F-E196-4792-A850-B05BA97B6972}"/>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MUA SẮM TRỰC TIẾP: LUẬT VÀ VIETTEL</a:t>
            </a:r>
          </a:p>
        </p:txBody>
      </p:sp>
      <p:graphicFrame>
        <p:nvGraphicFramePr>
          <p:cNvPr id="10" name="Table 9"/>
          <p:cNvGraphicFramePr/>
          <p:nvPr/>
        </p:nvGraphicFramePr>
        <p:xfrm>
          <a:off x="523875" y="1190625"/>
          <a:ext cx="11144250" cy="2644140"/>
        </p:xfrm>
        <a:graphic>
          <a:graphicData uri="http://schemas.openxmlformats.org/drawingml/2006/table">
            <a:tbl>
              <a:tblPr firstRow="1"/>
              <a:tblGrid>
                <a:gridCol w="2476500">
                  <a:extLst>
                    <a:ext uri="{9D8B030D-6E8A-4147-A177-3AD203B41FA5}">
                      <a16:colId xmlns:a16="http://schemas.microsoft.com/office/drawing/2014/main" val="20000"/>
                    </a:ext>
                  </a:extLst>
                </a:gridCol>
                <a:gridCol w="66675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tblGrid>
              <a:tr h="487680">
                <a:tc>
                  <a:txBody>
                    <a:bodyPr/>
                    <a:lstStyle/>
                    <a:p>
                      <a:r>
                        <a:rPr sz="1200" b="1">
                          <a:solidFill>
                            <a:srgbClr val="FFFFFF"/>
                          </a:solidFill>
                          <a:latin typeface="Arial"/>
                          <a:ea typeface="Arial"/>
                          <a:cs typeface="Arial"/>
                        </a:rPr>
                        <a:t>Điều kiện</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Luật</a:t>
                      </a:r>
                    </a:p>
                  </a:txBody>
                  <a:tcPr marL="76200" marR="76200" marT="47625" marB="47625" anchor="ctr">
                    <a:solidFill>
                      <a:srgbClr val="E6002D"/>
                    </a:solidFill>
                  </a:tcPr>
                </a:tc>
                <a:tc>
                  <a:txBody>
                    <a:bodyPr/>
                    <a:lstStyle/>
                    <a:p>
                      <a:r>
                        <a:rPr sz="1200" b="1">
                          <a:solidFill>
                            <a:srgbClr val="FFFFFF"/>
                          </a:solidFill>
                          <a:latin typeface="Arial"/>
                          <a:ea typeface="Arial"/>
                          <a:cs typeface="Arial"/>
                        </a:rPr>
                        <a:t>Viettel</a:t>
                      </a:r>
                    </a:p>
                  </a:txBody>
                  <a:tcPr marL="76200" marR="76200" marT="47625" marB="47625" anchor="ctr">
                    <a:solidFill>
                      <a:srgbClr val="E6002D"/>
                    </a:solidFill>
                  </a:tcPr>
                </a:tc>
                <a:extLst>
                  <a:ext uri="{0D108BD9-81ED-4DB2-BD59-A6C34878D82A}">
                    <a16:rowId xmlns:a16="http://schemas.microsoft.com/office/drawing/2014/main" val="10000"/>
                  </a:ext>
                </a:extLst>
              </a:tr>
              <a:tr h="487680">
                <a:tc>
                  <a:txBody>
                    <a:bodyPr/>
                    <a:lstStyle/>
                    <a:p>
                      <a:r>
                        <a:rPr sz="1125">
                          <a:solidFill>
                            <a:srgbClr val="1B1B1B"/>
                          </a:solidFill>
                          <a:latin typeface="Arial"/>
                          <a:ea typeface="Arial"/>
                          <a:cs typeface="Arial"/>
                        </a:rPr>
                        <a:t>Gói trước</a:t>
                      </a:r>
                    </a:p>
                  </a:txBody>
                  <a:tcPr marL="76200" marR="76200" marT="38100" marB="38100" anchor="ctr">
                    <a:solidFill>
                      <a:srgbClr val="FFFFFF"/>
                    </a:solidFill>
                  </a:tcPr>
                </a:tc>
                <a:tc>
                  <a:txBody>
                    <a:bodyPr/>
                    <a:lstStyle/>
                    <a:p>
                      <a:r>
                        <a:rPr sz="1125">
                          <a:solidFill>
                            <a:srgbClr val="1B1B1B"/>
                          </a:solidFill>
                          <a:latin typeface="Arial"/>
                          <a:ea typeface="Arial"/>
                          <a:cs typeface="Arial"/>
                        </a:rPr>
                        <a:t>Đã đấu thầu rộng rãi/hạn chế, đã ký hợp đồng</a:t>
                      </a:r>
                    </a:p>
                  </a:txBody>
                  <a:tcPr marL="76200" marR="76200" marT="38100" marB="38100" anchor="ctr">
                    <a:solidFill>
                      <a:srgbClr val="FFFFFF"/>
                    </a:solidFill>
                  </a:tcPr>
                </a:tc>
                <a:tc>
                  <a:txBody>
                    <a:bodyPr/>
                    <a:lstStyle/>
                    <a:p>
                      <a:r>
                        <a:rPr sz="1125">
                          <a:solidFill>
                            <a:srgbClr val="1B1B1B"/>
                          </a:solidFill>
                          <a:latin typeface="Arial"/>
                          <a:ea typeface="Arial"/>
                          <a:cs typeface="Arial"/>
                        </a:rPr>
                        <a:t>Có KQLCNT trước trong Tập đoàn/Công ty/đơn vị thành viên</a:t>
                      </a:r>
                    </a:p>
                  </a:txBody>
                  <a:tcPr marL="76200" marR="76200" marT="38100" marB="38100" anchor="ctr">
                    <a:solidFill>
                      <a:srgbClr val="FFFFFF"/>
                    </a:solidFill>
                  </a:tcPr>
                </a:tc>
                <a:extLst>
                  <a:ext uri="{0D108BD9-81ED-4DB2-BD59-A6C34878D82A}">
                    <a16:rowId xmlns:a16="http://schemas.microsoft.com/office/drawing/2014/main" val="10001"/>
                  </a:ext>
                </a:extLst>
              </a:tr>
              <a:tr h="487680">
                <a:tc>
                  <a:txBody>
                    <a:bodyPr/>
                    <a:lstStyle/>
                    <a:p>
                      <a:r>
                        <a:rPr sz="1125">
                          <a:solidFill>
                            <a:srgbClr val="1B1B1B"/>
                          </a:solidFill>
                          <a:latin typeface="Arial"/>
                          <a:ea typeface="Arial"/>
                          <a:cs typeface="Arial"/>
                        </a:rPr>
                        <a:t>Khối lượng</a:t>
                      </a:r>
                    </a:p>
                  </a:txBody>
                  <a:tcPr marL="76200" marR="76200" marT="38100" marB="38100" anchor="ctr">
                    <a:solidFill>
                      <a:srgbClr val="F5F5F5"/>
                    </a:solidFill>
                  </a:tcPr>
                </a:tc>
                <a:tc>
                  <a:txBody>
                    <a:bodyPr/>
                    <a:lstStyle/>
                    <a:p>
                      <a:r>
                        <a:rPr sz="1125">
                          <a:solidFill>
                            <a:srgbClr val="1B1B1B"/>
                          </a:solidFill>
                          <a:latin typeface="Arial"/>
                          <a:ea typeface="Arial"/>
                          <a:cs typeface="Arial"/>
                        </a:rPr>
                        <a:t>Nhỏ hơn 130% từng hạng mục</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150% khối lượng gói trước</a:t>
                      </a:r>
                    </a:p>
                  </a:txBody>
                  <a:tcPr marL="76200" marR="76200" marT="38100" marB="38100" anchor="ctr">
                    <a:solidFill>
                      <a:srgbClr val="F5F5F5"/>
                    </a:solidFill>
                  </a:tcPr>
                </a:tc>
                <a:extLst>
                  <a:ext uri="{0D108BD9-81ED-4DB2-BD59-A6C34878D82A}">
                    <a16:rowId xmlns:a16="http://schemas.microsoft.com/office/drawing/2014/main" val="10002"/>
                  </a:ext>
                </a:extLst>
              </a:tr>
              <a:tr h="487680">
                <a:tc>
                  <a:txBody>
                    <a:bodyPr/>
                    <a:lstStyle/>
                    <a:p>
                      <a:r>
                        <a:rPr sz="1125">
                          <a:solidFill>
                            <a:srgbClr val="1B1B1B"/>
                          </a:solidFill>
                          <a:latin typeface="Arial"/>
                          <a:ea typeface="Arial"/>
                          <a:cs typeface="Arial"/>
                        </a:rPr>
                        <a:t>Giá</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vượt đơn giá trước, phù hợp thị trường</a:t>
                      </a:r>
                    </a:p>
                  </a:txBody>
                  <a:tcPr marL="76200" marR="76200" marT="38100" marB="38100" anchor="ctr">
                    <a:solidFill>
                      <a:srgbClr val="FFFFFF"/>
                    </a:solidFill>
                  </a:tcPr>
                </a:tc>
                <a:tc>
                  <a:txBody>
                    <a:bodyPr/>
                    <a:lstStyle/>
                    <a:p>
                      <a:r>
                        <a:rPr sz="1125">
                          <a:solidFill>
                            <a:srgbClr val="1B1B1B"/>
                          </a:solidFill>
                          <a:latin typeface="Arial"/>
                          <a:ea typeface="Arial"/>
                          <a:cs typeface="Arial"/>
                        </a:rPr>
                        <a:t>Không vượt đơn giá/tỷ lệ phí chưa thuế, phù hợp thị trường</a:t>
                      </a:r>
                    </a:p>
                  </a:txBody>
                  <a:tcPr marL="76200" marR="76200" marT="38100" marB="38100" anchor="ctr">
                    <a:solidFill>
                      <a:srgbClr val="FFFFFF"/>
                    </a:solidFill>
                  </a:tcPr>
                </a:tc>
                <a:extLst>
                  <a:ext uri="{0D108BD9-81ED-4DB2-BD59-A6C34878D82A}">
                    <a16:rowId xmlns:a16="http://schemas.microsoft.com/office/drawing/2014/main" val="10003"/>
                  </a:ext>
                </a:extLst>
              </a:tr>
              <a:tr h="487680">
                <a:tc>
                  <a:txBody>
                    <a:bodyPr/>
                    <a:lstStyle/>
                    <a:p>
                      <a:r>
                        <a:rPr sz="1125">
                          <a:solidFill>
                            <a:srgbClr val="1B1B1B"/>
                          </a:solidFill>
                          <a:latin typeface="Arial"/>
                          <a:ea typeface="Arial"/>
                          <a:cs typeface="Arial"/>
                        </a:rPr>
                        <a:t>Thời hạn</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12 tháng từ ký hợp đồng trước</a:t>
                      </a:r>
                    </a:p>
                  </a:txBody>
                  <a:tcPr marL="76200" marR="76200" marT="38100" marB="38100" anchor="ctr">
                    <a:solidFill>
                      <a:srgbClr val="F5F5F5"/>
                    </a:solidFill>
                  </a:tcPr>
                </a:tc>
                <a:tc>
                  <a:txBody>
                    <a:bodyPr/>
                    <a:lstStyle/>
                    <a:p>
                      <a:r>
                        <a:rPr sz="1125">
                          <a:solidFill>
                            <a:srgbClr val="1B1B1B"/>
                          </a:solidFill>
                          <a:latin typeface="Arial"/>
                          <a:ea typeface="Arial"/>
                          <a:cs typeface="Arial"/>
                        </a:rPr>
                        <a:t>Không quá 12 tháng từ phê duyệt KQLCNT trước</a:t>
                      </a:r>
                    </a:p>
                  </a:txBody>
                  <a:tcPr marL="76200" marR="76200" marT="38100" marB="38100" anchor="ctr">
                    <a:solidFill>
                      <a:srgbClr val="F5F5F5"/>
                    </a:solidFill>
                  </a:tcPr>
                </a:tc>
                <a:extLst>
                  <a:ext uri="{0D108BD9-81ED-4DB2-BD59-A6C34878D82A}">
                    <a16:rowId xmlns:a16="http://schemas.microsoft.com/office/drawing/2014/main" val="10004"/>
                  </a:ext>
                </a:extLst>
              </a:tr>
            </a:tbl>
          </a:graphicData>
        </a:graphic>
      </p:graphicFrame>
      <p:sp>
        <p:nvSpPr>
          <p:cNvPr id="3" name="Rectangle 2">
            <a:extLst>
              <a:ext uri="{FF2B5EF4-FFF2-40B4-BE49-F238E27FC236}">
                <a16:creationId xmlns:a16="http://schemas.microsoft.com/office/drawing/2014/main" id="{F4823EB3-981E-4BF9-AFD4-4B778B3C298F}"/>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4" name="Rectangle: Rounded Corners 3">
            <a:extLst>
              <a:ext uri="{FF2B5EF4-FFF2-40B4-BE49-F238E27FC236}">
                <a16:creationId xmlns:a16="http://schemas.microsoft.com/office/drawing/2014/main" id="{ACDE5076-4D89-4A00-8163-D79594E0A8CB}"/>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C074027A-509A-4CA8-82AA-3792EDFB67CB}"/>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60</a:t>
            </a:r>
          </a:p>
        </p:txBody>
      </p:sp>
      <p:sp>
        <p:nvSpPr>
          <p:cNvPr id="6" name="Rectangle 5">
            <a:extLst>
              <a:ext uri="{FF2B5EF4-FFF2-40B4-BE49-F238E27FC236}">
                <a16:creationId xmlns:a16="http://schemas.microsoft.com/office/drawing/2014/main" id="{B838EF54-7B84-48BE-A372-8060D4E7B224}"/>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7" name="Rectangle 6">
            <a:extLst>
              <a:ext uri="{FF2B5EF4-FFF2-40B4-BE49-F238E27FC236}">
                <a16:creationId xmlns:a16="http://schemas.microsoft.com/office/drawing/2014/main" id="{002C04ED-EAD4-48C6-B15B-AEE5641B0176}"/>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8" name="Rectangle 7">
            <a:extLst>
              <a:ext uri="{FF2B5EF4-FFF2-40B4-BE49-F238E27FC236}">
                <a16:creationId xmlns:a16="http://schemas.microsoft.com/office/drawing/2014/main" id="{A55ABA9A-E030-406C-960C-AA8545D82451}"/>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25 Luật; Điều 16 Quy chế 2486.</a:t>
            </a:r>
          </a:p>
        </p:txBody>
      </p:sp>
    </p:spTree>
    <p:extLst>
      <p:ext uri="{BB962C8B-B14F-4D97-AF65-F5344CB8AC3E}">
        <p14:creationId xmlns:p14="http://schemas.microsoft.com/office/powerpoint/2010/main" val="11983117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1448ABD3-C657-4FE0-BC73-81EB4DA24B0C}"/>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CHỈ ĐỊNH THẦU: LUẬT VÀ VIETTEL</a:t>
            </a:r>
          </a:p>
        </p:txBody>
      </p:sp>
      <p:sp>
        <p:nvSpPr>
          <p:cNvPr id="2" name="Rectangle 1">
            <a:extLst>
              <a:ext uri="{FF2B5EF4-FFF2-40B4-BE49-F238E27FC236}">
                <a16:creationId xmlns:a16="http://schemas.microsoft.com/office/drawing/2014/main" id="{160FCE34-DCC3-45A1-BD30-8898BD711207}"/>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So sánh điều kiện, hạn mức và thẩm quyền.</a:t>
            </a:r>
          </a:p>
        </p:txBody>
      </p:sp>
      <p:sp>
        <p:nvSpPr>
          <p:cNvPr id="3" name="Rectangle 2">
            <a:extLst>
              <a:ext uri="{FF2B5EF4-FFF2-40B4-BE49-F238E27FC236}">
                <a16:creationId xmlns:a16="http://schemas.microsoft.com/office/drawing/2014/main" id="{95D13C43-7221-4C9B-9369-CF0B9DDB6666}"/>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trường hợp cấp bách, độc quyền, hạn mức, pháp luật ngành và các trường hợp Điều 23/VBHN.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Viettel: có trường hợp cấp bách, chiến lược, công nghệ, đổi mới sáng tạo và cho phép của Giám đốc Công ty theo Quy chế.</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 trình rút gọn/thông thường phải tách riêng.</a:t>
            </a:r>
          </a:p>
        </p:txBody>
      </p:sp>
      <p:sp>
        <p:nvSpPr>
          <p:cNvPr id="4" name="Rectangle 3">
            <a:extLst>
              <a:ext uri="{FF2B5EF4-FFF2-40B4-BE49-F238E27FC236}">
                <a16:creationId xmlns:a16="http://schemas.microsoft.com/office/drawing/2014/main" id="{57FD8C55-05C7-4C73-A6B6-DF6DC20416E4}"/>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E514B6D3-4CA2-4C30-87BD-94AD65230457}"/>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005FBE92-45C3-499B-BD34-F3C6A892ED7A}"/>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Luật: trường hợp cấp bách, độc quyền, hạn mức, pháp luật ngành và …</a:t>
            </a:r>
          </a:p>
        </p:txBody>
      </p:sp>
      <p:sp>
        <p:nvSpPr>
          <p:cNvPr id="7" name="Rectangle 6">
            <a:extLst>
              <a:ext uri="{FF2B5EF4-FFF2-40B4-BE49-F238E27FC236}">
                <a16:creationId xmlns:a16="http://schemas.microsoft.com/office/drawing/2014/main" id="{1CBA4290-B927-4A4D-9795-6279FE57108F}"/>
              </a:ext>
            </a:extLst>
          </p:cNvPr>
          <p:cNvSpPr>
            <a:spLocks noGrp="1"/>
          </p:cNvSpPr>
          <p:nvPr/>
        </p:nvSpPr>
        <p:spPr>
          <a:xfrm>
            <a:off x="7734300" y="28543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9E2F613F-D210-4C31-99A2-D84D220C56E1}"/>
              </a:ext>
            </a:extLst>
          </p:cNvPr>
          <p:cNvSpPr>
            <a:spLocks noGrp="1"/>
          </p:cNvSpPr>
          <p:nvPr/>
        </p:nvSpPr>
        <p:spPr>
          <a:xfrm>
            <a:off x="8343900" y="28162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Viettel: có trường hợp cấp bách, chiến lược, công nghệ, đổi mới sá…</a:t>
            </a:r>
          </a:p>
        </p:txBody>
      </p:sp>
      <p:sp>
        <p:nvSpPr>
          <p:cNvPr id="9" name="Rectangle 8">
            <a:extLst>
              <a:ext uri="{FF2B5EF4-FFF2-40B4-BE49-F238E27FC236}">
                <a16:creationId xmlns:a16="http://schemas.microsoft.com/office/drawing/2014/main" id="{2083F726-E09E-43F5-97EB-25252425A185}"/>
              </a:ext>
            </a:extLst>
          </p:cNvPr>
          <p:cNvSpPr>
            <a:spLocks noGrp="1"/>
          </p:cNvSpPr>
          <p:nvPr/>
        </p:nvSpPr>
        <p:spPr>
          <a:xfrm>
            <a:off x="7734300" y="41560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02E97F50-B0C5-4678-8E00-92BCE1B76BCB}"/>
              </a:ext>
            </a:extLst>
          </p:cNvPr>
          <p:cNvSpPr>
            <a:spLocks noGrp="1"/>
          </p:cNvSpPr>
          <p:nvPr/>
        </p:nvSpPr>
        <p:spPr>
          <a:xfrm>
            <a:off x="8343900" y="41179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Quy trình rút gọn/thông thường phải tách riêng.</a:t>
            </a:r>
          </a:p>
        </p:txBody>
      </p:sp>
      <p:sp>
        <p:nvSpPr>
          <p:cNvPr id="11" name="Rectangle 10">
            <a:extLst>
              <a:ext uri="{FF2B5EF4-FFF2-40B4-BE49-F238E27FC236}">
                <a16:creationId xmlns:a16="http://schemas.microsoft.com/office/drawing/2014/main" id="{A947C776-BC7B-4169-8907-8C2774D33922}"/>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2" name="Rectangle: Rounded Corners 11">
            <a:extLst>
              <a:ext uri="{FF2B5EF4-FFF2-40B4-BE49-F238E27FC236}">
                <a16:creationId xmlns:a16="http://schemas.microsoft.com/office/drawing/2014/main" id="{D3BE0673-75ED-46B5-A638-7665098EFC8F}"/>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3" name="Rectangle 12">
            <a:extLst>
              <a:ext uri="{FF2B5EF4-FFF2-40B4-BE49-F238E27FC236}">
                <a16:creationId xmlns:a16="http://schemas.microsoft.com/office/drawing/2014/main" id="{95312720-6D71-43A6-B401-8ED95B0CE381}"/>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61</a:t>
            </a:r>
          </a:p>
        </p:txBody>
      </p:sp>
      <p:sp>
        <p:nvSpPr>
          <p:cNvPr id="14" name="Rectangle 13">
            <a:extLst>
              <a:ext uri="{FF2B5EF4-FFF2-40B4-BE49-F238E27FC236}">
                <a16:creationId xmlns:a16="http://schemas.microsoft.com/office/drawing/2014/main" id="{6929FA4B-A923-42EA-88EC-782119C11C97}"/>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5" name="Rectangle 14">
            <a:extLst>
              <a:ext uri="{FF2B5EF4-FFF2-40B4-BE49-F238E27FC236}">
                <a16:creationId xmlns:a16="http://schemas.microsoft.com/office/drawing/2014/main" id="{09A76C80-9613-4640-837F-1C9B8AA83BF6}"/>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6" name="Rectangle 15">
            <a:extLst>
              <a:ext uri="{FF2B5EF4-FFF2-40B4-BE49-F238E27FC236}">
                <a16:creationId xmlns:a16="http://schemas.microsoft.com/office/drawing/2014/main" id="{064C3A3D-9B6C-4C3D-967E-A0BEDCFF1181}"/>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23 Luật; Điều 17 Quy chế 2486; VBHN 36/2026.</a:t>
            </a:r>
          </a:p>
        </p:txBody>
      </p:sp>
    </p:spTree>
    <p:extLst>
      <p:ext uri="{BB962C8B-B14F-4D97-AF65-F5344CB8AC3E}">
        <p14:creationId xmlns:p14="http://schemas.microsoft.com/office/powerpoint/2010/main" val="18044373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E8A9B160-AF59-4174-87B0-819905554CFD}"/>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CHÀO GIÁ TRỰC TUYẾN VIETTEL</a:t>
            </a:r>
          </a:p>
        </p:txBody>
      </p:sp>
      <p:sp>
        <p:nvSpPr>
          <p:cNvPr id="2" name="Rectangle 1">
            <a:extLst>
              <a:ext uri="{FF2B5EF4-FFF2-40B4-BE49-F238E27FC236}">
                <a16:creationId xmlns:a16="http://schemas.microsoft.com/office/drawing/2014/main" id="{69A46375-D843-4234-9135-89BDBD9F26A7}"/>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Hiểu quy trình riêng của Cổng Viettel.</a:t>
            </a:r>
          </a:p>
        </p:txBody>
      </p:sp>
      <p:sp>
        <p:nvSpPr>
          <p:cNvPr id="3" name="Rectangle 2">
            <a:extLst>
              <a:ext uri="{FF2B5EF4-FFF2-40B4-BE49-F238E27FC236}">
                <a16:creationId xmlns:a16="http://schemas.microsoft.com/office/drawing/2014/main" id="{BE79F657-BB8C-4E51-BC84-8CDE298E21B6}"/>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HSMCG nêu tiêu chuẩn hợp lệ, kỹ thuật, tài chính và điều kiện hợp đồng.</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Phát hành tối thiểu 05 ngày làm việc trước phiên.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Phiên chào giá tối thiểu/tối đa theo Quy chế; trích xuất hiện tại ghi tối đa 24 giờ.</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Chỉ áp dụng giá thấp nhất; HSMCG không yêu cầu bảo đảm dự thầu theo Điều 14 Quy chế.</a:t>
            </a:r>
          </a:p>
        </p:txBody>
      </p:sp>
      <p:sp>
        <p:nvSpPr>
          <p:cNvPr id="4" name="Rectangle 3">
            <a:extLst>
              <a:ext uri="{FF2B5EF4-FFF2-40B4-BE49-F238E27FC236}">
                <a16:creationId xmlns:a16="http://schemas.microsoft.com/office/drawing/2014/main" id="{8DEC64F0-9860-4FB2-AE28-8753E16F6B70}"/>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C7223BBD-5CCC-4384-8E28-174CA3CA3ED8}"/>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0D3828A6-B97F-4769-B60C-9BDB69B78974}"/>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HSMCG nêu tiêu chuẩn hợp lệ, kỹ thuật, tài chính và điều kiện hợp …</a:t>
            </a:r>
          </a:p>
        </p:txBody>
      </p:sp>
      <p:sp>
        <p:nvSpPr>
          <p:cNvPr id="7" name="Rectangle 6">
            <a:extLst>
              <a:ext uri="{FF2B5EF4-FFF2-40B4-BE49-F238E27FC236}">
                <a16:creationId xmlns:a16="http://schemas.microsoft.com/office/drawing/2014/main" id="{39E2271D-8841-48A5-9579-0BE553BFFD71}"/>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40CE96EB-FC66-450C-971D-296A84538B50}"/>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Phát hành tối thiểu 05 ngày làm việc trước phiên.</a:t>
            </a:r>
          </a:p>
        </p:txBody>
      </p:sp>
      <p:sp>
        <p:nvSpPr>
          <p:cNvPr id="9" name="Rectangle 8">
            <a:extLst>
              <a:ext uri="{FF2B5EF4-FFF2-40B4-BE49-F238E27FC236}">
                <a16:creationId xmlns:a16="http://schemas.microsoft.com/office/drawing/2014/main" id="{09683C1C-5F58-48A5-A035-72E38BB9FF3C}"/>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55A53EB0-8EA5-41B6-B053-10CA56AC02F2}"/>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Phiên chào giá tối thiểu/tối đa theo Quy chế; trích xuất hiện tại …</a:t>
            </a:r>
          </a:p>
        </p:txBody>
      </p:sp>
      <p:sp>
        <p:nvSpPr>
          <p:cNvPr id="11" name="Rectangle 10">
            <a:extLst>
              <a:ext uri="{FF2B5EF4-FFF2-40B4-BE49-F238E27FC236}">
                <a16:creationId xmlns:a16="http://schemas.microsoft.com/office/drawing/2014/main" id="{53A022AB-F9DC-4060-8FF3-D58795DC9C5A}"/>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1D6DB0A8-795D-4EF9-9A70-8F71E73B9F38}"/>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Chỉ áp dụng giá thấp nhất; HSMCG không yêu cầu bảo đảm dự thầu the…</a:t>
            </a:r>
          </a:p>
        </p:txBody>
      </p:sp>
      <p:sp>
        <p:nvSpPr>
          <p:cNvPr id="13" name="Rectangle 12">
            <a:extLst>
              <a:ext uri="{FF2B5EF4-FFF2-40B4-BE49-F238E27FC236}">
                <a16:creationId xmlns:a16="http://schemas.microsoft.com/office/drawing/2014/main" id="{8D5AA9FD-D0D0-48C9-AEE7-2D447B67E25D}"/>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8119533C-D97E-4CB8-A2BC-02A79C251085}"/>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1BFB8A14-6C45-4F00-A4EB-DCD0778287A0}"/>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62</a:t>
            </a:r>
          </a:p>
        </p:txBody>
      </p:sp>
      <p:sp>
        <p:nvSpPr>
          <p:cNvPr id="16" name="Rectangle 15">
            <a:extLst>
              <a:ext uri="{FF2B5EF4-FFF2-40B4-BE49-F238E27FC236}">
                <a16:creationId xmlns:a16="http://schemas.microsoft.com/office/drawing/2014/main" id="{FCBE4AEB-7D6F-4FC0-A168-32F2DF98B957}"/>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560EBAE9-8CF9-46D4-9757-85A4338F2949}"/>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VIII. RỦI RO VÀ PHƯƠNG PHÁP</a:t>
            </a:r>
          </a:p>
        </p:txBody>
      </p:sp>
      <p:sp>
        <p:nvSpPr>
          <p:cNvPr id="18" name="Rectangle 17">
            <a:extLst>
              <a:ext uri="{FF2B5EF4-FFF2-40B4-BE49-F238E27FC236}">
                <a16:creationId xmlns:a16="http://schemas.microsoft.com/office/drawing/2014/main" id="{603C8538-0BB3-4FD2-A259-E91EDAB5764F}"/>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Quy chế 2486, tr. 22-24.</a:t>
            </a:r>
          </a:p>
        </p:txBody>
      </p:sp>
    </p:spTree>
    <p:extLst>
      <p:ext uri="{BB962C8B-B14F-4D97-AF65-F5344CB8AC3E}">
        <p14:creationId xmlns:p14="http://schemas.microsoft.com/office/powerpoint/2010/main" val="13697871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6CA6B57-C76F-455C-BEDA-A05A3DE02AEC}"/>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CASE 1-2: THIẾU BÁO CÁO TÀI CHÍNH, THIẾU NGHIỆM THU</a:t>
            </a:r>
          </a:p>
        </p:txBody>
      </p:sp>
      <p:sp>
        <p:nvSpPr>
          <p:cNvPr id="2" name="Rectangle: Rounded Corners 1">
            <a:extLst>
              <a:ext uri="{FF2B5EF4-FFF2-40B4-BE49-F238E27FC236}">
                <a16:creationId xmlns:a16="http://schemas.microsoft.com/office/drawing/2014/main" id="{CC95197C-2DB9-49E1-9147-FB9CD436AA9C}"/>
              </a:ext>
            </a:extLst>
          </p:cNvPr>
          <p:cNvSpPr>
            <a:spLocks noGrp="1"/>
          </p:cNvSpPr>
          <p:nvPr/>
        </p:nvSpPr>
        <p:spPr>
          <a:xfrm>
            <a:off x="666750" y="1381125"/>
            <a:ext cx="5286375" cy="4000500"/>
          </a:xfrm>
          <a:prstGeom prst="roundRect">
            <a:avLst>
              <a:gd name="adj" fmla="val 4762"/>
            </a:avLst>
          </a:prstGeom>
          <a:solidFill>
            <a:srgbClr val="FFF0F3"/>
          </a:solidFill>
          <a:ln w="14288">
            <a:solidFill>
              <a:srgbClr val="E6002D"/>
            </a:solidFill>
            <a:prstDash val="solid"/>
          </a:ln>
        </p:spPr>
        <p:txBody>
          <a:bodyPr anchor="ctr">
            <a:noAutofit/>
          </a:bodyPr>
          <a:lstStyle/>
          <a:p>
            <a:pPr>
              <a:defRPr sz="1650" b="0">
                <a:solidFill>
                  <a:srgbClr val="1B1B1B"/>
                </a:solidFill>
                <a:latin typeface="Arial"/>
                <a:ea typeface="Arial"/>
                <a:cs typeface="Arial"/>
              </a:defRPr>
            </a:pPr>
            <a:r>
              <a:rPr sz="1650" b="0">
                <a:solidFill>
                  <a:srgbClr val="1B1B1B"/>
                </a:solidFill>
                <a:latin typeface="Arial"/>
                <a:ea typeface="Arial"/>
                <a:cs typeface="Arial"/>
              </a:rPr>
              <a:t>Case 1: nhà thầu quên đính kèm báo cáo tài chính.</a:t>
            </a:r>
          </a:p>
          <a:p>
            <a:endParaRPr sz="1650" b="0">
              <a:solidFill>
                <a:srgbClr val="1B1B1B"/>
              </a:solidFill>
              <a:latin typeface="Arial"/>
              <a:ea typeface="Arial"/>
              <a:cs typeface="Arial"/>
            </a:endParaRPr>
          </a:p>
          <a:p>
            <a:pPr>
              <a:defRPr sz="1650" b="0">
                <a:solidFill>
                  <a:srgbClr val="1B1B1B"/>
                </a:solidFill>
                <a:latin typeface="Arial"/>
                <a:ea typeface="Arial"/>
                <a:cs typeface="Arial"/>
              </a:defRPr>
            </a:pPr>
            <a:r>
              <a:rPr sz="1650" b="0">
                <a:solidFill>
                  <a:srgbClr val="1B1B1B"/>
                </a:solidFill>
                <a:latin typeface="Arial"/>
                <a:ea typeface="Arial"/>
                <a:cs typeface="Arial"/>
              </a:rPr>
              <a:t>Case 2: có hợp đồng tương tự nhưng thiếu biên bản nghiệm thu.</a:t>
            </a:r>
          </a:p>
        </p:txBody>
      </p:sp>
      <p:sp>
        <p:nvSpPr>
          <p:cNvPr id="3" name="Rectangle: Rounded Corners 2">
            <a:extLst>
              <a:ext uri="{FF2B5EF4-FFF2-40B4-BE49-F238E27FC236}">
                <a16:creationId xmlns:a16="http://schemas.microsoft.com/office/drawing/2014/main" id="{47739865-82E2-42DD-ABE5-76B1270BD205}"/>
              </a:ext>
            </a:extLst>
          </p:cNvPr>
          <p:cNvSpPr>
            <a:spLocks noGrp="1"/>
          </p:cNvSpPr>
          <p:nvPr/>
        </p:nvSpPr>
        <p:spPr>
          <a:xfrm>
            <a:off x="6238875" y="1381125"/>
            <a:ext cx="5286375" cy="4000500"/>
          </a:xfrm>
          <a:prstGeom prst="roundRect">
            <a:avLst>
              <a:gd name="adj" fmla="val 4762"/>
            </a:avLst>
          </a:prstGeom>
          <a:solidFill>
            <a:srgbClr val="F5F5F5"/>
          </a:solidFill>
          <a:ln w="14288">
            <a:solidFill>
              <a:srgbClr val="D9D9D9"/>
            </a:solidFill>
            <a:prstDash val="solid"/>
          </a:ln>
        </p:spPr>
        <p:txBody>
          <a:bodyPr anchor="ctr">
            <a:noAutofit/>
          </a:bodyPr>
          <a:lstStyle/>
          <a:p>
            <a:pPr>
              <a:defRPr sz="1650" b="0">
                <a:solidFill>
                  <a:srgbClr val="1B1B1B"/>
                </a:solidFill>
                <a:latin typeface="Arial"/>
                <a:ea typeface="Arial"/>
                <a:cs typeface="Arial"/>
              </a:defRPr>
            </a:pPr>
            <a:r>
              <a:rPr sz="1650" b="0">
                <a:solidFill>
                  <a:srgbClr val="1B1B1B"/>
                </a:solidFill>
                <a:latin typeface="Arial"/>
                <a:ea typeface="Arial"/>
                <a:cs typeface="Arial"/>
              </a:rPr>
              <a:t>Câu hỏi: đã kê khai chưa? HSMT cho phép đối chiếu/bổ sung không? Tài liệu thay thế có chứng minh cùng sự kiện không?</a:t>
            </a:r>
          </a:p>
        </p:txBody>
      </p:sp>
      <p:sp>
        <p:nvSpPr>
          <p:cNvPr id="4" name="Rectangle 3">
            <a:extLst>
              <a:ext uri="{FF2B5EF4-FFF2-40B4-BE49-F238E27FC236}">
                <a16:creationId xmlns:a16="http://schemas.microsoft.com/office/drawing/2014/main" id="{377FE55D-4A51-46F6-9754-E7CF5D0EB212}"/>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5" name="Rectangle: Rounded Corners 4">
            <a:extLst>
              <a:ext uri="{FF2B5EF4-FFF2-40B4-BE49-F238E27FC236}">
                <a16:creationId xmlns:a16="http://schemas.microsoft.com/office/drawing/2014/main" id="{743C15DB-A2A3-4B4F-A74E-D6CA84BF5E65}"/>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6" name="Rectangle 5">
            <a:extLst>
              <a:ext uri="{FF2B5EF4-FFF2-40B4-BE49-F238E27FC236}">
                <a16:creationId xmlns:a16="http://schemas.microsoft.com/office/drawing/2014/main" id="{B5297A22-276E-4118-A57C-10AC1A05D27A}"/>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63</a:t>
            </a:r>
          </a:p>
        </p:txBody>
      </p:sp>
      <p:sp>
        <p:nvSpPr>
          <p:cNvPr id="7" name="Rectangle 6">
            <a:extLst>
              <a:ext uri="{FF2B5EF4-FFF2-40B4-BE49-F238E27FC236}">
                <a16:creationId xmlns:a16="http://schemas.microsoft.com/office/drawing/2014/main" id="{C346B8C9-C755-460C-BBC0-05916B221C90}"/>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Rectangle 7">
            <a:extLst>
              <a:ext uri="{FF2B5EF4-FFF2-40B4-BE49-F238E27FC236}">
                <a16:creationId xmlns:a16="http://schemas.microsoft.com/office/drawing/2014/main" id="{1609E049-7AA3-40F0-956C-D4DCD713A3EA}"/>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Rectangle 8">
            <a:extLst>
              <a:ext uri="{FF2B5EF4-FFF2-40B4-BE49-F238E27FC236}">
                <a16:creationId xmlns:a16="http://schemas.microsoft.com/office/drawing/2014/main" id="{84BBD4FD-3389-463B-8676-B1AFB3812E37}"/>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HSMT Cần Thơ; HSMT 101.</a:t>
            </a:r>
          </a:p>
        </p:txBody>
      </p:sp>
    </p:spTree>
    <p:extLst>
      <p:ext uri="{BB962C8B-B14F-4D97-AF65-F5344CB8AC3E}">
        <p14:creationId xmlns:p14="http://schemas.microsoft.com/office/powerpoint/2010/main" val="157660180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520D568E-412B-4383-9E1F-C1FB8BD1C7F7}"/>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CASE 3-4: ĐỔI GIẢI PHÁP, BẢO ĐẢM THIẾU HIỆU LỰC</a:t>
            </a:r>
          </a:p>
        </p:txBody>
      </p:sp>
      <p:sp>
        <p:nvSpPr>
          <p:cNvPr id="2" name="Rectangle: Rounded Corners 1">
            <a:extLst>
              <a:ext uri="{FF2B5EF4-FFF2-40B4-BE49-F238E27FC236}">
                <a16:creationId xmlns:a16="http://schemas.microsoft.com/office/drawing/2014/main" id="{0CE593B6-6367-491D-8404-CCBA7441DFDC}"/>
              </a:ext>
            </a:extLst>
          </p:cNvPr>
          <p:cNvSpPr>
            <a:spLocks noGrp="1"/>
          </p:cNvSpPr>
          <p:nvPr/>
        </p:nvSpPr>
        <p:spPr>
          <a:xfrm>
            <a:off x="666750" y="1381125"/>
            <a:ext cx="5286375" cy="4000500"/>
          </a:xfrm>
          <a:prstGeom prst="roundRect">
            <a:avLst>
              <a:gd name="adj" fmla="val 4762"/>
            </a:avLst>
          </a:prstGeom>
          <a:solidFill>
            <a:srgbClr val="FFF0F3"/>
          </a:solidFill>
          <a:ln w="14288">
            <a:solidFill>
              <a:srgbClr val="E6002D"/>
            </a:solidFill>
            <a:prstDash val="solid"/>
          </a:ln>
        </p:spPr>
        <p:txBody>
          <a:bodyPr anchor="ctr">
            <a:noAutofit/>
          </a:bodyPr>
          <a:lstStyle/>
          <a:p>
            <a:pPr>
              <a:defRPr sz="1650" b="0">
                <a:solidFill>
                  <a:srgbClr val="1B1B1B"/>
                </a:solidFill>
                <a:latin typeface="Arial"/>
                <a:ea typeface="Arial"/>
                <a:cs typeface="Arial"/>
              </a:defRPr>
            </a:pPr>
            <a:r>
              <a:rPr sz="1650" b="0">
                <a:solidFill>
                  <a:srgbClr val="1B1B1B"/>
                </a:solidFill>
                <a:latin typeface="Arial"/>
                <a:ea typeface="Arial"/>
                <a:cs typeface="Arial"/>
              </a:rPr>
              <a:t>Case 3: giải pháp kỹ thuật chào sai, sau đóng thầu muốn đổi.</a:t>
            </a:r>
          </a:p>
          <a:p>
            <a:endParaRPr sz="1650" b="0">
              <a:solidFill>
                <a:srgbClr val="1B1B1B"/>
              </a:solidFill>
              <a:latin typeface="Arial"/>
              <a:ea typeface="Arial"/>
              <a:cs typeface="Arial"/>
            </a:endParaRPr>
          </a:p>
          <a:p>
            <a:pPr>
              <a:defRPr sz="1650" b="0">
                <a:solidFill>
                  <a:srgbClr val="1B1B1B"/>
                </a:solidFill>
                <a:latin typeface="Arial"/>
                <a:ea typeface="Arial"/>
                <a:cs typeface="Arial"/>
              </a:defRPr>
            </a:pPr>
            <a:r>
              <a:rPr sz="1650" b="0">
                <a:solidFill>
                  <a:srgbClr val="1B1B1B"/>
                </a:solidFill>
                <a:latin typeface="Arial"/>
                <a:ea typeface="Arial"/>
                <a:cs typeface="Arial"/>
              </a:rPr>
              <a:t>Case 4: bảo đảm dự thầu thiếu hiệu lực.</a:t>
            </a:r>
          </a:p>
        </p:txBody>
      </p:sp>
      <p:sp>
        <p:nvSpPr>
          <p:cNvPr id="3" name="Rectangle: Rounded Corners 2">
            <a:extLst>
              <a:ext uri="{FF2B5EF4-FFF2-40B4-BE49-F238E27FC236}">
                <a16:creationId xmlns:a16="http://schemas.microsoft.com/office/drawing/2014/main" id="{058AA564-457E-4031-AFE3-FF45D00B1609}"/>
              </a:ext>
            </a:extLst>
          </p:cNvPr>
          <p:cNvSpPr>
            <a:spLocks noGrp="1"/>
          </p:cNvSpPr>
          <p:nvPr/>
        </p:nvSpPr>
        <p:spPr>
          <a:xfrm>
            <a:off x="6238875" y="1381125"/>
            <a:ext cx="5286375" cy="4000500"/>
          </a:xfrm>
          <a:prstGeom prst="roundRect">
            <a:avLst>
              <a:gd name="adj" fmla="val 4762"/>
            </a:avLst>
          </a:prstGeom>
          <a:solidFill>
            <a:srgbClr val="F5F5F5"/>
          </a:solidFill>
          <a:ln w="14288">
            <a:solidFill>
              <a:srgbClr val="D9D9D9"/>
            </a:solidFill>
            <a:prstDash val="solid"/>
          </a:ln>
        </p:spPr>
        <p:txBody>
          <a:bodyPr anchor="ctr">
            <a:noAutofit/>
          </a:bodyPr>
          <a:lstStyle/>
          <a:p>
            <a:pPr>
              <a:defRPr sz="1650" b="0">
                <a:solidFill>
                  <a:srgbClr val="1B1B1B"/>
                </a:solidFill>
                <a:latin typeface="Arial"/>
                <a:ea typeface="Arial"/>
                <a:cs typeface="Arial"/>
              </a:defRPr>
            </a:pPr>
            <a:r>
              <a:rPr sz="1650" b="0">
                <a:solidFill>
                  <a:srgbClr val="1B1B1B"/>
                </a:solidFill>
                <a:latin typeface="Arial"/>
                <a:ea typeface="Arial"/>
                <a:cs typeface="Arial"/>
              </a:rPr>
              <a:t>Câu hỏi: có làm thay đổi bản chất/điều kiện hợp lệ không?</a:t>
            </a:r>
          </a:p>
        </p:txBody>
      </p:sp>
      <p:sp>
        <p:nvSpPr>
          <p:cNvPr id="4" name="Rectangle 3">
            <a:extLst>
              <a:ext uri="{FF2B5EF4-FFF2-40B4-BE49-F238E27FC236}">
                <a16:creationId xmlns:a16="http://schemas.microsoft.com/office/drawing/2014/main" id="{C5C82355-57A7-4BA7-B925-C48831E7751C}"/>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5" name="Rectangle: Rounded Corners 4">
            <a:extLst>
              <a:ext uri="{FF2B5EF4-FFF2-40B4-BE49-F238E27FC236}">
                <a16:creationId xmlns:a16="http://schemas.microsoft.com/office/drawing/2014/main" id="{6C7D7E95-FC66-4DA6-A34C-E8E9CB043446}"/>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6" name="Rectangle 5">
            <a:extLst>
              <a:ext uri="{FF2B5EF4-FFF2-40B4-BE49-F238E27FC236}">
                <a16:creationId xmlns:a16="http://schemas.microsoft.com/office/drawing/2014/main" id="{A07A02EC-3B60-4884-B9CC-3217B065BC4E}"/>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64</a:t>
            </a:r>
          </a:p>
        </p:txBody>
      </p:sp>
      <p:sp>
        <p:nvSpPr>
          <p:cNvPr id="7" name="Rectangle 6">
            <a:extLst>
              <a:ext uri="{FF2B5EF4-FFF2-40B4-BE49-F238E27FC236}">
                <a16:creationId xmlns:a16="http://schemas.microsoft.com/office/drawing/2014/main" id="{C2BAE854-DD43-441E-A99F-A34FF68DE14B}"/>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Rectangle 7">
            <a:extLst>
              <a:ext uri="{FF2B5EF4-FFF2-40B4-BE49-F238E27FC236}">
                <a16:creationId xmlns:a16="http://schemas.microsoft.com/office/drawing/2014/main" id="{691AFC9F-E878-4217-87AB-FEFDA46697A3}"/>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Rectangle 8">
            <a:extLst>
              <a:ext uri="{FF2B5EF4-FFF2-40B4-BE49-F238E27FC236}">
                <a16:creationId xmlns:a16="http://schemas.microsoft.com/office/drawing/2014/main" id="{ACCA2B68-479A-4A14-BB18-71C0C9D50564}"/>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14 Luật; Mục 18, 27 E-CDNT/A-CDNT.</a:t>
            </a:r>
          </a:p>
        </p:txBody>
      </p:sp>
    </p:spTree>
    <p:extLst>
      <p:ext uri="{BB962C8B-B14F-4D97-AF65-F5344CB8AC3E}">
        <p14:creationId xmlns:p14="http://schemas.microsoft.com/office/powerpoint/2010/main" val="20125729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AD1F7C5-FDE5-4633-98BA-70AFDFCC3689}"/>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CASE 5-6: NHÂN SỰ KHÔNG ĐẠT, HSMT YÊU CẦU MỘT NHÃN HIỆU</a:t>
            </a:r>
          </a:p>
        </p:txBody>
      </p:sp>
      <p:sp>
        <p:nvSpPr>
          <p:cNvPr id="2" name="Rectangle: Rounded Corners 1">
            <a:extLst>
              <a:ext uri="{FF2B5EF4-FFF2-40B4-BE49-F238E27FC236}">
                <a16:creationId xmlns:a16="http://schemas.microsoft.com/office/drawing/2014/main" id="{3EE12768-736A-4961-B1FA-33C209E27FBA}"/>
              </a:ext>
            </a:extLst>
          </p:cNvPr>
          <p:cNvSpPr>
            <a:spLocks noGrp="1"/>
          </p:cNvSpPr>
          <p:nvPr/>
        </p:nvSpPr>
        <p:spPr>
          <a:xfrm>
            <a:off x="666750" y="1381125"/>
            <a:ext cx="5286375" cy="4000500"/>
          </a:xfrm>
          <a:prstGeom prst="roundRect">
            <a:avLst>
              <a:gd name="adj" fmla="val 4762"/>
            </a:avLst>
          </a:prstGeom>
          <a:solidFill>
            <a:srgbClr val="FFF0F3"/>
          </a:solidFill>
          <a:ln w="14288">
            <a:solidFill>
              <a:srgbClr val="E6002D"/>
            </a:solidFill>
            <a:prstDash val="solid"/>
          </a:ln>
        </p:spPr>
        <p:txBody>
          <a:bodyPr anchor="ctr">
            <a:noAutofit/>
          </a:bodyPr>
          <a:lstStyle/>
          <a:p>
            <a:pPr>
              <a:defRPr sz="1650" b="0">
                <a:solidFill>
                  <a:srgbClr val="1B1B1B"/>
                </a:solidFill>
                <a:latin typeface="Arial"/>
                <a:ea typeface="Arial"/>
                <a:cs typeface="Arial"/>
              </a:defRPr>
            </a:pPr>
            <a:r>
              <a:rPr sz="1650" b="0">
                <a:solidFill>
                  <a:srgbClr val="1B1B1B"/>
                </a:solidFill>
                <a:latin typeface="Arial"/>
                <a:ea typeface="Arial"/>
                <a:cs typeface="Arial"/>
              </a:rPr>
              <a:t>Case 5: nhân sự đề xuất không đáp ứng.</a:t>
            </a:r>
          </a:p>
          <a:p>
            <a:endParaRPr sz="1650" b="0">
              <a:solidFill>
                <a:srgbClr val="1B1B1B"/>
              </a:solidFill>
              <a:latin typeface="Arial"/>
              <a:ea typeface="Arial"/>
              <a:cs typeface="Arial"/>
            </a:endParaRPr>
          </a:p>
          <a:p>
            <a:pPr>
              <a:defRPr sz="1650" b="0">
                <a:solidFill>
                  <a:srgbClr val="1B1B1B"/>
                </a:solidFill>
                <a:latin typeface="Arial"/>
                <a:ea typeface="Arial"/>
                <a:cs typeface="Arial"/>
              </a:defRPr>
            </a:pPr>
            <a:r>
              <a:rPr sz="1650" b="0">
                <a:solidFill>
                  <a:srgbClr val="1B1B1B"/>
                </a:solidFill>
                <a:latin typeface="Arial"/>
                <a:ea typeface="Arial"/>
                <a:cs typeface="Arial"/>
              </a:rPr>
              <a:t>Case 6: HSMT yêu cầu đúng một nhãn hiệu.</a:t>
            </a:r>
          </a:p>
        </p:txBody>
      </p:sp>
      <p:sp>
        <p:nvSpPr>
          <p:cNvPr id="3" name="Rectangle: Rounded Corners 2">
            <a:extLst>
              <a:ext uri="{FF2B5EF4-FFF2-40B4-BE49-F238E27FC236}">
                <a16:creationId xmlns:a16="http://schemas.microsoft.com/office/drawing/2014/main" id="{624C22A1-F41D-4DE9-966C-FCC3338A841E}"/>
              </a:ext>
            </a:extLst>
          </p:cNvPr>
          <p:cNvSpPr>
            <a:spLocks noGrp="1"/>
          </p:cNvSpPr>
          <p:nvPr/>
        </p:nvSpPr>
        <p:spPr>
          <a:xfrm>
            <a:off x="6238875" y="1381125"/>
            <a:ext cx="5286375" cy="4000500"/>
          </a:xfrm>
          <a:prstGeom prst="roundRect">
            <a:avLst>
              <a:gd name="adj" fmla="val 4762"/>
            </a:avLst>
          </a:prstGeom>
          <a:solidFill>
            <a:srgbClr val="F5F5F5"/>
          </a:solidFill>
          <a:ln w="14288">
            <a:solidFill>
              <a:srgbClr val="D9D9D9"/>
            </a:solidFill>
            <a:prstDash val="solid"/>
          </a:ln>
        </p:spPr>
        <p:txBody>
          <a:bodyPr anchor="ctr">
            <a:noAutofit/>
          </a:bodyPr>
          <a:lstStyle/>
          <a:p>
            <a:pPr>
              <a:defRPr sz="1650" b="0">
                <a:solidFill>
                  <a:srgbClr val="1B1B1B"/>
                </a:solidFill>
                <a:latin typeface="Arial"/>
                <a:ea typeface="Arial"/>
                <a:cs typeface="Arial"/>
              </a:defRPr>
            </a:pPr>
            <a:r>
              <a:rPr sz="1650" b="0">
                <a:solidFill>
                  <a:srgbClr val="1B1B1B"/>
                </a:solidFill>
                <a:latin typeface="Arial"/>
                <a:ea typeface="Arial"/>
                <a:cs typeface="Arial"/>
              </a:rPr>
              <a:t>Câu hỏi: HSMT thuộc hệ thống nào? Có cơ chế thay thế không? Có ngoại lệ nhãn hiệu không?</a:t>
            </a:r>
          </a:p>
        </p:txBody>
      </p:sp>
      <p:sp>
        <p:nvSpPr>
          <p:cNvPr id="4" name="Rectangle 3">
            <a:extLst>
              <a:ext uri="{FF2B5EF4-FFF2-40B4-BE49-F238E27FC236}">
                <a16:creationId xmlns:a16="http://schemas.microsoft.com/office/drawing/2014/main" id="{216DA64A-98D7-4182-AF31-56C854A1400A}"/>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5" name="Rectangle: Rounded Corners 4">
            <a:extLst>
              <a:ext uri="{FF2B5EF4-FFF2-40B4-BE49-F238E27FC236}">
                <a16:creationId xmlns:a16="http://schemas.microsoft.com/office/drawing/2014/main" id="{AC4AF715-03A9-495B-83C3-8817ABBE9116}"/>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6" name="Rectangle 5">
            <a:extLst>
              <a:ext uri="{FF2B5EF4-FFF2-40B4-BE49-F238E27FC236}">
                <a16:creationId xmlns:a16="http://schemas.microsoft.com/office/drawing/2014/main" id="{4BD179E6-4973-4839-A495-AC8B6DC6282F}"/>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65</a:t>
            </a:r>
          </a:p>
        </p:txBody>
      </p:sp>
      <p:sp>
        <p:nvSpPr>
          <p:cNvPr id="7" name="Rectangle 6">
            <a:extLst>
              <a:ext uri="{FF2B5EF4-FFF2-40B4-BE49-F238E27FC236}">
                <a16:creationId xmlns:a16="http://schemas.microsoft.com/office/drawing/2014/main" id="{8E686DEC-0E8E-4177-BA98-6425496C0265}"/>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Rectangle 7">
            <a:extLst>
              <a:ext uri="{FF2B5EF4-FFF2-40B4-BE49-F238E27FC236}">
                <a16:creationId xmlns:a16="http://schemas.microsoft.com/office/drawing/2014/main" id="{A6AAA6D7-6BEF-4DE7-B6FD-9E8D557B6CE3}"/>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Rectangle 8">
            <a:extLst>
              <a:ext uri="{FF2B5EF4-FFF2-40B4-BE49-F238E27FC236}">
                <a16:creationId xmlns:a16="http://schemas.microsoft.com/office/drawing/2014/main" id="{DC3C3CC8-E897-454D-A357-08FDE1A31222}"/>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16 Luật; Điều 14 Quy chế; Mục 27.5 A-CDNT HSMT 101.</a:t>
            </a:r>
          </a:p>
        </p:txBody>
      </p:sp>
    </p:spTree>
    <p:extLst>
      <p:ext uri="{BB962C8B-B14F-4D97-AF65-F5344CB8AC3E}">
        <p14:creationId xmlns:p14="http://schemas.microsoft.com/office/powerpoint/2010/main" val="18629438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8B661BF-82C4-4E14-B8D5-A938552BB4D8}"/>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CASE 7-8: MUA SẮM 140% VÀ MẬT KHẨU GỬI SAU ĐÓNG THẦU</a:t>
            </a:r>
          </a:p>
        </p:txBody>
      </p:sp>
      <p:sp>
        <p:nvSpPr>
          <p:cNvPr id="2" name="Rectangle: Rounded Corners 1">
            <a:extLst>
              <a:ext uri="{FF2B5EF4-FFF2-40B4-BE49-F238E27FC236}">
                <a16:creationId xmlns:a16="http://schemas.microsoft.com/office/drawing/2014/main" id="{BCFA91DA-AF89-499A-9686-067D9434440F}"/>
              </a:ext>
            </a:extLst>
          </p:cNvPr>
          <p:cNvSpPr>
            <a:spLocks noGrp="1"/>
          </p:cNvSpPr>
          <p:nvPr/>
        </p:nvSpPr>
        <p:spPr>
          <a:xfrm>
            <a:off x="666750" y="1381125"/>
            <a:ext cx="5286375" cy="4000500"/>
          </a:xfrm>
          <a:prstGeom prst="roundRect">
            <a:avLst>
              <a:gd name="adj" fmla="val 4762"/>
            </a:avLst>
          </a:prstGeom>
          <a:solidFill>
            <a:srgbClr val="FFF0F3"/>
          </a:solidFill>
          <a:ln w="14288">
            <a:solidFill>
              <a:srgbClr val="E6002D"/>
            </a:solidFill>
            <a:prstDash val="solid"/>
          </a:ln>
        </p:spPr>
        <p:txBody>
          <a:bodyPr anchor="ctr">
            <a:noAutofit/>
          </a:bodyPr>
          <a:lstStyle/>
          <a:p>
            <a:pPr>
              <a:defRPr sz="1650" b="0">
                <a:solidFill>
                  <a:srgbClr val="1B1B1B"/>
                </a:solidFill>
                <a:latin typeface="Arial"/>
                <a:ea typeface="Arial"/>
                <a:cs typeface="Arial"/>
              </a:defRPr>
            </a:pPr>
            <a:r>
              <a:rPr sz="1650" b="0">
                <a:solidFill>
                  <a:srgbClr val="1B1B1B"/>
                </a:solidFill>
                <a:latin typeface="Arial"/>
                <a:ea typeface="Arial"/>
                <a:cs typeface="Arial"/>
              </a:rPr>
              <a:t>Case 7: mua sắm trực tiếp có khối lượng 140% gói trước.</a:t>
            </a:r>
          </a:p>
          <a:p>
            <a:endParaRPr sz="1650" b="0">
              <a:solidFill>
                <a:srgbClr val="1B1B1B"/>
              </a:solidFill>
              <a:latin typeface="Arial"/>
              <a:ea typeface="Arial"/>
              <a:cs typeface="Arial"/>
            </a:endParaRPr>
          </a:p>
          <a:p>
            <a:pPr>
              <a:defRPr sz="1650" b="0">
                <a:solidFill>
                  <a:srgbClr val="1B1B1B"/>
                </a:solidFill>
                <a:latin typeface="Arial"/>
                <a:ea typeface="Arial"/>
                <a:cs typeface="Arial"/>
              </a:defRPr>
            </a:pPr>
            <a:r>
              <a:rPr sz="1650" b="0">
                <a:solidFill>
                  <a:srgbClr val="1B1B1B"/>
                </a:solidFill>
                <a:latin typeface="Arial"/>
                <a:ea typeface="Arial"/>
                <a:cs typeface="Arial"/>
              </a:rPr>
              <a:t>Case 8: nhà thầu gửi mật khẩu mở file sau đóng thầu.</a:t>
            </a:r>
          </a:p>
        </p:txBody>
      </p:sp>
      <p:sp>
        <p:nvSpPr>
          <p:cNvPr id="3" name="Rectangle: Rounded Corners 2">
            <a:extLst>
              <a:ext uri="{FF2B5EF4-FFF2-40B4-BE49-F238E27FC236}">
                <a16:creationId xmlns:a16="http://schemas.microsoft.com/office/drawing/2014/main" id="{1B65903F-C235-4C28-A800-16E19C482480}"/>
              </a:ext>
            </a:extLst>
          </p:cNvPr>
          <p:cNvSpPr>
            <a:spLocks noGrp="1"/>
          </p:cNvSpPr>
          <p:nvPr/>
        </p:nvSpPr>
        <p:spPr>
          <a:xfrm>
            <a:off x="6238875" y="1381125"/>
            <a:ext cx="5286375" cy="4000500"/>
          </a:xfrm>
          <a:prstGeom prst="roundRect">
            <a:avLst>
              <a:gd name="adj" fmla="val 4762"/>
            </a:avLst>
          </a:prstGeom>
          <a:solidFill>
            <a:srgbClr val="F5F5F5"/>
          </a:solidFill>
          <a:ln w="14288">
            <a:solidFill>
              <a:srgbClr val="D9D9D9"/>
            </a:solidFill>
            <a:prstDash val="solid"/>
          </a:ln>
        </p:spPr>
        <p:txBody>
          <a:bodyPr anchor="ctr">
            <a:noAutofit/>
          </a:bodyPr>
          <a:lstStyle/>
          <a:p>
            <a:pPr>
              <a:defRPr sz="1650" b="0">
                <a:solidFill>
                  <a:srgbClr val="1B1B1B"/>
                </a:solidFill>
                <a:latin typeface="Arial"/>
                <a:ea typeface="Arial"/>
                <a:cs typeface="Arial"/>
              </a:defRPr>
            </a:pPr>
            <a:r>
              <a:rPr sz="1650" b="0">
                <a:solidFill>
                  <a:srgbClr val="1B1B1B"/>
                </a:solidFill>
                <a:latin typeface="Arial"/>
                <a:ea typeface="Arial"/>
                <a:cs typeface="Arial"/>
              </a:rPr>
              <a:t>Câu hỏi: Luật hay Viettel? Mốc thời gian nào quyết định? Có ngoại lệ HSMT nào không?</a:t>
            </a:r>
          </a:p>
        </p:txBody>
      </p:sp>
      <p:sp>
        <p:nvSpPr>
          <p:cNvPr id="4" name="Rectangle 3">
            <a:extLst>
              <a:ext uri="{FF2B5EF4-FFF2-40B4-BE49-F238E27FC236}">
                <a16:creationId xmlns:a16="http://schemas.microsoft.com/office/drawing/2014/main" id="{185D992C-B724-4DF6-BB27-95B94191F2D1}"/>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5" name="Rectangle: Rounded Corners 4">
            <a:extLst>
              <a:ext uri="{FF2B5EF4-FFF2-40B4-BE49-F238E27FC236}">
                <a16:creationId xmlns:a16="http://schemas.microsoft.com/office/drawing/2014/main" id="{C4FC0AF4-5654-4E5C-8047-B1FF7A1E6BFD}"/>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6" name="Rectangle 5">
            <a:extLst>
              <a:ext uri="{FF2B5EF4-FFF2-40B4-BE49-F238E27FC236}">
                <a16:creationId xmlns:a16="http://schemas.microsoft.com/office/drawing/2014/main" id="{79C2A514-C2DC-4058-9F12-CD16E3C38970}"/>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66</a:t>
            </a:r>
          </a:p>
        </p:txBody>
      </p:sp>
      <p:sp>
        <p:nvSpPr>
          <p:cNvPr id="7" name="Rectangle 6">
            <a:extLst>
              <a:ext uri="{FF2B5EF4-FFF2-40B4-BE49-F238E27FC236}">
                <a16:creationId xmlns:a16="http://schemas.microsoft.com/office/drawing/2014/main" id="{52405A03-4869-4DDB-B65B-84D13BF8E970}"/>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8" name="Rectangle 7">
            <a:extLst>
              <a:ext uri="{FF2B5EF4-FFF2-40B4-BE49-F238E27FC236}">
                <a16:creationId xmlns:a16="http://schemas.microsoft.com/office/drawing/2014/main" id="{E77483B7-A9BA-451A-AE41-08F5CF033B81}"/>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9" name="Rectangle 8">
            <a:extLst>
              <a:ext uri="{FF2B5EF4-FFF2-40B4-BE49-F238E27FC236}">
                <a16:creationId xmlns:a16="http://schemas.microsoft.com/office/drawing/2014/main" id="{E584C6A4-D602-4C26-872F-09B51B1055EE}"/>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25 Luật; Điều 16 Quy chế; Mục 3.1.4 HSMT Viettel.</a:t>
            </a:r>
          </a:p>
        </p:txBody>
      </p:sp>
    </p:spTree>
    <p:extLst>
      <p:ext uri="{BB962C8B-B14F-4D97-AF65-F5344CB8AC3E}">
        <p14:creationId xmlns:p14="http://schemas.microsoft.com/office/powerpoint/2010/main" val="14094642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149B588F-0799-484A-9178-74664A5C5094}"/>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CHECKLIST CHỦ ĐẦU TƯ KHI LẬP HSMT</a:t>
            </a:r>
          </a:p>
        </p:txBody>
      </p:sp>
      <p:sp>
        <p:nvSpPr>
          <p:cNvPr id="2" name="Rectangle 1">
            <a:extLst>
              <a:ext uri="{FF2B5EF4-FFF2-40B4-BE49-F238E27FC236}">
                <a16:creationId xmlns:a16="http://schemas.microsoft.com/office/drawing/2014/main" id="{FE2E9D62-CACB-4068-A2C8-838BC463FF92}"/>
              </a:ext>
            </a:extLst>
          </p:cNvPr>
          <p:cNvSpPr>
            <a:spLocks noGrp="1"/>
          </p:cNvSpPr>
          <p:nvPr/>
        </p:nvSpPr>
        <p:spPr>
          <a:xfrm>
            <a:off x="66675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Rectangle 2">
            <a:extLst>
              <a:ext uri="{FF2B5EF4-FFF2-40B4-BE49-F238E27FC236}">
                <a16:creationId xmlns:a16="http://schemas.microsoft.com/office/drawing/2014/main" id="{73F2966E-2EB2-4D5D-97B2-A37FA2CBF68A}"/>
              </a:ext>
            </a:extLst>
          </p:cNvPr>
          <p:cNvSpPr>
            <a:spLocks noGrp="1"/>
          </p:cNvSpPr>
          <p:nvPr/>
        </p:nvSpPr>
        <p:spPr>
          <a:xfrm>
            <a:off x="114300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Xác định hệ thống pháp lý và nguồn vốn.</a:t>
            </a:r>
          </a:p>
        </p:txBody>
      </p:sp>
      <p:sp>
        <p:nvSpPr>
          <p:cNvPr id="4" name="Rectangle 3">
            <a:extLst>
              <a:ext uri="{FF2B5EF4-FFF2-40B4-BE49-F238E27FC236}">
                <a16:creationId xmlns:a16="http://schemas.microsoft.com/office/drawing/2014/main" id="{63377E90-1576-49BA-8650-C107050AE7E2}"/>
              </a:ext>
            </a:extLst>
          </p:cNvPr>
          <p:cNvSpPr>
            <a:spLocks noGrp="1"/>
          </p:cNvSpPr>
          <p:nvPr/>
        </p:nvSpPr>
        <p:spPr>
          <a:xfrm>
            <a:off x="66675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Rectangle 4">
            <a:extLst>
              <a:ext uri="{FF2B5EF4-FFF2-40B4-BE49-F238E27FC236}">
                <a16:creationId xmlns:a16="http://schemas.microsoft.com/office/drawing/2014/main" id="{77F2F0EA-8A59-4329-B580-632067D6B1F0}"/>
              </a:ext>
            </a:extLst>
          </p:cNvPr>
          <p:cNvSpPr>
            <a:spLocks noGrp="1"/>
          </p:cNvSpPr>
          <p:nvPr/>
        </p:nvSpPr>
        <p:spPr>
          <a:xfrm>
            <a:off x="114300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Chọn hình thức/phương thức/phương pháp có căn cứ.</a:t>
            </a:r>
          </a:p>
        </p:txBody>
      </p:sp>
      <p:sp>
        <p:nvSpPr>
          <p:cNvPr id="6" name="Rectangle 5">
            <a:extLst>
              <a:ext uri="{FF2B5EF4-FFF2-40B4-BE49-F238E27FC236}">
                <a16:creationId xmlns:a16="http://schemas.microsoft.com/office/drawing/2014/main" id="{F97629CE-5025-4C55-B099-FAC24479F678}"/>
              </a:ext>
            </a:extLst>
          </p:cNvPr>
          <p:cNvSpPr>
            <a:spLocks noGrp="1"/>
          </p:cNvSpPr>
          <p:nvPr/>
        </p:nvSpPr>
        <p:spPr>
          <a:xfrm>
            <a:off x="666750" y="25908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Rectangle 6">
            <a:extLst>
              <a:ext uri="{FF2B5EF4-FFF2-40B4-BE49-F238E27FC236}">
                <a16:creationId xmlns:a16="http://schemas.microsoft.com/office/drawing/2014/main" id="{BEB7BF41-3466-4934-8172-A987C1E3B917}"/>
              </a:ext>
            </a:extLst>
          </p:cNvPr>
          <p:cNvSpPr>
            <a:spLocks noGrp="1"/>
          </p:cNvSpPr>
          <p:nvPr/>
        </p:nvSpPr>
        <p:spPr>
          <a:xfrm>
            <a:off x="1143000" y="25527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Scope khớp tiêu chí đánh giá và biểu mẫu.</a:t>
            </a:r>
          </a:p>
        </p:txBody>
      </p:sp>
      <p:sp>
        <p:nvSpPr>
          <p:cNvPr id="8" name="Rectangle 7">
            <a:extLst>
              <a:ext uri="{FF2B5EF4-FFF2-40B4-BE49-F238E27FC236}">
                <a16:creationId xmlns:a16="http://schemas.microsoft.com/office/drawing/2014/main" id="{0B68E938-BA3B-40B9-93E6-EB9CC728FD49}"/>
              </a:ext>
            </a:extLst>
          </p:cNvPr>
          <p:cNvSpPr>
            <a:spLocks noGrp="1"/>
          </p:cNvSpPr>
          <p:nvPr/>
        </p:nvSpPr>
        <p:spPr>
          <a:xfrm>
            <a:off x="628650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Rectangle 8">
            <a:extLst>
              <a:ext uri="{FF2B5EF4-FFF2-40B4-BE49-F238E27FC236}">
                <a16:creationId xmlns:a16="http://schemas.microsoft.com/office/drawing/2014/main" id="{93E9053D-1A64-4EA5-94B4-E18E169052EC}"/>
              </a:ext>
            </a:extLst>
          </p:cNvPr>
          <p:cNvSpPr>
            <a:spLocks noGrp="1"/>
          </p:cNvSpPr>
          <p:nvPr/>
        </p:nvSpPr>
        <p:spPr>
          <a:xfrm>
            <a:off x="676275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Kiểm tra mốc thời gian, bảo đảm, làm rõ, sửa đổi.</a:t>
            </a:r>
          </a:p>
        </p:txBody>
      </p:sp>
      <p:sp>
        <p:nvSpPr>
          <p:cNvPr id="10" name="Rectangle 9">
            <a:extLst>
              <a:ext uri="{FF2B5EF4-FFF2-40B4-BE49-F238E27FC236}">
                <a16:creationId xmlns:a16="http://schemas.microsoft.com/office/drawing/2014/main" id="{24E90607-B3C6-4849-B139-BF563D1FE437}"/>
              </a:ext>
            </a:extLst>
          </p:cNvPr>
          <p:cNvSpPr>
            <a:spLocks noGrp="1"/>
          </p:cNvSpPr>
          <p:nvPr/>
        </p:nvSpPr>
        <p:spPr>
          <a:xfrm>
            <a:off x="628650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Rectangle 10">
            <a:extLst>
              <a:ext uri="{FF2B5EF4-FFF2-40B4-BE49-F238E27FC236}">
                <a16:creationId xmlns:a16="http://schemas.microsoft.com/office/drawing/2014/main" id="{3AF1E875-D0F9-4D10-9084-035EF67D9CB6}"/>
              </a:ext>
            </a:extLst>
          </p:cNvPr>
          <p:cNvSpPr>
            <a:spLocks noGrp="1"/>
          </p:cNvSpPr>
          <p:nvPr/>
        </p:nvSpPr>
        <p:spPr>
          <a:xfrm>
            <a:off x="676275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Rà soát cạnh tranh, nhãn hiệu, xuất xứ, nhà thầu phụ, chứng chỉ.</a:t>
            </a:r>
          </a:p>
        </p:txBody>
      </p:sp>
      <p:sp>
        <p:nvSpPr>
          <p:cNvPr id="12" name="Rectangle 11">
            <a:extLst>
              <a:ext uri="{FF2B5EF4-FFF2-40B4-BE49-F238E27FC236}">
                <a16:creationId xmlns:a16="http://schemas.microsoft.com/office/drawing/2014/main" id="{D9A00FAE-E177-46A4-9347-4C3F57CED3FB}"/>
              </a:ext>
            </a:extLst>
          </p:cNvPr>
          <p:cNvSpPr>
            <a:spLocks noGrp="1"/>
          </p:cNvSpPr>
          <p:nvPr/>
        </p:nvSpPr>
        <p:spPr>
          <a:xfrm>
            <a:off x="6286500" y="25908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3" name="Rectangle 12">
            <a:extLst>
              <a:ext uri="{FF2B5EF4-FFF2-40B4-BE49-F238E27FC236}">
                <a16:creationId xmlns:a16="http://schemas.microsoft.com/office/drawing/2014/main" id="{0FE1984F-5DBE-4790-945E-67F7D2F719A3}"/>
              </a:ext>
            </a:extLst>
          </p:cNvPr>
          <p:cNvSpPr>
            <a:spLocks noGrp="1"/>
          </p:cNvSpPr>
          <p:nvPr/>
        </p:nvSpPr>
        <p:spPr>
          <a:xfrm>
            <a:off x="6762750" y="25527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Ghi rõ căn cứ và điểm cần xác minh.</a:t>
            </a:r>
          </a:p>
        </p:txBody>
      </p:sp>
      <p:sp>
        <p:nvSpPr>
          <p:cNvPr id="14" name="Rectangle 13">
            <a:extLst>
              <a:ext uri="{FF2B5EF4-FFF2-40B4-BE49-F238E27FC236}">
                <a16:creationId xmlns:a16="http://schemas.microsoft.com/office/drawing/2014/main" id="{A32775B5-4439-4707-B986-41BA9F4E9A26}"/>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5" name="Rectangle: Rounded Corners 14">
            <a:extLst>
              <a:ext uri="{FF2B5EF4-FFF2-40B4-BE49-F238E27FC236}">
                <a16:creationId xmlns:a16="http://schemas.microsoft.com/office/drawing/2014/main" id="{6C754571-5AC5-4D09-8A05-AFC9429FE0A8}"/>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6" name="Rectangle 15">
            <a:extLst>
              <a:ext uri="{FF2B5EF4-FFF2-40B4-BE49-F238E27FC236}">
                <a16:creationId xmlns:a16="http://schemas.microsoft.com/office/drawing/2014/main" id="{D1AE046D-926B-4391-B6F9-C047F9BD2C2D}"/>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67</a:t>
            </a:r>
          </a:p>
        </p:txBody>
      </p:sp>
      <p:sp>
        <p:nvSpPr>
          <p:cNvPr id="17" name="Rectangle 16">
            <a:extLst>
              <a:ext uri="{FF2B5EF4-FFF2-40B4-BE49-F238E27FC236}">
                <a16:creationId xmlns:a16="http://schemas.microsoft.com/office/drawing/2014/main" id="{ACF251AC-708C-4DA2-A8D9-59E40CEBA464}"/>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8" name="Rectangle 17">
            <a:extLst>
              <a:ext uri="{FF2B5EF4-FFF2-40B4-BE49-F238E27FC236}">
                <a16:creationId xmlns:a16="http://schemas.microsoft.com/office/drawing/2014/main" id="{3395AE04-15B1-4397-AB99-A507D4F03ADD}"/>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9" name="Rectangle 18">
            <a:extLst>
              <a:ext uri="{FF2B5EF4-FFF2-40B4-BE49-F238E27FC236}">
                <a16:creationId xmlns:a16="http://schemas.microsoft.com/office/drawing/2014/main" id="{E219E12C-9468-4EE2-83A5-A05F49DEE9F5}"/>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Luật; VBHN 36/2026; Quy chế 2486; E-HSMT Cần Thơ; HSMT 101.</a:t>
            </a:r>
          </a:p>
        </p:txBody>
      </p:sp>
    </p:spTree>
    <p:extLst>
      <p:ext uri="{BB962C8B-B14F-4D97-AF65-F5344CB8AC3E}">
        <p14:creationId xmlns:p14="http://schemas.microsoft.com/office/powerpoint/2010/main" val="119367243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394F3B7-AE21-4D38-9D23-9CF3BDCB2658}"/>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CHECKLIST NHÀ THẦU TRƯỚC KHI NỘP E/A-HSDT</a:t>
            </a:r>
          </a:p>
        </p:txBody>
      </p:sp>
      <p:sp>
        <p:nvSpPr>
          <p:cNvPr id="2" name="Rectangle 1">
            <a:extLst>
              <a:ext uri="{FF2B5EF4-FFF2-40B4-BE49-F238E27FC236}">
                <a16:creationId xmlns:a16="http://schemas.microsoft.com/office/drawing/2014/main" id="{CC932BB6-C3A9-4C4D-B4DE-EE1BC9ACD620}"/>
              </a:ext>
            </a:extLst>
          </p:cNvPr>
          <p:cNvSpPr>
            <a:spLocks noGrp="1"/>
          </p:cNvSpPr>
          <p:nvPr/>
        </p:nvSpPr>
        <p:spPr>
          <a:xfrm>
            <a:off x="66675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Rectangle 2">
            <a:extLst>
              <a:ext uri="{FF2B5EF4-FFF2-40B4-BE49-F238E27FC236}">
                <a16:creationId xmlns:a16="http://schemas.microsoft.com/office/drawing/2014/main" id="{A6B45620-4446-4A5B-A4D7-CAF777030AB9}"/>
              </a:ext>
            </a:extLst>
          </p:cNvPr>
          <p:cNvSpPr>
            <a:spLocks noGrp="1"/>
          </p:cNvSpPr>
          <p:nvPr/>
        </p:nvSpPr>
        <p:spPr>
          <a:xfrm>
            <a:off x="114300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Đúng tư cách, liên danh, ủy quyền và chữ ký.</a:t>
            </a:r>
          </a:p>
        </p:txBody>
      </p:sp>
      <p:sp>
        <p:nvSpPr>
          <p:cNvPr id="4" name="Rectangle 3">
            <a:extLst>
              <a:ext uri="{FF2B5EF4-FFF2-40B4-BE49-F238E27FC236}">
                <a16:creationId xmlns:a16="http://schemas.microsoft.com/office/drawing/2014/main" id="{9A72B6E8-7924-4CB2-A6DC-F9F2C953EEFE}"/>
              </a:ext>
            </a:extLst>
          </p:cNvPr>
          <p:cNvSpPr>
            <a:spLocks noGrp="1"/>
          </p:cNvSpPr>
          <p:nvPr/>
        </p:nvSpPr>
        <p:spPr>
          <a:xfrm>
            <a:off x="66675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Rectangle 4">
            <a:extLst>
              <a:ext uri="{FF2B5EF4-FFF2-40B4-BE49-F238E27FC236}">
                <a16:creationId xmlns:a16="http://schemas.microsoft.com/office/drawing/2014/main" id="{B1373050-EB1F-4221-9C37-ADDF677AFCB0}"/>
              </a:ext>
            </a:extLst>
          </p:cNvPr>
          <p:cNvSpPr>
            <a:spLocks noGrp="1"/>
          </p:cNvSpPr>
          <p:nvPr/>
        </p:nvSpPr>
        <p:spPr>
          <a:xfrm>
            <a:off x="114300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Đủ hiệu lực HSDT và bảo đảm dự thầu.</a:t>
            </a:r>
          </a:p>
        </p:txBody>
      </p:sp>
      <p:sp>
        <p:nvSpPr>
          <p:cNvPr id="6" name="Rectangle 5">
            <a:extLst>
              <a:ext uri="{FF2B5EF4-FFF2-40B4-BE49-F238E27FC236}">
                <a16:creationId xmlns:a16="http://schemas.microsoft.com/office/drawing/2014/main" id="{8D897F76-20D1-4067-B7FB-851368FEFA4F}"/>
              </a:ext>
            </a:extLst>
          </p:cNvPr>
          <p:cNvSpPr>
            <a:spLocks noGrp="1"/>
          </p:cNvSpPr>
          <p:nvPr/>
        </p:nvSpPr>
        <p:spPr>
          <a:xfrm>
            <a:off x="666750" y="25908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Rectangle 6">
            <a:extLst>
              <a:ext uri="{FF2B5EF4-FFF2-40B4-BE49-F238E27FC236}">
                <a16:creationId xmlns:a16="http://schemas.microsoft.com/office/drawing/2014/main" id="{A843899F-0397-499C-8DE8-7958ED7840AE}"/>
              </a:ext>
            </a:extLst>
          </p:cNvPr>
          <p:cNvSpPr>
            <a:spLocks noGrp="1"/>
          </p:cNvSpPr>
          <p:nvPr/>
        </p:nvSpPr>
        <p:spPr>
          <a:xfrm>
            <a:off x="1143000" y="25527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Đủ tài liệu tài chính, thuế, năng lực, hợp đồng tương tự.</a:t>
            </a:r>
          </a:p>
        </p:txBody>
      </p:sp>
      <p:sp>
        <p:nvSpPr>
          <p:cNvPr id="8" name="Rectangle 7">
            <a:extLst>
              <a:ext uri="{FF2B5EF4-FFF2-40B4-BE49-F238E27FC236}">
                <a16:creationId xmlns:a16="http://schemas.microsoft.com/office/drawing/2014/main" id="{FE62C57E-8823-4B89-A8D3-670B54FF3170}"/>
              </a:ext>
            </a:extLst>
          </p:cNvPr>
          <p:cNvSpPr>
            <a:spLocks noGrp="1"/>
          </p:cNvSpPr>
          <p:nvPr/>
        </p:nvSpPr>
        <p:spPr>
          <a:xfrm>
            <a:off x="628650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Rectangle 8">
            <a:extLst>
              <a:ext uri="{FF2B5EF4-FFF2-40B4-BE49-F238E27FC236}">
                <a16:creationId xmlns:a16="http://schemas.microsoft.com/office/drawing/2014/main" id="{C71D952C-2EA8-4F8B-A21A-5243B56AB4D2}"/>
              </a:ext>
            </a:extLst>
          </p:cNvPr>
          <p:cNvSpPr>
            <a:spLocks noGrp="1"/>
          </p:cNvSpPr>
          <p:nvPr/>
        </p:nvSpPr>
        <p:spPr>
          <a:xfrm>
            <a:off x="676275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Đủ giải pháp kỹ thuật, nhân sự, tiến độ và bảng giá.</a:t>
            </a:r>
          </a:p>
        </p:txBody>
      </p:sp>
      <p:sp>
        <p:nvSpPr>
          <p:cNvPr id="10" name="Rectangle 9">
            <a:extLst>
              <a:ext uri="{FF2B5EF4-FFF2-40B4-BE49-F238E27FC236}">
                <a16:creationId xmlns:a16="http://schemas.microsoft.com/office/drawing/2014/main" id="{3D7466B2-5698-4A66-AF32-2080EFD0B9F4}"/>
              </a:ext>
            </a:extLst>
          </p:cNvPr>
          <p:cNvSpPr>
            <a:spLocks noGrp="1"/>
          </p:cNvSpPr>
          <p:nvPr/>
        </p:nvSpPr>
        <p:spPr>
          <a:xfrm>
            <a:off x="628650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Rectangle 10">
            <a:extLst>
              <a:ext uri="{FF2B5EF4-FFF2-40B4-BE49-F238E27FC236}">
                <a16:creationId xmlns:a16="http://schemas.microsoft.com/office/drawing/2014/main" id="{9B94AE85-C0AB-4842-B485-D6B652279DD8}"/>
              </a:ext>
            </a:extLst>
          </p:cNvPr>
          <p:cNvSpPr>
            <a:spLocks noGrp="1"/>
          </p:cNvSpPr>
          <p:nvPr/>
        </p:nvSpPr>
        <p:spPr>
          <a:xfrm>
            <a:off x="676275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Kiểm tra webform/file, mật khẩu, định dạng, thời gian nộp.</a:t>
            </a:r>
          </a:p>
        </p:txBody>
      </p:sp>
      <p:sp>
        <p:nvSpPr>
          <p:cNvPr id="12" name="Rectangle 11">
            <a:extLst>
              <a:ext uri="{FF2B5EF4-FFF2-40B4-BE49-F238E27FC236}">
                <a16:creationId xmlns:a16="http://schemas.microsoft.com/office/drawing/2014/main" id="{FE9375EF-CDE4-4D00-B3C6-C2BCE64863DF}"/>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3" name="Rectangle: Rounded Corners 12">
            <a:extLst>
              <a:ext uri="{FF2B5EF4-FFF2-40B4-BE49-F238E27FC236}">
                <a16:creationId xmlns:a16="http://schemas.microsoft.com/office/drawing/2014/main" id="{4258DE30-6FE8-4BA2-BB73-ED01D9BBC941}"/>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4" name="Rectangle 13">
            <a:extLst>
              <a:ext uri="{FF2B5EF4-FFF2-40B4-BE49-F238E27FC236}">
                <a16:creationId xmlns:a16="http://schemas.microsoft.com/office/drawing/2014/main" id="{F44CE026-5046-45AD-9304-ADED5B3B465B}"/>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68</a:t>
            </a:r>
          </a:p>
        </p:txBody>
      </p:sp>
      <p:sp>
        <p:nvSpPr>
          <p:cNvPr id="15" name="Rectangle 14">
            <a:extLst>
              <a:ext uri="{FF2B5EF4-FFF2-40B4-BE49-F238E27FC236}">
                <a16:creationId xmlns:a16="http://schemas.microsoft.com/office/drawing/2014/main" id="{1EEBABA6-39B2-45D8-A0CC-EF39835AE18E}"/>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Rectangle 15">
            <a:extLst>
              <a:ext uri="{FF2B5EF4-FFF2-40B4-BE49-F238E27FC236}">
                <a16:creationId xmlns:a16="http://schemas.microsoft.com/office/drawing/2014/main" id="{DC5D89D7-44E8-4884-A85A-150DE90BCB7D}"/>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7" name="Rectangle 16">
            <a:extLst>
              <a:ext uri="{FF2B5EF4-FFF2-40B4-BE49-F238E27FC236}">
                <a16:creationId xmlns:a16="http://schemas.microsoft.com/office/drawing/2014/main" id="{5447FA6A-BB86-4E3C-95CA-A66FBB40A822}"/>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Mục 10-21 E-CDNT HSMT Cần Thơ; Mục 5, 16-20 A-CDNT HSMT 101.</a:t>
            </a:r>
          </a:p>
        </p:txBody>
      </p:sp>
    </p:spTree>
    <p:extLst>
      <p:ext uri="{BB962C8B-B14F-4D97-AF65-F5344CB8AC3E}">
        <p14:creationId xmlns:p14="http://schemas.microsoft.com/office/powerpoint/2010/main" val="15625528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E426CB0E-7988-4E1A-AFE0-C820A86273C6}"/>
              </a:ext>
            </a:extLst>
          </p:cNvPr>
          <p:cNvSpPr>
            <a:spLocks noGrp="1"/>
          </p:cNvSpPr>
          <p:nvPr/>
        </p:nvSpPr>
        <p:spPr>
          <a:xfrm>
            <a:off x="590550" y="266700"/>
            <a:ext cx="7334250" cy="742950"/>
          </a:xfrm>
          <a:prstGeom prst="rect">
            <a:avLst/>
          </a:prstGeom>
          <a:noFill/>
          <a:ln w="0">
            <a:noFill/>
          </a:ln>
        </p:spPr>
        <p:txBody>
          <a:bodyPr anchor="t">
            <a:noAutofit/>
          </a:bodyPr>
          <a:lstStyle/>
          <a:p>
            <a:pPr>
              <a:defRPr sz="2550" b="1" i="0">
                <a:solidFill>
                  <a:srgbClr val="E6002D"/>
                </a:solidFill>
                <a:latin typeface="Arial"/>
                <a:ea typeface="Arial"/>
                <a:cs typeface="Arial"/>
              </a:defRPr>
            </a:pPr>
            <a:r>
              <a:rPr sz="2550" b="1" i="0">
                <a:solidFill>
                  <a:srgbClr val="E6002D"/>
                </a:solidFill>
                <a:latin typeface="Arial"/>
                <a:ea typeface="Arial"/>
                <a:cs typeface="Arial"/>
              </a:rPr>
              <a:t>CHECKLIST KHI NHẬN YÊU CẦU LÀM RÕ HSDT</a:t>
            </a:r>
          </a:p>
        </p:txBody>
      </p:sp>
      <p:sp>
        <p:nvSpPr>
          <p:cNvPr id="2" name="Rectangle 1">
            <a:extLst>
              <a:ext uri="{FF2B5EF4-FFF2-40B4-BE49-F238E27FC236}">
                <a16:creationId xmlns:a16="http://schemas.microsoft.com/office/drawing/2014/main" id="{D8B7FD93-8931-4A31-8D8F-A8D28C449136}"/>
              </a:ext>
            </a:extLst>
          </p:cNvPr>
          <p:cNvSpPr>
            <a:spLocks noGrp="1"/>
          </p:cNvSpPr>
          <p:nvPr/>
        </p:nvSpPr>
        <p:spPr>
          <a:xfrm>
            <a:off x="66675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Rectangle 2">
            <a:extLst>
              <a:ext uri="{FF2B5EF4-FFF2-40B4-BE49-F238E27FC236}">
                <a16:creationId xmlns:a16="http://schemas.microsoft.com/office/drawing/2014/main" id="{987E596B-F5D1-496D-A724-A3CABF3B6663}"/>
              </a:ext>
            </a:extLst>
          </p:cNvPr>
          <p:cNvSpPr>
            <a:spLocks noGrp="1"/>
          </p:cNvSpPr>
          <p:nvPr/>
        </p:nvSpPr>
        <p:spPr>
          <a:xfrm>
            <a:off x="114300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Xác định nội dung và thời hạn trả lời.</a:t>
            </a:r>
          </a:p>
        </p:txBody>
      </p:sp>
      <p:sp>
        <p:nvSpPr>
          <p:cNvPr id="4" name="Rectangle 3">
            <a:extLst>
              <a:ext uri="{FF2B5EF4-FFF2-40B4-BE49-F238E27FC236}">
                <a16:creationId xmlns:a16="http://schemas.microsoft.com/office/drawing/2014/main" id="{CD31D8E3-7422-4D65-8EEE-5ACFD50F44A9}"/>
              </a:ext>
            </a:extLst>
          </p:cNvPr>
          <p:cNvSpPr>
            <a:spLocks noGrp="1"/>
          </p:cNvSpPr>
          <p:nvPr/>
        </p:nvSpPr>
        <p:spPr>
          <a:xfrm>
            <a:off x="66675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Rectangle 4">
            <a:extLst>
              <a:ext uri="{FF2B5EF4-FFF2-40B4-BE49-F238E27FC236}">
                <a16:creationId xmlns:a16="http://schemas.microsoft.com/office/drawing/2014/main" id="{25E0F65E-3604-475B-AB9A-AD77F5051C16}"/>
              </a:ext>
            </a:extLst>
          </p:cNvPr>
          <p:cNvSpPr>
            <a:spLocks noGrp="1"/>
          </p:cNvSpPr>
          <p:nvPr/>
        </p:nvSpPr>
        <p:spPr>
          <a:xfrm>
            <a:off x="114300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Chỉ trả lời đúng câu hỏi, dùng tài liệu tồn tại trước đóng thầu.</a:t>
            </a:r>
          </a:p>
        </p:txBody>
      </p:sp>
      <p:sp>
        <p:nvSpPr>
          <p:cNvPr id="6" name="Rectangle 5">
            <a:extLst>
              <a:ext uri="{FF2B5EF4-FFF2-40B4-BE49-F238E27FC236}">
                <a16:creationId xmlns:a16="http://schemas.microsoft.com/office/drawing/2014/main" id="{254AF19D-D8F0-4A36-A1B8-8AEB6AED391D}"/>
              </a:ext>
            </a:extLst>
          </p:cNvPr>
          <p:cNvSpPr>
            <a:spLocks noGrp="1"/>
          </p:cNvSpPr>
          <p:nvPr/>
        </p:nvSpPr>
        <p:spPr>
          <a:xfrm>
            <a:off x="666750" y="25908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Rectangle 6">
            <a:extLst>
              <a:ext uri="{FF2B5EF4-FFF2-40B4-BE49-F238E27FC236}">
                <a16:creationId xmlns:a16="http://schemas.microsoft.com/office/drawing/2014/main" id="{B534CD1B-8272-468E-AC61-C1502F0FB1C2}"/>
              </a:ext>
            </a:extLst>
          </p:cNvPr>
          <p:cNvSpPr>
            <a:spLocks noGrp="1"/>
          </p:cNvSpPr>
          <p:nvPr/>
        </p:nvSpPr>
        <p:spPr>
          <a:xfrm>
            <a:off x="1143000" y="25527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Không thay giá, không đổi bản chất giải pháp.</a:t>
            </a:r>
          </a:p>
        </p:txBody>
      </p:sp>
      <p:sp>
        <p:nvSpPr>
          <p:cNvPr id="8" name="Rectangle 7">
            <a:extLst>
              <a:ext uri="{FF2B5EF4-FFF2-40B4-BE49-F238E27FC236}">
                <a16:creationId xmlns:a16="http://schemas.microsoft.com/office/drawing/2014/main" id="{F1540457-F14D-4F91-A1D3-4C40F855CC1B}"/>
              </a:ext>
            </a:extLst>
          </p:cNvPr>
          <p:cNvSpPr>
            <a:spLocks noGrp="1"/>
          </p:cNvSpPr>
          <p:nvPr/>
        </p:nvSpPr>
        <p:spPr>
          <a:xfrm>
            <a:off x="628650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Rectangle 8">
            <a:extLst>
              <a:ext uri="{FF2B5EF4-FFF2-40B4-BE49-F238E27FC236}">
                <a16:creationId xmlns:a16="http://schemas.microsoft.com/office/drawing/2014/main" id="{E4FF7E10-DEC0-42BA-83E6-5C8BD35FA102}"/>
              </a:ext>
            </a:extLst>
          </p:cNvPr>
          <p:cNvSpPr>
            <a:spLocks noGrp="1"/>
          </p:cNvSpPr>
          <p:nvPr/>
        </p:nvSpPr>
        <p:spPr>
          <a:xfrm>
            <a:off x="676275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Kiểm tra tính nhất quán giữa webform, file và tài liệu bổ sung.</a:t>
            </a:r>
          </a:p>
        </p:txBody>
      </p:sp>
      <p:sp>
        <p:nvSpPr>
          <p:cNvPr id="10" name="Rectangle 9">
            <a:extLst>
              <a:ext uri="{FF2B5EF4-FFF2-40B4-BE49-F238E27FC236}">
                <a16:creationId xmlns:a16="http://schemas.microsoft.com/office/drawing/2014/main" id="{9284D3A5-4CAE-4C1D-9EAA-D85DAF86439C}"/>
              </a:ext>
            </a:extLst>
          </p:cNvPr>
          <p:cNvSpPr>
            <a:spLocks noGrp="1"/>
          </p:cNvSpPr>
          <p:nvPr/>
        </p:nvSpPr>
        <p:spPr>
          <a:xfrm>
            <a:off x="628650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Rectangle 10">
            <a:extLst>
              <a:ext uri="{FF2B5EF4-FFF2-40B4-BE49-F238E27FC236}">
                <a16:creationId xmlns:a16="http://schemas.microsoft.com/office/drawing/2014/main" id="{89096296-6AEE-47F9-9833-F0FC27D5925B}"/>
              </a:ext>
            </a:extLst>
          </p:cNvPr>
          <p:cNvSpPr>
            <a:spLocks noGrp="1"/>
          </p:cNvSpPr>
          <p:nvPr/>
        </p:nvSpPr>
        <p:spPr>
          <a:xfrm>
            <a:off x="676275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Lưu bản gửi, căn cứ và người phê duyệt.</a:t>
            </a:r>
          </a:p>
        </p:txBody>
      </p:sp>
      <p:sp>
        <p:nvSpPr>
          <p:cNvPr id="12" name="Rectangle 11">
            <a:extLst>
              <a:ext uri="{FF2B5EF4-FFF2-40B4-BE49-F238E27FC236}">
                <a16:creationId xmlns:a16="http://schemas.microsoft.com/office/drawing/2014/main" id="{EB1471AB-C46E-4522-81D6-017F5A939D04}"/>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3" name="Rectangle: Rounded Corners 12">
            <a:extLst>
              <a:ext uri="{FF2B5EF4-FFF2-40B4-BE49-F238E27FC236}">
                <a16:creationId xmlns:a16="http://schemas.microsoft.com/office/drawing/2014/main" id="{BDA43389-B197-4D41-B953-5B9EBDF952DF}"/>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4" name="Rectangle 13">
            <a:extLst>
              <a:ext uri="{FF2B5EF4-FFF2-40B4-BE49-F238E27FC236}">
                <a16:creationId xmlns:a16="http://schemas.microsoft.com/office/drawing/2014/main" id="{D706C63E-A935-43F7-B3B9-0BC1E12A0F57}"/>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69</a:t>
            </a:r>
          </a:p>
        </p:txBody>
      </p:sp>
      <p:sp>
        <p:nvSpPr>
          <p:cNvPr id="15" name="Rectangle 14">
            <a:extLst>
              <a:ext uri="{FF2B5EF4-FFF2-40B4-BE49-F238E27FC236}">
                <a16:creationId xmlns:a16="http://schemas.microsoft.com/office/drawing/2014/main" id="{6BB42C50-7683-41FE-A2FD-7DCE23EB2CC6}"/>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6" name="Rectangle 15">
            <a:extLst>
              <a:ext uri="{FF2B5EF4-FFF2-40B4-BE49-F238E27FC236}">
                <a16:creationId xmlns:a16="http://schemas.microsoft.com/office/drawing/2014/main" id="{AAFF7B2B-890B-4028-8E6C-1801D0C81AAF}"/>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7" name="Rectangle 16">
            <a:extLst>
              <a:ext uri="{FF2B5EF4-FFF2-40B4-BE49-F238E27FC236}">
                <a16:creationId xmlns:a16="http://schemas.microsoft.com/office/drawing/2014/main" id="{B6139693-57BF-42ED-908B-7CF277497FBD}"/>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78, 82 Luật; Mục 27.4-27.6 A-CDNT HSMT 101; Mục 30 E-CDNT HSMT Cần Thơ.</a:t>
            </a:r>
          </a:p>
        </p:txBody>
      </p:sp>
    </p:spTree>
    <p:extLst>
      <p:ext uri="{BB962C8B-B14F-4D97-AF65-F5344CB8AC3E}">
        <p14:creationId xmlns:p14="http://schemas.microsoft.com/office/powerpoint/2010/main" val="6046425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A3812CD1-E9A0-4D01-A2F6-48C74AA11756}"/>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CHECKLIST CUỐI KHÓA: 12 CÂU HỎI TRƯỚC KHI KẾT LUẬN</a:t>
            </a:r>
          </a:p>
        </p:txBody>
      </p:sp>
      <p:sp>
        <p:nvSpPr>
          <p:cNvPr id="2" name="Rectangle 1">
            <a:extLst>
              <a:ext uri="{FF2B5EF4-FFF2-40B4-BE49-F238E27FC236}">
                <a16:creationId xmlns:a16="http://schemas.microsoft.com/office/drawing/2014/main" id="{A9E66E44-1A1D-441F-A330-8667CB2249DA}"/>
              </a:ext>
            </a:extLst>
          </p:cNvPr>
          <p:cNvSpPr>
            <a:spLocks noGrp="1"/>
          </p:cNvSpPr>
          <p:nvPr/>
        </p:nvSpPr>
        <p:spPr>
          <a:xfrm>
            <a:off x="66675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3" name="Rectangle 2">
            <a:extLst>
              <a:ext uri="{FF2B5EF4-FFF2-40B4-BE49-F238E27FC236}">
                <a16:creationId xmlns:a16="http://schemas.microsoft.com/office/drawing/2014/main" id="{3BE8901A-9EB6-48CB-BB9A-EBDFEBCFE440}"/>
              </a:ext>
            </a:extLst>
          </p:cNvPr>
          <p:cNvSpPr>
            <a:spLocks noGrp="1"/>
          </p:cNvSpPr>
          <p:nvPr/>
        </p:nvSpPr>
        <p:spPr>
          <a:xfrm>
            <a:off x="114300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Gói thầu thuộc hệ thống nào?</a:t>
            </a:r>
          </a:p>
        </p:txBody>
      </p:sp>
      <p:sp>
        <p:nvSpPr>
          <p:cNvPr id="4" name="Rectangle 3">
            <a:extLst>
              <a:ext uri="{FF2B5EF4-FFF2-40B4-BE49-F238E27FC236}">
                <a16:creationId xmlns:a16="http://schemas.microsoft.com/office/drawing/2014/main" id="{414E3C9E-6573-48F5-A2E2-C16700C41479}"/>
              </a:ext>
            </a:extLst>
          </p:cNvPr>
          <p:cNvSpPr>
            <a:spLocks noGrp="1"/>
          </p:cNvSpPr>
          <p:nvPr/>
        </p:nvSpPr>
        <p:spPr>
          <a:xfrm>
            <a:off x="66675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5" name="Rectangle 4">
            <a:extLst>
              <a:ext uri="{FF2B5EF4-FFF2-40B4-BE49-F238E27FC236}">
                <a16:creationId xmlns:a16="http://schemas.microsoft.com/office/drawing/2014/main" id="{244DBA89-ECE5-41EE-8DF2-CEC858FC28AB}"/>
              </a:ext>
            </a:extLst>
          </p:cNvPr>
          <p:cNvSpPr>
            <a:spLocks noGrp="1"/>
          </p:cNvSpPr>
          <p:nvPr/>
        </p:nvSpPr>
        <p:spPr>
          <a:xfrm>
            <a:off x="114300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Căn cứ phiên bản nào?</a:t>
            </a:r>
          </a:p>
        </p:txBody>
      </p:sp>
      <p:sp>
        <p:nvSpPr>
          <p:cNvPr id="6" name="Rectangle 5">
            <a:extLst>
              <a:ext uri="{FF2B5EF4-FFF2-40B4-BE49-F238E27FC236}">
                <a16:creationId xmlns:a16="http://schemas.microsoft.com/office/drawing/2014/main" id="{75CA779C-BB76-4F2D-B1B8-39245422FA44}"/>
              </a:ext>
            </a:extLst>
          </p:cNvPr>
          <p:cNvSpPr>
            <a:spLocks noGrp="1"/>
          </p:cNvSpPr>
          <p:nvPr/>
        </p:nvSpPr>
        <p:spPr>
          <a:xfrm>
            <a:off x="666750" y="25908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7" name="Rectangle 6">
            <a:extLst>
              <a:ext uri="{FF2B5EF4-FFF2-40B4-BE49-F238E27FC236}">
                <a16:creationId xmlns:a16="http://schemas.microsoft.com/office/drawing/2014/main" id="{2707C3BE-95C4-4E9F-9868-A936D35A0F7A}"/>
              </a:ext>
            </a:extLst>
          </p:cNvPr>
          <p:cNvSpPr>
            <a:spLocks noGrp="1"/>
          </p:cNvSpPr>
          <p:nvPr/>
        </p:nvSpPr>
        <p:spPr>
          <a:xfrm>
            <a:off x="1143000" y="25527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Hình thức và phương thức gì?</a:t>
            </a:r>
          </a:p>
        </p:txBody>
      </p:sp>
      <p:sp>
        <p:nvSpPr>
          <p:cNvPr id="8" name="Rectangle 7">
            <a:extLst>
              <a:ext uri="{FF2B5EF4-FFF2-40B4-BE49-F238E27FC236}">
                <a16:creationId xmlns:a16="http://schemas.microsoft.com/office/drawing/2014/main" id="{B111FB81-0112-4431-BF65-0093B9F3AF0A}"/>
              </a:ext>
            </a:extLst>
          </p:cNvPr>
          <p:cNvSpPr>
            <a:spLocks noGrp="1"/>
          </p:cNvSpPr>
          <p:nvPr/>
        </p:nvSpPr>
        <p:spPr>
          <a:xfrm>
            <a:off x="666750" y="32575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9" name="Rectangle 8">
            <a:extLst>
              <a:ext uri="{FF2B5EF4-FFF2-40B4-BE49-F238E27FC236}">
                <a16:creationId xmlns:a16="http://schemas.microsoft.com/office/drawing/2014/main" id="{E9FF1FB8-82F4-46A3-B5D8-B239A9422E38}"/>
              </a:ext>
            </a:extLst>
          </p:cNvPr>
          <p:cNvSpPr>
            <a:spLocks noGrp="1"/>
          </p:cNvSpPr>
          <p:nvPr/>
        </p:nvSpPr>
        <p:spPr>
          <a:xfrm>
            <a:off x="1143000" y="32194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Mốc nào là ngày, mốc nào là ngày làm việc?</a:t>
            </a:r>
          </a:p>
        </p:txBody>
      </p:sp>
      <p:sp>
        <p:nvSpPr>
          <p:cNvPr id="10" name="Rectangle 9">
            <a:extLst>
              <a:ext uri="{FF2B5EF4-FFF2-40B4-BE49-F238E27FC236}">
                <a16:creationId xmlns:a16="http://schemas.microsoft.com/office/drawing/2014/main" id="{51FAA8CF-7F2F-413D-8A52-D9FC65CE0548}"/>
              </a:ext>
            </a:extLst>
          </p:cNvPr>
          <p:cNvSpPr>
            <a:spLocks noGrp="1"/>
          </p:cNvSpPr>
          <p:nvPr/>
        </p:nvSpPr>
        <p:spPr>
          <a:xfrm>
            <a:off x="666750" y="3924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1" name="Rectangle 10">
            <a:extLst>
              <a:ext uri="{FF2B5EF4-FFF2-40B4-BE49-F238E27FC236}">
                <a16:creationId xmlns:a16="http://schemas.microsoft.com/office/drawing/2014/main" id="{7ABC28AB-5C42-438A-A729-D18F42C7685D}"/>
              </a:ext>
            </a:extLst>
          </p:cNvPr>
          <p:cNvSpPr>
            <a:spLocks noGrp="1"/>
          </p:cNvSpPr>
          <p:nvPr/>
        </p:nvSpPr>
        <p:spPr>
          <a:xfrm>
            <a:off x="1143000" y="3886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Scope có khớp tiêu chí không?</a:t>
            </a:r>
          </a:p>
        </p:txBody>
      </p:sp>
      <p:sp>
        <p:nvSpPr>
          <p:cNvPr id="12" name="Rectangle 11">
            <a:extLst>
              <a:ext uri="{FF2B5EF4-FFF2-40B4-BE49-F238E27FC236}">
                <a16:creationId xmlns:a16="http://schemas.microsoft.com/office/drawing/2014/main" id="{D3C38C5E-AD42-4446-8C9B-47D122BD3C64}"/>
              </a:ext>
            </a:extLst>
          </p:cNvPr>
          <p:cNvSpPr>
            <a:spLocks noGrp="1"/>
          </p:cNvSpPr>
          <p:nvPr/>
        </p:nvSpPr>
        <p:spPr>
          <a:xfrm>
            <a:off x="666750" y="4591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3" name="Rectangle 12">
            <a:extLst>
              <a:ext uri="{FF2B5EF4-FFF2-40B4-BE49-F238E27FC236}">
                <a16:creationId xmlns:a16="http://schemas.microsoft.com/office/drawing/2014/main" id="{706A3CE7-8F34-4A9F-A008-499965510BBD}"/>
              </a:ext>
            </a:extLst>
          </p:cNvPr>
          <p:cNvSpPr>
            <a:spLocks noGrp="1"/>
          </p:cNvSpPr>
          <p:nvPr/>
        </p:nvSpPr>
        <p:spPr>
          <a:xfrm>
            <a:off x="1143000" y="4552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Tài liệu nào là điều kiện hợp lệ?</a:t>
            </a:r>
          </a:p>
        </p:txBody>
      </p:sp>
      <p:sp>
        <p:nvSpPr>
          <p:cNvPr id="14" name="Rectangle 13">
            <a:extLst>
              <a:ext uri="{FF2B5EF4-FFF2-40B4-BE49-F238E27FC236}">
                <a16:creationId xmlns:a16="http://schemas.microsoft.com/office/drawing/2014/main" id="{2582DB9D-DDAA-4FBD-9933-FB328174DF6A}"/>
              </a:ext>
            </a:extLst>
          </p:cNvPr>
          <p:cNvSpPr>
            <a:spLocks noGrp="1"/>
          </p:cNvSpPr>
          <p:nvPr/>
        </p:nvSpPr>
        <p:spPr>
          <a:xfrm>
            <a:off x="6286500" y="1257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5" name="Rectangle 14">
            <a:extLst>
              <a:ext uri="{FF2B5EF4-FFF2-40B4-BE49-F238E27FC236}">
                <a16:creationId xmlns:a16="http://schemas.microsoft.com/office/drawing/2014/main" id="{4AA2D23C-5470-4323-B586-903F2840D3D6}"/>
              </a:ext>
            </a:extLst>
          </p:cNvPr>
          <p:cNvSpPr>
            <a:spLocks noGrp="1"/>
          </p:cNvSpPr>
          <p:nvPr/>
        </p:nvSpPr>
        <p:spPr>
          <a:xfrm>
            <a:off x="6762750" y="1219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Lỗi đang xét là thiếu chứng cứ hay thiếu năng lực?</a:t>
            </a:r>
          </a:p>
        </p:txBody>
      </p:sp>
      <p:sp>
        <p:nvSpPr>
          <p:cNvPr id="16" name="Rectangle 15">
            <a:extLst>
              <a:ext uri="{FF2B5EF4-FFF2-40B4-BE49-F238E27FC236}">
                <a16:creationId xmlns:a16="http://schemas.microsoft.com/office/drawing/2014/main" id="{6A02ECCE-ABBE-48B6-ACFD-958C249F28EC}"/>
              </a:ext>
            </a:extLst>
          </p:cNvPr>
          <p:cNvSpPr>
            <a:spLocks noGrp="1"/>
          </p:cNvSpPr>
          <p:nvPr/>
        </p:nvSpPr>
        <p:spPr>
          <a:xfrm>
            <a:off x="6286500" y="1924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7" name="Rectangle 16">
            <a:extLst>
              <a:ext uri="{FF2B5EF4-FFF2-40B4-BE49-F238E27FC236}">
                <a16:creationId xmlns:a16="http://schemas.microsoft.com/office/drawing/2014/main" id="{7CDFADE7-739B-4266-9C63-5736C5E33B2B}"/>
              </a:ext>
            </a:extLst>
          </p:cNvPr>
          <p:cNvSpPr>
            <a:spLocks noGrp="1"/>
          </p:cNvSpPr>
          <p:nvPr/>
        </p:nvSpPr>
        <p:spPr>
          <a:xfrm>
            <a:off x="6762750" y="1885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Làm rõ có đổi bản chất không?</a:t>
            </a:r>
          </a:p>
        </p:txBody>
      </p:sp>
      <p:sp>
        <p:nvSpPr>
          <p:cNvPr id="18" name="Rectangle 17">
            <a:extLst>
              <a:ext uri="{FF2B5EF4-FFF2-40B4-BE49-F238E27FC236}">
                <a16:creationId xmlns:a16="http://schemas.microsoft.com/office/drawing/2014/main" id="{6512525D-967B-49BB-8325-23B936EA7CEA}"/>
              </a:ext>
            </a:extLst>
          </p:cNvPr>
          <p:cNvSpPr>
            <a:spLocks noGrp="1"/>
          </p:cNvSpPr>
          <p:nvPr/>
        </p:nvSpPr>
        <p:spPr>
          <a:xfrm>
            <a:off x="6286500" y="25908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19" name="Rectangle 18">
            <a:extLst>
              <a:ext uri="{FF2B5EF4-FFF2-40B4-BE49-F238E27FC236}">
                <a16:creationId xmlns:a16="http://schemas.microsoft.com/office/drawing/2014/main" id="{8B6EA9D6-3CEC-4DAB-929C-B8C87809ECD9}"/>
              </a:ext>
            </a:extLst>
          </p:cNvPr>
          <p:cNvSpPr>
            <a:spLocks noGrp="1"/>
          </p:cNvSpPr>
          <p:nvPr/>
        </p:nvSpPr>
        <p:spPr>
          <a:xfrm>
            <a:off x="6762750" y="25527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Có red flag cạnh tranh không?</a:t>
            </a:r>
          </a:p>
        </p:txBody>
      </p:sp>
      <p:sp>
        <p:nvSpPr>
          <p:cNvPr id="20" name="Rectangle 19">
            <a:extLst>
              <a:ext uri="{FF2B5EF4-FFF2-40B4-BE49-F238E27FC236}">
                <a16:creationId xmlns:a16="http://schemas.microsoft.com/office/drawing/2014/main" id="{302CC8AA-ABD3-4C2A-95C2-62BAF2447760}"/>
              </a:ext>
            </a:extLst>
          </p:cNvPr>
          <p:cNvSpPr>
            <a:spLocks noGrp="1"/>
          </p:cNvSpPr>
          <p:nvPr/>
        </p:nvSpPr>
        <p:spPr>
          <a:xfrm>
            <a:off x="6286500" y="32575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21" name="Rectangle 20">
            <a:extLst>
              <a:ext uri="{FF2B5EF4-FFF2-40B4-BE49-F238E27FC236}">
                <a16:creationId xmlns:a16="http://schemas.microsoft.com/office/drawing/2014/main" id="{F17D277F-6ED1-44E7-93EF-01E84E87BC04}"/>
              </a:ext>
            </a:extLst>
          </p:cNvPr>
          <p:cNvSpPr>
            <a:spLocks noGrp="1"/>
          </p:cNvSpPr>
          <p:nvPr/>
        </p:nvSpPr>
        <p:spPr>
          <a:xfrm>
            <a:off x="6762750" y="32194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Có khác biệt Luật/Viettel không?</a:t>
            </a:r>
          </a:p>
        </p:txBody>
      </p:sp>
      <p:sp>
        <p:nvSpPr>
          <p:cNvPr id="22" name="Rectangle 21">
            <a:extLst>
              <a:ext uri="{FF2B5EF4-FFF2-40B4-BE49-F238E27FC236}">
                <a16:creationId xmlns:a16="http://schemas.microsoft.com/office/drawing/2014/main" id="{9F072C06-34B2-4DE9-92F7-83E05CED4F3D}"/>
              </a:ext>
            </a:extLst>
          </p:cNvPr>
          <p:cNvSpPr>
            <a:spLocks noGrp="1"/>
          </p:cNvSpPr>
          <p:nvPr/>
        </p:nvSpPr>
        <p:spPr>
          <a:xfrm>
            <a:off x="6286500" y="392430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23" name="Rectangle 22">
            <a:extLst>
              <a:ext uri="{FF2B5EF4-FFF2-40B4-BE49-F238E27FC236}">
                <a16:creationId xmlns:a16="http://schemas.microsoft.com/office/drawing/2014/main" id="{DED19C84-0468-449F-B867-B0B12430CB63}"/>
              </a:ext>
            </a:extLst>
          </p:cNvPr>
          <p:cNvSpPr>
            <a:spLocks noGrp="1"/>
          </p:cNvSpPr>
          <p:nvPr/>
        </p:nvSpPr>
        <p:spPr>
          <a:xfrm>
            <a:off x="6762750" y="388620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Căn cứ điều/khoản/mục đã xác minh chưa?</a:t>
            </a:r>
          </a:p>
        </p:txBody>
      </p:sp>
      <p:sp>
        <p:nvSpPr>
          <p:cNvPr id="24" name="Rectangle 23">
            <a:extLst>
              <a:ext uri="{FF2B5EF4-FFF2-40B4-BE49-F238E27FC236}">
                <a16:creationId xmlns:a16="http://schemas.microsoft.com/office/drawing/2014/main" id="{A1861640-5C68-44EC-A99F-F7440BF65987}"/>
              </a:ext>
            </a:extLst>
          </p:cNvPr>
          <p:cNvSpPr>
            <a:spLocks noGrp="1"/>
          </p:cNvSpPr>
          <p:nvPr/>
        </p:nvSpPr>
        <p:spPr>
          <a:xfrm>
            <a:off x="6286500" y="4591050"/>
            <a:ext cx="361950" cy="361950"/>
          </a:xfrm>
          <a:prstGeom prst="rect">
            <a:avLst/>
          </a:prstGeom>
          <a:noFill/>
          <a:ln w="0">
            <a:noFill/>
          </a:ln>
        </p:spPr>
        <p:txBody>
          <a:bodyPr anchor="ctr">
            <a:noAutofit/>
          </a:bodyPr>
          <a:lstStyle/>
          <a:p>
            <a:pPr>
              <a:defRPr sz="1875" b="1" i="0">
                <a:solidFill>
                  <a:srgbClr val="E6002D"/>
                </a:solidFill>
                <a:latin typeface="Arial"/>
                <a:ea typeface="Arial"/>
                <a:cs typeface="Arial"/>
              </a:defRPr>
            </a:pPr>
            <a:r>
              <a:rPr sz="1875" b="1" i="0">
                <a:solidFill>
                  <a:srgbClr val="E6002D"/>
                </a:solidFill>
                <a:latin typeface="Arial"/>
                <a:ea typeface="Arial"/>
                <a:cs typeface="Arial"/>
              </a:rPr>
              <a:t>✓</a:t>
            </a:r>
          </a:p>
        </p:txBody>
      </p:sp>
      <p:sp>
        <p:nvSpPr>
          <p:cNvPr id="25" name="Rectangle 24">
            <a:extLst>
              <a:ext uri="{FF2B5EF4-FFF2-40B4-BE49-F238E27FC236}">
                <a16:creationId xmlns:a16="http://schemas.microsoft.com/office/drawing/2014/main" id="{99E7D330-2288-4B06-A0BA-B453FC764042}"/>
              </a:ext>
            </a:extLst>
          </p:cNvPr>
          <p:cNvSpPr>
            <a:spLocks noGrp="1"/>
          </p:cNvSpPr>
          <p:nvPr/>
        </p:nvSpPr>
        <p:spPr>
          <a:xfrm>
            <a:off x="6762750" y="4552950"/>
            <a:ext cx="4857750" cy="495300"/>
          </a:xfrm>
          <a:prstGeom prst="rect">
            <a:avLst/>
          </a:prstGeom>
          <a:noFill/>
          <a:ln w="0">
            <a:noFill/>
          </a:ln>
        </p:spPr>
        <p:txBody>
          <a:bodyPr anchor="t">
            <a:noAutofit/>
          </a:bodyPr>
          <a:lstStyle/>
          <a:p>
            <a:pPr>
              <a:defRPr sz="1500" b="0" i="0">
                <a:solidFill>
                  <a:srgbClr val="1B1B1B"/>
                </a:solidFill>
                <a:latin typeface="Arial"/>
                <a:ea typeface="Arial"/>
                <a:cs typeface="Arial"/>
              </a:defRPr>
            </a:pPr>
            <a:r>
              <a:rPr sz="1500" b="0" i="0">
                <a:solidFill>
                  <a:srgbClr val="1B1B1B"/>
                </a:solidFill>
                <a:latin typeface="Arial"/>
                <a:ea typeface="Arial"/>
                <a:cs typeface="Arial"/>
              </a:rPr>
              <a:t>Kết luận là “đạt”, “không đạt” hay “cần rà soát”?</a:t>
            </a:r>
          </a:p>
        </p:txBody>
      </p:sp>
      <p:sp>
        <p:nvSpPr>
          <p:cNvPr id="26" name="Rectangle 25">
            <a:extLst>
              <a:ext uri="{FF2B5EF4-FFF2-40B4-BE49-F238E27FC236}">
                <a16:creationId xmlns:a16="http://schemas.microsoft.com/office/drawing/2014/main" id="{4CE61EEB-7528-470A-AC08-9588FB4CFEE6}"/>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27" name="Rectangle: Rounded Corners 26">
            <a:extLst>
              <a:ext uri="{FF2B5EF4-FFF2-40B4-BE49-F238E27FC236}">
                <a16:creationId xmlns:a16="http://schemas.microsoft.com/office/drawing/2014/main" id="{F47922A0-BDD2-412D-9787-2F8D0FF688C7}"/>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28" name="Rectangle 27">
            <a:extLst>
              <a:ext uri="{FF2B5EF4-FFF2-40B4-BE49-F238E27FC236}">
                <a16:creationId xmlns:a16="http://schemas.microsoft.com/office/drawing/2014/main" id="{BAFA6C78-DA52-4493-8157-2BEB164674D0}"/>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70</a:t>
            </a:r>
          </a:p>
        </p:txBody>
      </p:sp>
      <p:sp>
        <p:nvSpPr>
          <p:cNvPr id="29" name="Rectangle 28">
            <a:extLst>
              <a:ext uri="{FF2B5EF4-FFF2-40B4-BE49-F238E27FC236}">
                <a16:creationId xmlns:a16="http://schemas.microsoft.com/office/drawing/2014/main" id="{A99DCF54-E24A-4BEC-82BF-C1E7BEC14FA9}"/>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30" name="Rectangle 29">
            <a:extLst>
              <a:ext uri="{FF2B5EF4-FFF2-40B4-BE49-F238E27FC236}">
                <a16:creationId xmlns:a16="http://schemas.microsoft.com/office/drawing/2014/main" id="{34DEDF84-46E6-4E03-AA32-D495B489C94D}"/>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31" name="Rectangle 30">
            <a:extLst>
              <a:ext uri="{FF2B5EF4-FFF2-40B4-BE49-F238E27FC236}">
                <a16:creationId xmlns:a16="http://schemas.microsoft.com/office/drawing/2014/main" id="{A9B5DF7E-89A4-47CC-84AF-AB175FE1A970}"/>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Tổng hợp toàn bộ tài liệu đã đọc.</a:t>
            </a:r>
          </a:p>
        </p:txBody>
      </p:sp>
    </p:spTree>
    <p:extLst>
      <p:ext uri="{BB962C8B-B14F-4D97-AF65-F5344CB8AC3E}">
        <p14:creationId xmlns:p14="http://schemas.microsoft.com/office/powerpoint/2010/main" val="106337718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C389B924-1E6E-41D1-899A-D3E3FB351689}"/>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VẬN HÀNH CỔNG ĐẤU THẦU VIETTEL VÀ SỰ CỐ HỆ THỐNG</a:t>
            </a:r>
          </a:p>
        </p:txBody>
      </p:sp>
      <p:sp>
        <p:nvSpPr>
          <p:cNvPr id="2" name="Rectangle 1">
            <a:extLst>
              <a:ext uri="{FF2B5EF4-FFF2-40B4-BE49-F238E27FC236}">
                <a16:creationId xmlns:a16="http://schemas.microsoft.com/office/drawing/2014/main" id="{027525A5-9279-4D7C-92A4-274600D5127C}"/>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Nhận diện rủi ro kỹ thuật riêng của quy trình qua mạng Viettel.</a:t>
            </a:r>
          </a:p>
        </p:txBody>
      </p:sp>
      <p:sp>
        <p:nvSpPr>
          <p:cNvPr id="3" name="Rectangle 2">
            <a:extLst>
              <a:ext uri="{FF2B5EF4-FFF2-40B4-BE49-F238E27FC236}">
                <a16:creationId xmlns:a16="http://schemas.microsoft.com/office/drawing/2014/main" id="{EC9ED4C6-6C8D-4373-87CE-8EE65D09D9B5}"/>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File phải mở/đọc được bằng phần mềm thông dụng, dùng Unicode, không nhiễm mã độc và không đặt mật khẩu.</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Dung lượng HSMT không quá 1 GB; tổng A-HSDT không quá 63 GB theo Quy định 2500.</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Nếu Hệ thống gặp sự cố trong khoảng đóng thầu/hết hạn làm rõ, có cơ chế gia hạn tối thiểu 06 giờ từ khi thông báo gia hạn.</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Nhà thầu phải đăng ký tài khoản và sử dụng chứng thư số theo quy định của Cổng.</a:t>
            </a:r>
          </a:p>
        </p:txBody>
      </p:sp>
      <p:sp>
        <p:nvSpPr>
          <p:cNvPr id="4" name="Rectangle 3">
            <a:extLst>
              <a:ext uri="{FF2B5EF4-FFF2-40B4-BE49-F238E27FC236}">
                <a16:creationId xmlns:a16="http://schemas.microsoft.com/office/drawing/2014/main" id="{5D5386BB-4B36-4520-8CDF-1B225122CD2F}"/>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FFC1D5C7-C3EB-4998-BFB1-E333EBD3EBD9}"/>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E1D84E31-9A0F-40B4-B440-3BBE4FC8ABD3}"/>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File phải mở/đọc được bằng phần mềm thông dụng, dùng Unicode, khôn…</a:t>
            </a:r>
          </a:p>
        </p:txBody>
      </p:sp>
      <p:sp>
        <p:nvSpPr>
          <p:cNvPr id="7" name="Rectangle 6">
            <a:extLst>
              <a:ext uri="{FF2B5EF4-FFF2-40B4-BE49-F238E27FC236}">
                <a16:creationId xmlns:a16="http://schemas.microsoft.com/office/drawing/2014/main" id="{AD4E038C-9F2B-48E5-9AE5-C8CA935FB738}"/>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B0B38C4C-0C06-4333-93EC-B594989FFADB}"/>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Dung lượng HSMT không quá 1 GB; tổng A-HSDT không quá 63 GB theo Q…</a:t>
            </a:r>
          </a:p>
        </p:txBody>
      </p:sp>
      <p:sp>
        <p:nvSpPr>
          <p:cNvPr id="9" name="Rectangle 8">
            <a:extLst>
              <a:ext uri="{FF2B5EF4-FFF2-40B4-BE49-F238E27FC236}">
                <a16:creationId xmlns:a16="http://schemas.microsoft.com/office/drawing/2014/main" id="{62ED0CBA-767B-490E-ACA4-3635C901C9AB}"/>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8F026838-2A86-4094-8800-3A7989702CA9}"/>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Nếu Hệ thống gặp sự cố trong khoảng đóng thầu/hết hạn làm rõ, có c…</a:t>
            </a:r>
          </a:p>
        </p:txBody>
      </p:sp>
      <p:sp>
        <p:nvSpPr>
          <p:cNvPr id="11" name="Rectangle 10">
            <a:extLst>
              <a:ext uri="{FF2B5EF4-FFF2-40B4-BE49-F238E27FC236}">
                <a16:creationId xmlns:a16="http://schemas.microsoft.com/office/drawing/2014/main" id="{5818DC09-D610-4856-AB67-DC1BF7309591}"/>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1A84626E-884B-41D4-9687-3ACC3CDD083D}"/>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Nhà thầu phải đăng ký tài khoản và sử dụng chứng thư số theo quy đ…</a:t>
            </a:r>
          </a:p>
        </p:txBody>
      </p:sp>
      <p:sp>
        <p:nvSpPr>
          <p:cNvPr id="13" name="Rectangle 12">
            <a:extLst>
              <a:ext uri="{FF2B5EF4-FFF2-40B4-BE49-F238E27FC236}">
                <a16:creationId xmlns:a16="http://schemas.microsoft.com/office/drawing/2014/main" id="{ADDB7501-6419-4F75-B821-20F51D334D91}"/>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36473CE4-EAEB-4D47-9BFC-1C07212DEBA7}"/>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A7F2B5E2-C740-4B04-BD50-D9DEB4B7E40E}"/>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71</a:t>
            </a:r>
          </a:p>
        </p:txBody>
      </p:sp>
      <p:sp>
        <p:nvSpPr>
          <p:cNvPr id="16" name="Rectangle 15">
            <a:extLst>
              <a:ext uri="{FF2B5EF4-FFF2-40B4-BE49-F238E27FC236}">
                <a16:creationId xmlns:a16="http://schemas.microsoft.com/office/drawing/2014/main" id="{676C392B-C912-42DE-9269-C8A2F4055453}"/>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5EC84496-F1B9-4CA6-99B5-0D62F4305C69}"/>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8" name="Rectangle 17">
            <a:extLst>
              <a:ext uri="{FF2B5EF4-FFF2-40B4-BE49-F238E27FC236}">
                <a16:creationId xmlns:a16="http://schemas.microsoft.com/office/drawing/2014/main" id="{A2464CD5-E4D0-4F8B-9B58-98D2337DB1DE}"/>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6-8 Quy định 2500/QĐ-VTIT; trích xuất trang 10-11.</a:t>
            </a:r>
          </a:p>
        </p:txBody>
      </p:sp>
    </p:spTree>
    <p:extLst>
      <p:ext uri="{BB962C8B-B14F-4D97-AF65-F5344CB8AC3E}">
        <p14:creationId xmlns:p14="http://schemas.microsoft.com/office/powerpoint/2010/main" val="152150617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06A7FDE-B19A-4D3A-82AC-A7BA167E067F}"/>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ĐĂNG TẢI, SỬA ĐỔI VÀ MỞ THẦU TRÊN CỔNG VIETTEL</a:t>
            </a:r>
          </a:p>
        </p:txBody>
      </p:sp>
      <p:sp>
        <p:nvSpPr>
          <p:cNvPr id="2" name="Rectangle 1">
            <a:extLst>
              <a:ext uri="{FF2B5EF4-FFF2-40B4-BE49-F238E27FC236}">
                <a16:creationId xmlns:a16="http://schemas.microsoft.com/office/drawing/2014/main" id="{99568657-179F-4893-B7FB-45B0EE6E99AA}"/>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Phân biệt dữ liệu được đăng tải và thời điểm trở thành căn cứ đánh giá.</a:t>
            </a:r>
          </a:p>
        </p:txBody>
      </p:sp>
      <p:sp>
        <p:nvSpPr>
          <p:cNvPr id="3" name="Rectangle 2">
            <a:extLst>
              <a:ext uri="{FF2B5EF4-FFF2-40B4-BE49-F238E27FC236}">
                <a16:creationId xmlns:a16="http://schemas.microsoft.com/office/drawing/2014/main" id="{7384EFE4-A9D5-46BC-86A9-739096A67880}"/>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A-HSMT được phát hành ngay sau khi đăng tải thành công A-TBMT.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Sửa đổi A-HSMT: đăng văn bản sửa đổi, nội dung sửa đổi và bản A-HSMT đã chỉnh; tối thiểu 03 ngày làm việc trong nước, 05 ngày quốc tế.</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Chào giá trực tuyến: sửa đổi tối thiểu 02 ngày làm việc trước đóng thầu.</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Mở thầu trong vòng 02 giờ; kết quả mở thầu được Hệ thống tự động công khai.</a:t>
            </a:r>
          </a:p>
        </p:txBody>
      </p:sp>
      <p:sp>
        <p:nvSpPr>
          <p:cNvPr id="4" name="Rectangle 3">
            <a:extLst>
              <a:ext uri="{FF2B5EF4-FFF2-40B4-BE49-F238E27FC236}">
                <a16:creationId xmlns:a16="http://schemas.microsoft.com/office/drawing/2014/main" id="{42D3E88C-12FB-46BD-B390-3BB84C5092DF}"/>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E58AB37E-BE98-4185-9DE7-C893A54C5DA9}"/>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3259EDA9-7985-47F3-9614-0824CF5935FE}"/>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A-HSMT được phát hành ngay sau khi đăng tải thành công A-TBMT.</a:t>
            </a:r>
          </a:p>
        </p:txBody>
      </p:sp>
      <p:sp>
        <p:nvSpPr>
          <p:cNvPr id="7" name="Rectangle 6">
            <a:extLst>
              <a:ext uri="{FF2B5EF4-FFF2-40B4-BE49-F238E27FC236}">
                <a16:creationId xmlns:a16="http://schemas.microsoft.com/office/drawing/2014/main" id="{4110A766-1037-4BF7-AD91-4F69385678BC}"/>
              </a:ext>
            </a:extLst>
          </p:cNvPr>
          <p:cNvSpPr>
            <a:spLocks noGrp="1"/>
          </p:cNvSpPr>
          <p:nvPr/>
        </p:nvSpPr>
        <p:spPr>
          <a:xfrm>
            <a:off x="7734300" y="2528888"/>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29DBBFC1-EC43-4A88-BD56-161C9A0EDBF8}"/>
              </a:ext>
            </a:extLst>
          </p:cNvPr>
          <p:cNvSpPr>
            <a:spLocks noGrp="1"/>
          </p:cNvSpPr>
          <p:nvPr/>
        </p:nvSpPr>
        <p:spPr>
          <a:xfrm>
            <a:off x="8343900" y="2490788"/>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Sửa đổi A-HSMT: đăng văn bản sửa đổi, nội dung sửa đổi và bản A-HS…</a:t>
            </a:r>
          </a:p>
        </p:txBody>
      </p:sp>
      <p:sp>
        <p:nvSpPr>
          <p:cNvPr id="9" name="Rectangle 8">
            <a:extLst>
              <a:ext uri="{FF2B5EF4-FFF2-40B4-BE49-F238E27FC236}">
                <a16:creationId xmlns:a16="http://schemas.microsoft.com/office/drawing/2014/main" id="{FFD49E65-DA90-42AA-9E0E-33C148509A49}"/>
              </a:ext>
            </a:extLst>
          </p:cNvPr>
          <p:cNvSpPr>
            <a:spLocks noGrp="1"/>
          </p:cNvSpPr>
          <p:nvPr/>
        </p:nvSpPr>
        <p:spPr>
          <a:xfrm>
            <a:off x="7734300" y="3505200"/>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50BDB1DD-2E2D-4FEF-A29F-0950E9B7E797}"/>
              </a:ext>
            </a:extLst>
          </p:cNvPr>
          <p:cNvSpPr>
            <a:spLocks noGrp="1"/>
          </p:cNvSpPr>
          <p:nvPr/>
        </p:nvSpPr>
        <p:spPr>
          <a:xfrm>
            <a:off x="8343900" y="3467100"/>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Chào giá trực tuyến: sửa đổi tối thiểu 02 ngày làm việc trước đóng…</a:t>
            </a:r>
          </a:p>
        </p:txBody>
      </p:sp>
      <p:sp>
        <p:nvSpPr>
          <p:cNvPr id="11" name="Rectangle 10">
            <a:extLst>
              <a:ext uri="{FF2B5EF4-FFF2-40B4-BE49-F238E27FC236}">
                <a16:creationId xmlns:a16="http://schemas.microsoft.com/office/drawing/2014/main" id="{5241E71D-423B-4B34-A721-032115710538}"/>
              </a:ext>
            </a:extLst>
          </p:cNvPr>
          <p:cNvSpPr>
            <a:spLocks noGrp="1"/>
          </p:cNvSpPr>
          <p:nvPr/>
        </p:nvSpPr>
        <p:spPr>
          <a:xfrm>
            <a:off x="7734300" y="4481513"/>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F9AA2838-1B7B-48A4-92EA-3DF4F1ED5604}"/>
              </a:ext>
            </a:extLst>
          </p:cNvPr>
          <p:cNvSpPr>
            <a:spLocks noGrp="1"/>
          </p:cNvSpPr>
          <p:nvPr/>
        </p:nvSpPr>
        <p:spPr>
          <a:xfrm>
            <a:off x="8343900" y="4443413"/>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Mở thầu trong vòng 02 giờ; kết quả mở thầu được Hệ thống tự động c…</a:t>
            </a:r>
          </a:p>
        </p:txBody>
      </p:sp>
      <p:sp>
        <p:nvSpPr>
          <p:cNvPr id="13" name="Rectangle 12">
            <a:extLst>
              <a:ext uri="{FF2B5EF4-FFF2-40B4-BE49-F238E27FC236}">
                <a16:creationId xmlns:a16="http://schemas.microsoft.com/office/drawing/2014/main" id="{E3D0B510-13FE-410C-ABF3-E40930121F58}"/>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4" name="Rectangle: Rounded Corners 13">
            <a:extLst>
              <a:ext uri="{FF2B5EF4-FFF2-40B4-BE49-F238E27FC236}">
                <a16:creationId xmlns:a16="http://schemas.microsoft.com/office/drawing/2014/main" id="{09A14D68-1B38-428B-9405-A7E32669C4FE}"/>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5" name="Rectangle 14">
            <a:extLst>
              <a:ext uri="{FF2B5EF4-FFF2-40B4-BE49-F238E27FC236}">
                <a16:creationId xmlns:a16="http://schemas.microsoft.com/office/drawing/2014/main" id="{87A4BF90-D2C1-40F0-A260-522607398870}"/>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72</a:t>
            </a:r>
          </a:p>
        </p:txBody>
      </p:sp>
      <p:sp>
        <p:nvSpPr>
          <p:cNvPr id="16" name="Rectangle 15">
            <a:extLst>
              <a:ext uri="{FF2B5EF4-FFF2-40B4-BE49-F238E27FC236}">
                <a16:creationId xmlns:a16="http://schemas.microsoft.com/office/drawing/2014/main" id="{D130FFB3-E1B9-44C1-9463-B046D510088A}"/>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7" name="Rectangle 16">
            <a:extLst>
              <a:ext uri="{FF2B5EF4-FFF2-40B4-BE49-F238E27FC236}">
                <a16:creationId xmlns:a16="http://schemas.microsoft.com/office/drawing/2014/main" id="{B8A3EA82-2B16-4477-8578-92133D51BA0D}"/>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18" name="Rectangle 17">
            <a:extLst>
              <a:ext uri="{FF2B5EF4-FFF2-40B4-BE49-F238E27FC236}">
                <a16:creationId xmlns:a16="http://schemas.microsoft.com/office/drawing/2014/main" id="{3D36AC25-EA90-4503-A246-36383B86E004}"/>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Điều 12, 13, 16 Quy định 2500/QĐ-VTIT; trích xuất trang 13-14.</a:t>
            </a:r>
          </a:p>
        </p:txBody>
      </p:sp>
    </p:spTree>
    <p:extLst>
      <p:ext uri="{BB962C8B-B14F-4D97-AF65-F5344CB8AC3E}">
        <p14:creationId xmlns:p14="http://schemas.microsoft.com/office/powerpoint/2010/main" val="140657674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BC8010A0-5893-42BB-B377-73AD133CDE36}"/>
              </a:ext>
            </a:extLst>
          </p:cNvPr>
          <p:cNvSpPr>
            <a:spLocks noGrp="1"/>
          </p:cNvSpPr>
          <p:nvPr/>
        </p:nvSpPr>
        <p:spPr>
          <a:xfrm>
            <a:off x="590550" y="266700"/>
            <a:ext cx="7096125" cy="742950"/>
          </a:xfrm>
          <a:prstGeom prst="rect">
            <a:avLst/>
          </a:prstGeom>
          <a:noFill/>
          <a:ln w="0">
            <a:noFill/>
          </a:ln>
        </p:spPr>
        <p:txBody>
          <a:bodyPr anchor="t">
            <a:noAutofit/>
          </a:bodyPr>
          <a:lstStyle/>
          <a:p>
            <a:pPr>
              <a:defRPr sz="2025" b="1" i="0">
                <a:solidFill>
                  <a:srgbClr val="E6002D"/>
                </a:solidFill>
                <a:latin typeface="Arial"/>
                <a:ea typeface="Arial"/>
                <a:cs typeface="Arial"/>
              </a:defRPr>
            </a:pPr>
            <a:r>
              <a:rPr sz="2025" b="1" i="0">
                <a:solidFill>
                  <a:srgbClr val="E6002D"/>
                </a:solidFill>
                <a:latin typeface="Arial"/>
                <a:ea typeface="Arial"/>
                <a:cs typeface="Arial"/>
              </a:rPr>
              <a:t>PHỤ LỤC NGUỒN PHÁP LÝ VÀ TÀI LIỆU SỬ DỤNG</a:t>
            </a:r>
          </a:p>
        </p:txBody>
      </p:sp>
      <p:sp>
        <p:nvSpPr>
          <p:cNvPr id="2" name="Rectangle 1">
            <a:extLst>
              <a:ext uri="{FF2B5EF4-FFF2-40B4-BE49-F238E27FC236}">
                <a16:creationId xmlns:a16="http://schemas.microsoft.com/office/drawing/2014/main" id="{BB7321ED-8148-4B34-83C5-DF6D2BF43347}"/>
              </a:ext>
            </a:extLst>
          </p:cNvPr>
          <p:cNvSpPr>
            <a:spLocks noGrp="1"/>
          </p:cNvSpPr>
          <p:nvPr/>
        </p:nvSpPr>
        <p:spPr>
          <a:xfrm>
            <a:off x="666750" y="1047750"/>
            <a:ext cx="6477000" cy="552450"/>
          </a:xfrm>
          <a:prstGeom prst="rect">
            <a:avLst/>
          </a:prstGeom>
          <a:noFill/>
          <a:ln w="0">
            <a:noFill/>
          </a:ln>
        </p:spPr>
        <p:txBody>
          <a:bodyPr anchor="t">
            <a:noAutofit/>
          </a:bodyPr>
          <a:lstStyle/>
          <a:p>
            <a:pPr>
              <a:defRPr sz="1575" b="0" i="1">
                <a:solidFill>
                  <a:srgbClr val="63666A"/>
                </a:solidFill>
                <a:latin typeface="Arial"/>
                <a:ea typeface="Arial"/>
                <a:cs typeface="Arial"/>
              </a:defRPr>
            </a:pPr>
            <a:r>
              <a:rPr sz="1575" b="0" i="1">
                <a:solidFill>
                  <a:srgbClr val="63666A"/>
                </a:solidFill>
                <a:latin typeface="Arial"/>
                <a:ea typeface="Arial"/>
                <a:cs typeface="Arial"/>
              </a:rPr>
              <a:t>Cho người học truy ngược căn cứ.</a:t>
            </a:r>
          </a:p>
        </p:txBody>
      </p:sp>
      <p:sp>
        <p:nvSpPr>
          <p:cNvPr id="3" name="Rectangle 2">
            <a:extLst>
              <a:ext uri="{FF2B5EF4-FFF2-40B4-BE49-F238E27FC236}">
                <a16:creationId xmlns:a16="http://schemas.microsoft.com/office/drawing/2014/main" id="{9390DE48-1203-438E-A246-01713D224E7F}"/>
              </a:ext>
            </a:extLst>
          </p:cNvPr>
          <p:cNvSpPr>
            <a:spLocks noGrp="1"/>
          </p:cNvSpPr>
          <p:nvPr/>
        </p:nvSpPr>
        <p:spPr>
          <a:xfrm>
            <a:off x="685800" y="1714500"/>
            <a:ext cx="6286500" cy="3857625"/>
          </a:xfrm>
          <a:prstGeom prst="rect">
            <a:avLst/>
          </a:prstGeom>
          <a:noFill/>
          <a:ln w="0">
            <a:noFill/>
          </a:ln>
        </p:spPr>
        <p:txBody>
          <a:bodyPr anchor="t">
            <a:noAutofit/>
          </a:bodyPr>
          <a:lstStyle/>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Luật Đấu thầu 22/2023/QH15 và sửa đổi 57/2024/QH15, 90/2025/QH15 trong tài liệu hợp nhất.</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VBHN 36/2026/VBHN-NĐ-BTC ngày 23/09/2026.</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Quyết định 2486/QĐ-VTIT ngày 26/08/2026.</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Quyết định 2500/QĐ-VTIT ngày 27/08/2026.</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E-HSMT Cần Thơ và HSMT Viettel 101.</a:t>
            </a:r>
          </a:p>
          <a:p>
            <a:pPr marL="279400" indent="-127000">
              <a:spcAft>
                <a:spcPts val="1200"/>
              </a:spcAft>
              <a:buChar char="•"/>
              <a:defRPr sz="1725">
                <a:solidFill>
                  <a:srgbClr val="1B1B1B"/>
                </a:solidFill>
                <a:latin typeface="Arial"/>
                <a:ea typeface="Arial"/>
                <a:cs typeface="Arial"/>
              </a:defRPr>
            </a:pPr>
            <a:r>
              <a:rPr sz="1725">
                <a:solidFill>
                  <a:srgbClr val="1B1B1B"/>
                </a:solidFill>
                <a:latin typeface="Arial"/>
                <a:ea typeface="Arial"/>
                <a:cs typeface="Arial"/>
              </a:rPr>
              <a:t>Hướng dẫn đấu thầu Viettel: chỉ là nguồn phong cách.</a:t>
            </a:r>
          </a:p>
        </p:txBody>
      </p:sp>
      <p:sp>
        <p:nvSpPr>
          <p:cNvPr id="4" name="Rectangle 3">
            <a:extLst>
              <a:ext uri="{FF2B5EF4-FFF2-40B4-BE49-F238E27FC236}">
                <a16:creationId xmlns:a16="http://schemas.microsoft.com/office/drawing/2014/main" id="{5867669F-203C-474A-A0DC-30C90CB86B9A}"/>
              </a:ext>
            </a:extLst>
          </p:cNvPr>
          <p:cNvSpPr>
            <a:spLocks noGrp="1"/>
          </p:cNvSpPr>
          <p:nvPr/>
        </p:nvSpPr>
        <p:spPr>
          <a:xfrm>
            <a:off x="7524750" y="1381125"/>
            <a:ext cx="19050" cy="4191000"/>
          </a:xfrm>
          <a:prstGeom prst="rect">
            <a:avLst/>
          </a:prstGeom>
          <a:solidFill>
            <a:srgbClr val="E6002D"/>
          </a:solidFill>
          <a:ln w="0">
            <a:noFill/>
          </a:ln>
        </p:spPr>
        <p:txBody>
          <a:bodyPr/>
          <a:lstStyle/>
          <a:p>
            <a:endParaRPr lang="vi-VN"/>
          </a:p>
        </p:txBody>
      </p:sp>
      <p:sp>
        <p:nvSpPr>
          <p:cNvPr id="5" name="Rectangle 4">
            <a:extLst>
              <a:ext uri="{FF2B5EF4-FFF2-40B4-BE49-F238E27FC236}">
                <a16:creationId xmlns:a16="http://schemas.microsoft.com/office/drawing/2014/main" id="{89BB7687-4C21-443F-9A5F-513B5C71B928}"/>
              </a:ext>
            </a:extLst>
          </p:cNvPr>
          <p:cNvSpPr>
            <a:spLocks noGrp="1"/>
          </p:cNvSpPr>
          <p:nvPr/>
        </p:nvSpPr>
        <p:spPr>
          <a:xfrm>
            <a:off x="7734300" y="15525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01</a:t>
            </a:r>
          </a:p>
        </p:txBody>
      </p:sp>
      <p:sp>
        <p:nvSpPr>
          <p:cNvPr id="6" name="Rectangle 5">
            <a:extLst>
              <a:ext uri="{FF2B5EF4-FFF2-40B4-BE49-F238E27FC236}">
                <a16:creationId xmlns:a16="http://schemas.microsoft.com/office/drawing/2014/main" id="{B2957224-D9B5-41D9-B82D-ED7ED402A7E5}"/>
              </a:ext>
            </a:extLst>
          </p:cNvPr>
          <p:cNvSpPr>
            <a:spLocks noGrp="1"/>
          </p:cNvSpPr>
          <p:nvPr/>
        </p:nvSpPr>
        <p:spPr>
          <a:xfrm>
            <a:off x="8343900" y="15144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Luật Đấu thầu 22/2023/QH15 và sửa đổi 57/2024/QH15, 90/2025/QH15 t…</a:t>
            </a:r>
          </a:p>
        </p:txBody>
      </p:sp>
      <p:sp>
        <p:nvSpPr>
          <p:cNvPr id="7" name="Rectangle 6">
            <a:extLst>
              <a:ext uri="{FF2B5EF4-FFF2-40B4-BE49-F238E27FC236}">
                <a16:creationId xmlns:a16="http://schemas.microsoft.com/office/drawing/2014/main" id="{407BA961-7AEF-4321-83C6-A91C51C9579B}"/>
              </a:ext>
            </a:extLst>
          </p:cNvPr>
          <p:cNvSpPr>
            <a:spLocks noGrp="1"/>
          </p:cNvSpPr>
          <p:nvPr/>
        </p:nvSpPr>
        <p:spPr>
          <a:xfrm>
            <a:off x="7734300" y="23336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02</a:t>
            </a:r>
          </a:p>
        </p:txBody>
      </p:sp>
      <p:sp>
        <p:nvSpPr>
          <p:cNvPr id="8" name="Rectangle 7">
            <a:extLst>
              <a:ext uri="{FF2B5EF4-FFF2-40B4-BE49-F238E27FC236}">
                <a16:creationId xmlns:a16="http://schemas.microsoft.com/office/drawing/2014/main" id="{0DE62209-31F2-4EE2-9AF6-4D4ECE4DB982}"/>
              </a:ext>
            </a:extLst>
          </p:cNvPr>
          <p:cNvSpPr>
            <a:spLocks noGrp="1"/>
          </p:cNvSpPr>
          <p:nvPr/>
        </p:nvSpPr>
        <p:spPr>
          <a:xfrm>
            <a:off x="8343900" y="22955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VBHN 36/2026/VBHN-NĐ-BTC ngày 23/09/2026.</a:t>
            </a:r>
          </a:p>
        </p:txBody>
      </p:sp>
      <p:sp>
        <p:nvSpPr>
          <p:cNvPr id="9" name="Rectangle 8">
            <a:extLst>
              <a:ext uri="{FF2B5EF4-FFF2-40B4-BE49-F238E27FC236}">
                <a16:creationId xmlns:a16="http://schemas.microsoft.com/office/drawing/2014/main" id="{5DEEE440-B154-4F25-B313-706EE8DC98D0}"/>
              </a:ext>
            </a:extLst>
          </p:cNvPr>
          <p:cNvSpPr>
            <a:spLocks noGrp="1"/>
          </p:cNvSpPr>
          <p:nvPr/>
        </p:nvSpPr>
        <p:spPr>
          <a:xfrm>
            <a:off x="7734300" y="31146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03</a:t>
            </a:r>
          </a:p>
        </p:txBody>
      </p:sp>
      <p:sp>
        <p:nvSpPr>
          <p:cNvPr id="10" name="Rectangle 9">
            <a:extLst>
              <a:ext uri="{FF2B5EF4-FFF2-40B4-BE49-F238E27FC236}">
                <a16:creationId xmlns:a16="http://schemas.microsoft.com/office/drawing/2014/main" id="{ADB89446-BB5D-42A5-9513-66D8041EBC00}"/>
              </a:ext>
            </a:extLst>
          </p:cNvPr>
          <p:cNvSpPr>
            <a:spLocks noGrp="1"/>
          </p:cNvSpPr>
          <p:nvPr/>
        </p:nvSpPr>
        <p:spPr>
          <a:xfrm>
            <a:off x="8343900" y="30765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Quyết định 2486/QĐ-VTIT ngày 26/08/2026.</a:t>
            </a:r>
          </a:p>
        </p:txBody>
      </p:sp>
      <p:sp>
        <p:nvSpPr>
          <p:cNvPr id="11" name="Rectangle 10">
            <a:extLst>
              <a:ext uri="{FF2B5EF4-FFF2-40B4-BE49-F238E27FC236}">
                <a16:creationId xmlns:a16="http://schemas.microsoft.com/office/drawing/2014/main" id="{16F1CB3F-F0A2-4E9A-85B2-EBC190FB0660}"/>
              </a:ext>
            </a:extLst>
          </p:cNvPr>
          <p:cNvSpPr>
            <a:spLocks noGrp="1"/>
          </p:cNvSpPr>
          <p:nvPr/>
        </p:nvSpPr>
        <p:spPr>
          <a:xfrm>
            <a:off x="7734300" y="389572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04</a:t>
            </a:r>
          </a:p>
        </p:txBody>
      </p:sp>
      <p:sp>
        <p:nvSpPr>
          <p:cNvPr id="12" name="Rectangle 11">
            <a:extLst>
              <a:ext uri="{FF2B5EF4-FFF2-40B4-BE49-F238E27FC236}">
                <a16:creationId xmlns:a16="http://schemas.microsoft.com/office/drawing/2014/main" id="{B1273F4E-CD0A-4D4C-9F27-68806E1F8E5B}"/>
              </a:ext>
            </a:extLst>
          </p:cNvPr>
          <p:cNvSpPr>
            <a:spLocks noGrp="1"/>
          </p:cNvSpPr>
          <p:nvPr/>
        </p:nvSpPr>
        <p:spPr>
          <a:xfrm>
            <a:off x="8343900" y="385762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Quyết định 2500/QĐ-VTIT ngày 27/08/2026.</a:t>
            </a:r>
          </a:p>
        </p:txBody>
      </p:sp>
      <p:sp>
        <p:nvSpPr>
          <p:cNvPr id="13" name="Rectangle 12">
            <a:extLst>
              <a:ext uri="{FF2B5EF4-FFF2-40B4-BE49-F238E27FC236}">
                <a16:creationId xmlns:a16="http://schemas.microsoft.com/office/drawing/2014/main" id="{3805A215-F30C-4E64-9E51-EEA5C8FEB8F2}"/>
              </a:ext>
            </a:extLst>
          </p:cNvPr>
          <p:cNvSpPr>
            <a:spLocks noGrp="1"/>
          </p:cNvSpPr>
          <p:nvPr/>
        </p:nvSpPr>
        <p:spPr>
          <a:xfrm>
            <a:off x="7734300" y="4676775"/>
            <a:ext cx="523875" cy="323850"/>
          </a:xfrm>
          <a:prstGeom prst="rect">
            <a:avLst/>
          </a:prstGeom>
          <a:noFill/>
          <a:ln w="0">
            <a:noFill/>
          </a:ln>
        </p:spPr>
        <p:txBody>
          <a:bodyPr anchor="ctr">
            <a:noAutofit/>
          </a:bodyPr>
          <a:lstStyle/>
          <a:p>
            <a:pPr>
              <a:defRPr sz="1950" b="1" i="0">
                <a:solidFill>
                  <a:srgbClr val="E6002D"/>
                </a:solidFill>
                <a:latin typeface="Arial"/>
                <a:ea typeface="Arial"/>
                <a:cs typeface="Arial"/>
              </a:defRPr>
            </a:pPr>
            <a:r>
              <a:rPr sz="1950" b="1" i="0">
                <a:solidFill>
                  <a:srgbClr val="E6002D"/>
                </a:solidFill>
                <a:latin typeface="Arial"/>
                <a:ea typeface="Arial"/>
                <a:cs typeface="Arial"/>
              </a:rPr>
              <a:t>05</a:t>
            </a:r>
          </a:p>
        </p:txBody>
      </p:sp>
      <p:sp>
        <p:nvSpPr>
          <p:cNvPr id="14" name="Rectangle 13">
            <a:extLst>
              <a:ext uri="{FF2B5EF4-FFF2-40B4-BE49-F238E27FC236}">
                <a16:creationId xmlns:a16="http://schemas.microsoft.com/office/drawing/2014/main" id="{FF7CDCC9-9DEF-4BC3-9D43-23C00307C645}"/>
              </a:ext>
            </a:extLst>
          </p:cNvPr>
          <p:cNvSpPr>
            <a:spLocks noGrp="1"/>
          </p:cNvSpPr>
          <p:nvPr/>
        </p:nvSpPr>
        <p:spPr>
          <a:xfrm>
            <a:off x="8343900" y="4638675"/>
            <a:ext cx="2952750" cy="533400"/>
          </a:xfrm>
          <a:prstGeom prst="rect">
            <a:avLst/>
          </a:prstGeom>
          <a:noFill/>
          <a:ln w="0">
            <a:noFill/>
          </a:ln>
        </p:spPr>
        <p:txBody>
          <a:bodyPr anchor="t">
            <a:noAutofit/>
          </a:bodyPr>
          <a:lstStyle/>
          <a:p>
            <a:pPr>
              <a:defRPr sz="1350" b="1" i="0">
                <a:solidFill>
                  <a:srgbClr val="1B1B1B"/>
                </a:solidFill>
                <a:latin typeface="Arial"/>
                <a:ea typeface="Arial"/>
                <a:cs typeface="Arial"/>
              </a:defRPr>
            </a:pPr>
            <a:r>
              <a:rPr sz="1350" b="1" i="0">
                <a:solidFill>
                  <a:srgbClr val="1B1B1B"/>
                </a:solidFill>
                <a:latin typeface="Arial"/>
                <a:ea typeface="Arial"/>
                <a:cs typeface="Arial"/>
              </a:rPr>
              <a:t>E-HSMT Cần Thơ và HSMT Viettel 101.</a:t>
            </a:r>
          </a:p>
        </p:txBody>
      </p:sp>
      <p:sp>
        <p:nvSpPr>
          <p:cNvPr id="15" name="Rectangle 14">
            <a:extLst>
              <a:ext uri="{FF2B5EF4-FFF2-40B4-BE49-F238E27FC236}">
                <a16:creationId xmlns:a16="http://schemas.microsoft.com/office/drawing/2014/main" id="{925DD3A4-AF3B-4BE8-9898-F4571A0C1BCD}"/>
              </a:ext>
            </a:extLst>
          </p:cNvPr>
          <p:cNvSpPr>
            <a:spLocks noGrp="1"/>
          </p:cNvSpPr>
          <p:nvPr/>
        </p:nvSpPr>
        <p:spPr>
          <a:xfrm>
            <a:off x="0" y="6477000"/>
            <a:ext cx="9667875" cy="381000"/>
          </a:xfrm>
          <a:prstGeom prst="rect">
            <a:avLst/>
          </a:prstGeom>
          <a:solidFill>
            <a:srgbClr val="F5F5F5"/>
          </a:solidFill>
          <a:ln w="0">
            <a:noFill/>
          </a:ln>
        </p:spPr>
        <p:txBody>
          <a:bodyPr/>
          <a:lstStyle/>
          <a:p>
            <a:endParaRPr lang="vi-VN"/>
          </a:p>
        </p:txBody>
      </p:sp>
      <p:sp>
        <p:nvSpPr>
          <p:cNvPr id="16" name="Rectangle: Rounded Corners 15">
            <a:extLst>
              <a:ext uri="{FF2B5EF4-FFF2-40B4-BE49-F238E27FC236}">
                <a16:creationId xmlns:a16="http://schemas.microsoft.com/office/drawing/2014/main" id="{D9E77261-81C7-407C-BAC8-567641EC77A7}"/>
              </a:ext>
            </a:extLst>
          </p:cNvPr>
          <p:cNvSpPr>
            <a:spLocks noGrp="1"/>
          </p:cNvSpPr>
          <p:nvPr/>
        </p:nvSpPr>
        <p:spPr>
          <a:xfrm>
            <a:off x="9525000" y="6477000"/>
            <a:ext cx="2667000" cy="381000"/>
          </a:xfrm>
          <a:prstGeom prst="roundRect">
            <a:avLst>
              <a:gd name="adj" fmla="val 45000"/>
            </a:avLst>
          </a:prstGeom>
          <a:solidFill>
            <a:srgbClr val="E6002D"/>
          </a:solidFill>
          <a:ln w="0">
            <a:noFill/>
          </a:ln>
        </p:spPr>
        <p:txBody>
          <a:bodyPr/>
          <a:lstStyle/>
          <a:p>
            <a:endParaRPr lang="vi-VN"/>
          </a:p>
        </p:txBody>
      </p:sp>
      <p:sp>
        <p:nvSpPr>
          <p:cNvPr id="17" name="Rectangle 16">
            <a:extLst>
              <a:ext uri="{FF2B5EF4-FFF2-40B4-BE49-F238E27FC236}">
                <a16:creationId xmlns:a16="http://schemas.microsoft.com/office/drawing/2014/main" id="{6B4F40D6-520B-4749-B4CD-0D5D1992434A}"/>
              </a:ext>
            </a:extLst>
          </p:cNvPr>
          <p:cNvSpPr>
            <a:spLocks noGrp="1"/>
          </p:cNvSpPr>
          <p:nvPr/>
        </p:nvSpPr>
        <p:spPr>
          <a:xfrm>
            <a:off x="266700" y="6496050"/>
            <a:ext cx="476250" cy="285750"/>
          </a:xfrm>
          <a:prstGeom prst="rect">
            <a:avLst/>
          </a:prstGeom>
          <a:noFill/>
          <a:ln w="0">
            <a:noFill/>
          </a:ln>
        </p:spPr>
        <p:txBody>
          <a:bodyPr anchor="ctr">
            <a:noAutofit/>
          </a:bodyPr>
          <a:lstStyle/>
          <a:p>
            <a:pPr>
              <a:defRPr sz="975" b="0" i="0">
                <a:solidFill>
                  <a:srgbClr val="63666A"/>
                </a:solidFill>
                <a:latin typeface="Arial"/>
                <a:ea typeface="Arial"/>
                <a:cs typeface="Arial"/>
              </a:defRPr>
            </a:pPr>
            <a:r>
              <a:rPr sz="975" b="0" i="0">
                <a:solidFill>
                  <a:srgbClr val="63666A"/>
                </a:solidFill>
                <a:latin typeface="Arial"/>
                <a:ea typeface="Arial"/>
                <a:cs typeface="Arial"/>
              </a:rPr>
              <a:t>73</a:t>
            </a:r>
          </a:p>
        </p:txBody>
      </p:sp>
      <p:sp>
        <p:nvSpPr>
          <p:cNvPr id="18" name="Rectangle 17">
            <a:extLst>
              <a:ext uri="{FF2B5EF4-FFF2-40B4-BE49-F238E27FC236}">
                <a16:creationId xmlns:a16="http://schemas.microsoft.com/office/drawing/2014/main" id="{02691AC1-4841-450C-9A2D-CA5B093CFF04}"/>
              </a:ext>
            </a:extLst>
          </p:cNvPr>
          <p:cNvSpPr>
            <a:spLocks noGrp="1"/>
          </p:cNvSpPr>
          <p:nvPr/>
        </p:nvSpPr>
        <p:spPr>
          <a:xfrm>
            <a:off x="10287000" y="6486525"/>
            <a:ext cx="1428750" cy="323850"/>
          </a:xfrm>
          <a:prstGeom prst="rect">
            <a:avLst/>
          </a:prstGeom>
          <a:noFill/>
          <a:ln w="0">
            <a:noFill/>
          </a:ln>
        </p:spPr>
        <p:txBody>
          <a:bodyPr anchor="ctr">
            <a:noAutofit/>
          </a:bodyPr>
          <a:lstStyle/>
          <a:p>
            <a:pPr>
              <a:defRPr sz="2100" b="1" i="0">
                <a:solidFill>
                  <a:srgbClr val="FFFFFF"/>
                </a:solidFill>
                <a:latin typeface="Arial"/>
                <a:ea typeface="Arial"/>
                <a:cs typeface="Arial"/>
              </a:defRPr>
            </a:pPr>
            <a:r>
              <a:rPr sz="2100" b="1" i="0">
                <a:solidFill>
                  <a:srgbClr val="FFFFFF"/>
                </a:solidFill>
                <a:latin typeface="Arial"/>
                <a:ea typeface="Arial"/>
                <a:cs typeface="Arial"/>
              </a:rPr>
              <a:t>viettel</a:t>
            </a:r>
          </a:p>
        </p:txBody>
      </p:sp>
      <p:sp>
        <p:nvSpPr>
          <p:cNvPr id="19" name="Rectangle 18">
            <a:extLst>
              <a:ext uri="{FF2B5EF4-FFF2-40B4-BE49-F238E27FC236}">
                <a16:creationId xmlns:a16="http://schemas.microsoft.com/office/drawing/2014/main" id="{3C5A7140-5E39-40F8-820A-ABD7E78E2B36}"/>
              </a:ext>
            </a:extLst>
          </p:cNvPr>
          <p:cNvSpPr>
            <a:spLocks noGrp="1"/>
          </p:cNvSpPr>
          <p:nvPr/>
        </p:nvSpPr>
        <p:spPr>
          <a:xfrm>
            <a:off x="7810500" y="400050"/>
            <a:ext cx="3714750" cy="285750"/>
          </a:xfrm>
          <a:prstGeom prst="rect">
            <a:avLst/>
          </a:prstGeom>
          <a:noFill/>
          <a:ln w="0">
            <a:noFill/>
          </a:ln>
        </p:spPr>
        <p:txBody>
          <a:bodyPr anchor="ctr">
            <a:noAutofit/>
          </a:bodyPr>
          <a:lstStyle/>
          <a:p>
            <a:pPr>
              <a:defRPr sz="1050" b="1" i="0">
                <a:solidFill>
                  <a:srgbClr val="63666A"/>
                </a:solidFill>
                <a:latin typeface="Arial"/>
                <a:ea typeface="Arial"/>
                <a:cs typeface="Arial"/>
              </a:defRPr>
            </a:pPr>
            <a:r>
              <a:rPr sz="1050" b="1" i="0">
                <a:solidFill>
                  <a:srgbClr val="63666A"/>
                </a:solidFill>
                <a:latin typeface="Arial"/>
                <a:ea typeface="Arial"/>
                <a:cs typeface="Arial"/>
              </a:rPr>
              <a:t>IX. CASE VÀ CHECKLIST</a:t>
            </a:r>
          </a:p>
        </p:txBody>
      </p:sp>
      <p:sp>
        <p:nvSpPr>
          <p:cNvPr id="20" name="Rectangle 19">
            <a:extLst>
              <a:ext uri="{FF2B5EF4-FFF2-40B4-BE49-F238E27FC236}">
                <a16:creationId xmlns:a16="http://schemas.microsoft.com/office/drawing/2014/main" id="{B515103C-2DE2-40B2-B3CA-3DB15374B3E2}"/>
              </a:ext>
            </a:extLst>
          </p:cNvPr>
          <p:cNvSpPr>
            <a:spLocks noGrp="1"/>
          </p:cNvSpPr>
          <p:nvPr/>
        </p:nvSpPr>
        <p:spPr>
          <a:xfrm>
            <a:off x="400050" y="6115050"/>
            <a:ext cx="10668000" cy="247650"/>
          </a:xfrm>
          <a:prstGeom prst="rect">
            <a:avLst/>
          </a:prstGeom>
          <a:noFill/>
          <a:ln w="0">
            <a:noFill/>
          </a:ln>
        </p:spPr>
        <p:txBody>
          <a:bodyPr anchor="ctr">
            <a:noAutofit/>
          </a:bodyPr>
          <a:lstStyle/>
          <a:p>
            <a:pPr>
              <a:defRPr sz="825" b="0" i="1">
                <a:solidFill>
                  <a:srgbClr val="63666A"/>
                </a:solidFill>
                <a:latin typeface="Arial"/>
                <a:ea typeface="Arial"/>
                <a:cs typeface="Arial"/>
              </a:defRPr>
            </a:pPr>
            <a:r>
              <a:rPr sz="825" b="0" i="1">
                <a:solidFill>
                  <a:srgbClr val="63666A"/>
                </a:solidFill>
                <a:latin typeface="Arial"/>
                <a:ea typeface="Arial"/>
                <a:cs typeface="Arial"/>
              </a:rPr>
              <a:t>Nguồn: Danh mục tài liệu do người dùng cung cấp; trang chính thức Chính phủ xác nhận VBHN 36/2026 ban hành ngày 23/09/2026.</a:t>
            </a:r>
          </a:p>
        </p:txBody>
      </p:sp>
    </p:spTree>
    <p:extLst>
      <p:ext uri="{BB962C8B-B14F-4D97-AF65-F5344CB8AC3E}">
        <p14:creationId xmlns:p14="http://schemas.microsoft.com/office/powerpoint/2010/main" val="1405228980"/>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5" name="Picture 4"/>
          <p:cNvPicPr>
            <a:picLocks noChangeAspect="1"/>
          </p:cNvPicPr>
          <p:nvPr/>
        </p:nvPicPr>
        <p:blipFill>
          <a:blip r:embed="rId3"/>
          <a:srcRect t="68000"/>
          <a:stretch/>
        </p:blipFill>
        <p:spPr>
          <a:xfrm>
            <a:off x="0" y="4143375"/>
            <a:ext cx="12192000" cy="2714625"/>
          </a:xfrm>
          <a:prstGeom prst="rect">
            <a:avLst/>
          </a:prstGeom>
        </p:spPr>
      </p:pic>
      <p:sp>
        <p:nvSpPr>
          <p:cNvPr id="4" name="Rectangle 3">
            <a:extLst>
              <a:ext uri="{FF2B5EF4-FFF2-40B4-BE49-F238E27FC236}">
                <a16:creationId xmlns:a16="http://schemas.microsoft.com/office/drawing/2014/main" id="{516C03C2-B44D-4F51-93A9-33AC786CA33D}"/>
              </a:ext>
            </a:extLst>
          </p:cNvPr>
          <p:cNvSpPr>
            <a:spLocks noGrp="1"/>
          </p:cNvSpPr>
          <p:nvPr/>
        </p:nvSpPr>
        <p:spPr>
          <a:xfrm>
            <a:off x="2857500" y="2857500"/>
            <a:ext cx="6477000" cy="571500"/>
          </a:xfrm>
          <a:prstGeom prst="rect">
            <a:avLst/>
          </a:prstGeom>
          <a:noFill/>
          <a:ln w="0">
            <a:noFill/>
          </a:ln>
        </p:spPr>
        <p:txBody>
          <a:bodyPr anchor="ctr">
            <a:noAutofit/>
          </a:bodyPr>
          <a:lstStyle/>
          <a:p>
            <a:pPr algn="ctr">
              <a:defRPr sz="2625" b="1" i="0">
                <a:solidFill>
                  <a:srgbClr val="E6002D"/>
                </a:solidFill>
                <a:latin typeface="Arial"/>
                <a:ea typeface="Arial"/>
                <a:cs typeface="Arial"/>
              </a:defRPr>
            </a:pPr>
            <a:r>
              <a:rPr sz="2625" b="1" i="0">
                <a:solidFill>
                  <a:srgbClr val="E6002D"/>
                </a:solidFill>
                <a:latin typeface="Arial"/>
                <a:ea typeface="Arial"/>
                <a:cs typeface="Arial"/>
              </a:rPr>
              <a:t>TRÂN TRỌNG CẢM ƠN</a:t>
            </a:r>
          </a:p>
        </p:txBody>
      </p:sp>
    </p:spTree>
    <p:extLst>
      <p:ext uri="{BB962C8B-B14F-4D97-AF65-F5344CB8AC3E}">
        <p14:creationId xmlns:p14="http://schemas.microsoft.com/office/powerpoint/2010/main" val="29684739"/>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16076</Words>
  <Application>Microsoft Office PowerPoint</Application>
  <DocSecurity>0</DocSecurity>
  <PresentationFormat>Widescreen</PresentationFormat>
  <Paragraphs>1675</Paragraphs>
  <Slides>69</Slides>
  <Notes>69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69</vt:i4>
      </vt:variant>
    </vt:vector>
  </HeadingPairs>
  <TitlesOfParts>
    <vt:vector size="72" baseType="lpstr">
      <vt:lpstr>Aptos</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HTD</cp:lastModifiedBy>
  <cp:revision>3</cp:revision>
  <dcterms:created xsi:type="dcterms:W3CDTF">2026-09-26T15:04:17Z</dcterms:created>
  <dcterms:modified xsi:type="dcterms:W3CDTF">2026-09-28T07:13:11Z</dcterms:modified>
</cp:coreProperties>
</file>